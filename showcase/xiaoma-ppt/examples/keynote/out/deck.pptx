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7C3AED"/>
            </a:solidFill>
            <a:ln>
              <a:noFill/>
            </a:ln>
          </c:spPr>
          <c:dPt>
            <c:idx val="0"/>
            <c:spPr>
              <a:solidFill>
                <a:srgbClr val="7C3AED"/>
              </a:solidFill>
            </c:spPr>
          </c:dPt>
          <c:dPt>
            <c:idx val="1"/>
            <c:spPr>
              <a:solidFill>
                <a:srgbClr val="3D2179"/>
              </a:solidFill>
            </c:spPr>
          </c:dPt>
          <c:dPt>
            <c:idx val="2"/>
            <c:spPr>
              <a:solidFill>
                <a:srgbClr val="3D2179"/>
              </a:solidFill>
            </c:spPr>
          </c:dPt>
          <c:dPt>
            <c:idx val="3"/>
            <c:spPr>
              <a:solidFill>
                <a:srgbClr val="3D2179"/>
              </a:solidFill>
            </c:spPr>
          </c:dPt>
          <c:cat>
            <c:strRef>
              <c:f>Sheet1!$A$2:$A$5</c:f>
              <c:strCache>
                <c:ptCount val="4"/>
                <c:pt idx="0">
                  <c:v>中文翻译</c:v>
                </c:pt>
                <c:pt idx="1">
                  <c:v>会议纪要</c:v>
                </c:pt>
                <c:pt idx="2">
                  <c:v>物体识别</c:v>
                </c:pt>
                <c:pt idx="3">
                  <c:v>操作指引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96.0</c:v>
                </c:pt>
                <c:pt idx="1">
                  <c:v>93.0</c:v>
                </c:pt>
                <c:pt idx="2">
                  <c:v>91.0</c:v>
                </c:pt>
                <c:pt idx="3">
                  <c:v>89.0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F414D"/>
            </a:solidFill>
          </a:ln>
        </c:spPr>
        <c:txPr>
          <a:bodyPr/>
          <a:lstStyle/>
          <a:p>
            <a:pPr>
              <a:defRPr sz="1400">
                <a:solidFill>
                  <a:srgbClr val="D3D3D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98999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D3D3D6"/>
          </a:solidFill>
          <a:latin typeface="Montserrat"/>
          <a:ea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手机让我们低头，电脑让我们坐下。眼镜是唯一一个一直在你视线里、又不需要你伸手的设备。</a:t>
            </a:r>
          </a:p>
          <a:p>
            <a:r>
              <a:t>最好的界面，是没有界面。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轻：整机 38 克，和普通眼镜一样</a:t>
            </a:r>
          </a:p>
          <a:p>
            <a:r>
              <a:t>· 静：不打扰，只在需要时出现</a:t>
            </a:r>
          </a:p>
          <a:p>
            <a:r>
              <a:t>· 准：看见什么，就理解什么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整机重量 38 克</a:t>
            </a:r>
          </a:p>
          <a:p>
            <a:r>
              <a:t>· 续航 12 小时</a:t>
            </a:r>
          </a:p>
          <a:p>
            <a:r>
              <a:t>· 端侧算力 45 TOPS</a:t>
            </a:r>
          </a:p>
          <a:p>
            <a:r>
              <a:t>· 识别延迟 120 毫秒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08:00 通勤路上，实时翻译路牌</a:t>
            </a:r>
          </a:p>
          <a:p>
            <a:r>
              <a:t>· 10:30 会议中，自动生成纪要</a:t>
            </a:r>
          </a:p>
          <a:p>
            <a:r>
              <a:t>· 15:00 维修现场，叠加操作指引</a:t>
            </a:r>
          </a:p>
          <a:p>
            <a:r>
              <a:t>· 20:00 回家路上，提醒购物清单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场景｜准确率</a:t>
            </a:r>
          </a:p>
          <a:p>
            <a:r>
              <a:t>中文翻译｜96</a:t>
            </a:r>
          </a:p>
          <a:p>
            <a:r>
              <a:t>会议纪要｜93</a:t>
            </a:r>
          </a:p>
          <a:p>
            <a:r>
              <a:t>物体识别｜91</a:t>
            </a:r>
          </a:p>
          <a:p>
            <a:r>
              <a:t>操作指引｜89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标准版：3,999 元，日常佩戴</a:t>
            </a:r>
          </a:p>
          <a:p>
            <a:r>
              <a:t>· 专业版：5,999 元，支持行业应用</a:t>
            </a:r>
          </a:p>
          <a:p>
            <a:r>
              <a:t>· 开发者版：6,999 元，开放全部接口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3 月 18 日：开启预约</a:t>
            </a:r>
          </a:p>
          <a:p>
            <a:r>
              <a:t>2. 4 月 1 日：首批发货</a:t>
            </a:r>
          </a:p>
          <a:p>
            <a:r>
              <a:t>3. 5 月：进入 30 个城市的线下门店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我们想做的，是一副你忘了自己戴着的眼镜。—— 星曜科技创始人 林知远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keynote-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"/>
            <a:ext cx="5852160" cy="585216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731520" y="621792"/>
            <a:ext cx="2029968" cy="347472"/>
            <a:chOff x="731520" y="621792"/>
            <a:chExt cx="2029968" cy="347472"/>
          </a:xfrm>
        </p:grpSpPr>
        <p:sp>
          <p:nvSpPr>
            <p:cNvPr id="4" name="4-Point Star 3"/>
            <p:cNvSpPr/>
            <p:nvPr/>
          </p:nvSpPr>
          <p:spPr>
            <a:xfrm>
              <a:off x="731520" y="640080"/>
              <a:ext cx="310896" cy="310896"/>
            </a:xfrm>
            <a:prstGeom prst="star4">
              <a:avLst/>
            </a:prstGeom>
            <a:solidFill>
              <a:srgbClr val="22D3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1115568" y="62179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FFFFFF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31520" y="134416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spc="400">
                <a:solidFill>
                  <a:srgbClr val="22D3EE"/>
                </a:solidFill>
                <a:latin typeface="Montserrat"/>
                <a:ea typeface="Montserrat"/>
              </a:rPr>
              <a:t>XINGYAO LAUNCH EVENT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544068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思源黑体 CN"/>
                <a:ea typeface="思源黑体 CN"/>
              </a:rPr>
              <a:t>星曜 X1</a:t>
            </a:r>
          </a:p>
          <a:p>
            <a:pPr algn="l"/>
            <a:r>
              <a:rPr sz="54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思源黑体 CN"/>
                <a:ea typeface="思源黑体 CN"/>
              </a:rPr>
              <a:t>智能眼镜发布会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7CCE8"/>
                </a:solidFill>
                <a:latin typeface="思源黑体 CN"/>
                <a:ea typeface="思源黑体 CN"/>
              </a:rPr>
              <a:t>看见，即理解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343400"/>
            <a:ext cx="1463040" cy="457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B93B8"/>
                </a:solidFill>
                <a:latin typeface="Montserrat"/>
                <a:ea typeface="Montserrat"/>
              </a:rPr>
              <a:t>2027 年 3 月 18 日 · 深圳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ynote-space5-n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914400"/>
            <a:ext cx="1005840" cy="2377440"/>
          </a:xfrm>
          <a:prstGeom prst="rect">
            <a:avLst/>
          </a:prstGeom>
          <a:noFill/>
        </p:spPr>
        <p:txBody>
          <a:bodyPr wrap="square" anchor="t" vert="eaVer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黑体 CN"/>
                <a:ea typeface="思源黑体 CN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502920" y="4526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600">
                <a:solidFill>
                  <a:srgbClr val="22D3EE"/>
                </a:solidFill>
                <a:latin typeface="Montserrat"/>
                <a:ea typeface="Montserrat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914400"/>
            <a:ext cx="27432" cy="502920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9" name="Group 8"/>
          <p:cNvGrpSpPr/>
          <p:nvPr/>
        </p:nvGrpSpPr>
        <p:grpSpPr>
          <a:xfrm>
            <a:off x="2651760" y="1143000"/>
            <a:ext cx="2743200" cy="1691640"/>
            <a:chOff x="2651760" y="1143000"/>
            <a:chExt cx="2743200" cy="1691640"/>
          </a:xfrm>
        </p:grpSpPr>
        <p:sp>
          <p:nvSpPr>
            <p:cNvPr id="6" name="TextBox 5"/>
            <p:cNvSpPr txBox="1"/>
            <p:nvPr/>
          </p:nvSpPr>
          <p:spPr>
            <a:xfrm>
              <a:off x="2651760" y="11430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51760" y="20574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产品理念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760720" y="1143000"/>
            <a:ext cx="2743200" cy="1691640"/>
            <a:chOff x="5760720" y="1143000"/>
            <a:chExt cx="2743200" cy="1691640"/>
          </a:xfrm>
        </p:grpSpPr>
        <p:sp>
          <p:nvSpPr>
            <p:cNvPr id="10" name="TextBox 9"/>
            <p:cNvSpPr txBox="1"/>
            <p:nvPr/>
          </p:nvSpPr>
          <p:spPr>
            <a:xfrm>
              <a:off x="5760720" y="11430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60720" y="20574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核心能力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869680" y="1143000"/>
            <a:ext cx="2743200" cy="1691640"/>
            <a:chOff x="8869680" y="1143000"/>
            <a:chExt cx="2743200" cy="1691640"/>
          </a:xfrm>
        </p:grpSpPr>
        <p:sp>
          <p:nvSpPr>
            <p:cNvPr id="14" name="TextBox 13"/>
            <p:cNvSpPr txBox="1"/>
            <p:nvPr/>
          </p:nvSpPr>
          <p:spPr>
            <a:xfrm>
              <a:off x="8869680" y="11430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69680" y="20574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体验场景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51760" y="3657600"/>
            <a:ext cx="2743200" cy="1691640"/>
            <a:chOff x="2651760" y="3657600"/>
            <a:chExt cx="2743200" cy="1691640"/>
          </a:xfrm>
        </p:grpSpPr>
        <p:sp>
          <p:nvSpPr>
            <p:cNvPr id="18" name="TextBox 17"/>
            <p:cNvSpPr txBox="1"/>
            <p:nvPr/>
          </p:nvSpPr>
          <p:spPr>
            <a:xfrm>
              <a:off x="2651760" y="36576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1760" y="45720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价格与上市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1097280" y="0"/>
            <a:ext cx="7863840" cy="6858000"/>
          </a:xfrm>
          <a:prstGeom prst="parallelogram">
            <a:avLst>
              <a:gd name="adj" fmla="val 28000"/>
            </a:avLst>
          </a:prstGeom>
          <a:gradFill rotWithShape="1">
            <a:gsLst>
              <a:gs pos="0">
                <a:srgbClr val="7C3AED">
                  <a:alpha val="85000"/>
                </a:srgbClr>
              </a:gs>
              <a:gs pos="100000">
                <a:srgbClr val="1E1B4B"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4114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0" b="1">
                <a:ln w="19050">
                  <a:solidFill>
                    <a:srgbClr val="FFFFFF"/>
                  </a:solidFill>
                </a:ln>
                <a:noFill/>
                <a:latin typeface="Montserrat"/>
                <a:ea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 rot="5400000">
            <a:off x="9692640" y="29260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600">
                <a:solidFill>
                  <a:srgbClr val="22D3EE"/>
                </a:solidFill>
                <a:latin typeface="Montserrat"/>
                <a:ea typeface="Montserrat"/>
              </a:rPr>
              <a:t>CHAPTER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黑体 CN"/>
                <a:ea typeface="思源黑体 CN"/>
              </a:rPr>
              <a:t>产品理念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为什么是眼镜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731520" y="2875788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最好的界面，是没有界面。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731520" y="3927348"/>
            <a:ext cx="731520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731520" y="4155948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手机让我们低头，电脑让我们坐下。眼镜是唯一一个一直在你视线里、又不需要你伸手的设备。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三个设计原则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xm Rectangle 5"/>
          <p:cNvSpPr/>
          <p:nvPr/>
        </p:nvSpPr>
        <p:spPr>
          <a:xfrm>
            <a:off x="731520" y="2419502"/>
            <a:ext cx="3383280" cy="3061411"/>
          </a:xfrm>
          <a:prstGeom prst="rect">
            <a:avLst/>
          </a:prstGeom>
          <a:solidFill>
            <a:srgbClr val="1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Rectangle 6"/>
          <p:cNvSpPr/>
          <p:nvPr/>
        </p:nvSpPr>
        <p:spPr>
          <a:xfrm>
            <a:off x="731520" y="2419502"/>
            <a:ext cx="33832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1115568" y="280355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1115568" y="344363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轻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115568" y="3992270"/>
            <a:ext cx="2615184" cy="12198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整机 38 克，和普通眼镜一样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4389120" y="2419502"/>
            <a:ext cx="3383280" cy="3061411"/>
          </a:xfrm>
          <a:prstGeom prst="rect">
            <a:avLst/>
          </a:prstGeom>
          <a:solidFill>
            <a:srgbClr val="1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4389120" y="2419502"/>
            <a:ext cx="33832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4773168" y="280355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4773168" y="344363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静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4773168" y="3992270"/>
            <a:ext cx="2615184" cy="12198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不打扰，只在需要时出现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8046720" y="2419502"/>
            <a:ext cx="3383280" cy="3061411"/>
          </a:xfrm>
          <a:prstGeom prst="rect">
            <a:avLst/>
          </a:prstGeom>
          <a:solidFill>
            <a:srgbClr val="1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Rectangle 16"/>
          <p:cNvSpPr/>
          <p:nvPr/>
        </p:nvSpPr>
        <p:spPr>
          <a:xfrm>
            <a:off x="8046720" y="2419502"/>
            <a:ext cx="33832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TextBox 17"/>
          <p:cNvSpPr txBox="1"/>
          <p:nvPr/>
        </p:nvSpPr>
        <p:spPr>
          <a:xfrm>
            <a:off x="8430768" y="280355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8430768" y="344363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准</a:t>
            </a:r>
          </a:p>
        </p:txBody>
      </p:sp>
      <p:sp>
        <p:nvSpPr>
          <p:cNvPr id="20" name="xm TextBox 19"/>
          <p:cNvSpPr txBox="1"/>
          <p:nvPr/>
        </p:nvSpPr>
        <p:spPr>
          <a:xfrm>
            <a:off x="8430768" y="3992270"/>
            <a:ext cx="2615184" cy="12198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看见什么，就理解什么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66560" y="-1280160"/>
            <a:ext cx="7132320" cy="7132320"/>
          </a:xfrm>
          <a:prstGeom prst="ellipse">
            <a:avLst/>
          </a:prstGeom>
          <a:gradFill rotWithShape="1">
            <a:gsLst>
              <a:gs pos="0">
                <a:srgbClr val="22D3EE">
                  <a:alpha val="90000"/>
                </a:srgbClr>
              </a:gs>
              <a:gs pos="100000">
                <a:srgbClr val="7C3AED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0" b="1">
                <a:gradFill>
                  <a:gsLst>
                    <a:gs pos="0">
                      <a:srgbClr val="7C3AED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70914"/>
                </a:solidFill>
                <a:latin typeface="思源黑体 CN"/>
                <a:ea typeface="思源黑体 CN"/>
              </a:rPr>
              <a:t>核心能力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68680" y="6016752"/>
            <a:ext cx="2029968" cy="347472"/>
            <a:chOff x="868680" y="6016752"/>
            <a:chExt cx="2029968" cy="347472"/>
          </a:xfrm>
        </p:grpSpPr>
        <p:sp>
          <p:nvSpPr>
            <p:cNvPr id="6" name="4-Point Star 5"/>
            <p:cNvSpPr/>
            <p:nvPr/>
          </p:nvSpPr>
          <p:spPr>
            <a:xfrm>
              <a:off x="868680" y="6035040"/>
              <a:ext cx="310896" cy="310896"/>
            </a:xfrm>
            <a:prstGeom prst="star4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TextBox 6"/>
            <p:cNvSpPr txBox="1"/>
            <p:nvPr/>
          </p:nvSpPr>
          <p:spPr>
            <a:xfrm>
              <a:off x="1252728" y="601675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070914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关键参数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731520" y="3132963"/>
            <a:ext cx="2537460" cy="857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38</a:t>
            </a:r>
            <a:r>
              <a:rPr sz="22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克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731520" y="4127373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731520" y="4310253"/>
            <a:ext cx="24917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整机重量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3680460" y="3132963"/>
            <a:ext cx="2263140" cy="857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12</a:t>
            </a:r>
            <a:r>
              <a:rPr sz="22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小时</a:t>
            </a:r>
          </a:p>
        </p:txBody>
      </p:sp>
      <p:cxnSp>
        <p:nvCxnSpPr>
          <p:cNvPr id="10" name="xm Connector 9"/>
          <p:cNvCxnSpPr/>
          <p:nvPr/>
        </p:nvCxnSpPr>
        <p:spPr>
          <a:xfrm>
            <a:off x="3680460" y="4127373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xm TextBox 10"/>
          <p:cNvSpPr txBox="1"/>
          <p:nvPr/>
        </p:nvSpPr>
        <p:spPr>
          <a:xfrm>
            <a:off x="3680460" y="4310253"/>
            <a:ext cx="22174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续航</a:t>
            </a:r>
          </a:p>
        </p:txBody>
      </p:sp>
      <p:cxnSp>
        <p:nvCxnSpPr>
          <p:cNvPr id="12" name="xm Connector 11"/>
          <p:cNvCxnSpPr/>
          <p:nvPr/>
        </p:nvCxnSpPr>
        <p:spPr>
          <a:xfrm>
            <a:off x="3406140" y="3270123"/>
            <a:ext cx="0" cy="1497330"/>
          </a:xfrm>
          <a:prstGeom prst="line">
            <a:avLst/>
          </a:prstGeom>
          <a:ln w="9525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m TextBox 12"/>
          <p:cNvSpPr txBox="1"/>
          <p:nvPr/>
        </p:nvSpPr>
        <p:spPr>
          <a:xfrm>
            <a:off x="6355080" y="3132963"/>
            <a:ext cx="2263140" cy="857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45</a:t>
            </a:r>
            <a:r>
              <a:rPr sz="22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TOPS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6355080" y="4127373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6355080" y="4310253"/>
            <a:ext cx="22174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端侧算力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6080760" y="3270123"/>
            <a:ext cx="0" cy="1497330"/>
          </a:xfrm>
          <a:prstGeom prst="line">
            <a:avLst/>
          </a:prstGeom>
          <a:ln w="9525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9029700" y="3132963"/>
            <a:ext cx="2263140" cy="857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120</a:t>
            </a:r>
            <a:r>
              <a:rPr sz="22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毫秒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9029700" y="4127373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9029700" y="4310253"/>
            <a:ext cx="22174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识别延迟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8755380" y="3270123"/>
            <a:ext cx="0" cy="1497330"/>
          </a:xfrm>
          <a:prstGeom prst="line">
            <a:avLst/>
          </a:prstGeom>
          <a:ln w="9525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和上一代相比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xm Rectangle 5"/>
          <p:cNvSpPr/>
          <p:nvPr/>
        </p:nvSpPr>
        <p:spPr>
          <a:xfrm>
            <a:off x="731520" y="2087575"/>
            <a:ext cx="4937760" cy="3725266"/>
          </a:xfrm>
          <a:prstGeom prst="rect">
            <a:avLst/>
          </a:prstGeom>
          <a:solidFill>
            <a:srgbClr val="1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Rectangle 6"/>
          <p:cNvSpPr/>
          <p:nvPr/>
        </p:nvSpPr>
        <p:spPr>
          <a:xfrm>
            <a:off x="731520" y="2087575"/>
            <a:ext cx="4937760" cy="1024128"/>
          </a:xfrm>
          <a:prstGeom prst="rect">
            <a:avLst/>
          </a:prstGeom>
          <a:solidFill>
            <a:srgbClr val="31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上一代</a:t>
            </a:r>
          </a:p>
        </p:txBody>
      </p:sp>
      <p:pic>
        <p:nvPicPr>
          <p:cNvPr id="8" name="xm Picture 7" descr="circle-x-22D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49447"/>
            <a:ext cx="435254" cy="435254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578254" y="3294583"/>
            <a:ext cx="381670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续航 6 小时</a:t>
            </a:r>
          </a:p>
        </p:txBody>
      </p:sp>
      <p:pic>
        <p:nvPicPr>
          <p:cNvPr id="10" name="xm Picture 9" descr="circle-x-22D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43146"/>
            <a:ext cx="435254" cy="43525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578254" y="4088282"/>
            <a:ext cx="381670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重量 52 克</a:t>
            </a:r>
          </a:p>
        </p:txBody>
      </p:sp>
      <p:pic>
        <p:nvPicPr>
          <p:cNvPr id="12" name="xm Picture 11" descr="circle-x-22D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936846"/>
            <a:ext cx="435254" cy="435254"/>
          </a:xfrm>
          <a:prstGeom prst="rect">
            <a:avLst/>
          </a:prstGeom>
        </p:spPr>
      </p:pic>
      <p:sp>
        <p:nvSpPr>
          <p:cNvPr id="13" name="xm TextBox 12"/>
          <p:cNvSpPr txBox="1"/>
          <p:nvPr/>
        </p:nvSpPr>
        <p:spPr>
          <a:xfrm>
            <a:off x="1578254" y="4881982"/>
            <a:ext cx="381670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需要连接手机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6492240" y="2087575"/>
            <a:ext cx="4937760" cy="3725266"/>
          </a:xfrm>
          <a:prstGeom prst="rect">
            <a:avLst/>
          </a:prstGeom>
          <a:solidFill>
            <a:srgbClr val="1D1F2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6492240" y="2087575"/>
            <a:ext cx="493776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星曜 X1</a:t>
            </a:r>
          </a:p>
        </p:txBody>
      </p:sp>
      <p:pic>
        <p:nvPicPr>
          <p:cNvPr id="16" name="xm Picture 15" descr="circle-check-22D3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349447"/>
            <a:ext cx="435254" cy="435254"/>
          </a:xfrm>
          <a:prstGeom prst="rect">
            <a:avLst/>
          </a:prstGeom>
        </p:spPr>
      </p:pic>
      <p:sp>
        <p:nvSpPr>
          <p:cNvPr id="17" name="xm TextBox 16"/>
          <p:cNvSpPr txBox="1"/>
          <p:nvPr/>
        </p:nvSpPr>
        <p:spPr>
          <a:xfrm>
            <a:off x="7338974" y="3294583"/>
            <a:ext cx="381670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续航 12 小时</a:t>
            </a:r>
          </a:p>
        </p:txBody>
      </p:sp>
      <p:pic>
        <p:nvPicPr>
          <p:cNvPr id="18" name="xm Picture 17" descr="circle-check-22D3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143146"/>
            <a:ext cx="435254" cy="43525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7338974" y="4088282"/>
            <a:ext cx="381670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重量 38 克</a:t>
            </a:r>
          </a:p>
        </p:txBody>
      </p:sp>
      <p:pic>
        <p:nvPicPr>
          <p:cNvPr id="20" name="xm Picture 19" descr="circle-check-22D3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936846"/>
            <a:ext cx="435254" cy="43525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7338974" y="4881982"/>
            <a:ext cx="381670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独立运行</a:t>
            </a:r>
          </a:p>
        </p:txBody>
      </p:sp>
      <p:sp>
        <p:nvSpPr>
          <p:cNvPr id="22" name="xm Oval 21"/>
          <p:cNvSpPr/>
          <p:nvPr/>
        </p:nvSpPr>
        <p:spPr>
          <a:xfrm>
            <a:off x="5733288" y="3602736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090C1B"/>
                </a:solidFill>
                <a:latin typeface="Montserrat"/>
                <a:ea typeface="Montserrat"/>
                <a:cs typeface="Montserrat"/>
              </a:rP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1097280" y="0"/>
            <a:ext cx="7863840" cy="6858000"/>
          </a:xfrm>
          <a:prstGeom prst="parallelogram">
            <a:avLst>
              <a:gd name="adj" fmla="val 28000"/>
            </a:avLst>
          </a:prstGeom>
          <a:gradFill rotWithShape="1">
            <a:gsLst>
              <a:gs pos="0">
                <a:srgbClr val="7C3AED">
                  <a:alpha val="85000"/>
                </a:srgbClr>
              </a:gs>
              <a:gs pos="100000">
                <a:srgbClr val="1E1B4B"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4114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0" b="1">
                <a:ln w="19050">
                  <a:solidFill>
                    <a:srgbClr val="FFFFFF"/>
                  </a:solidFill>
                </a:ln>
                <a:noFill/>
                <a:latin typeface="Montserrat"/>
                <a:ea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 rot="5400000">
            <a:off x="9692640" y="29260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600">
                <a:solidFill>
                  <a:srgbClr val="22D3EE"/>
                </a:solidFill>
                <a:latin typeface="Montserrat"/>
                <a:ea typeface="Montserrat"/>
              </a:rPr>
              <a:t>CHAPTER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黑体 CN"/>
                <a:ea typeface="思源黑体 CN"/>
              </a:rPr>
              <a:t>体验场景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一天的使用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cxnSp>
        <p:nvCxnSpPr>
          <p:cNvPr id="6" name="xm Connector 5"/>
          <p:cNvCxnSpPr/>
          <p:nvPr/>
        </p:nvCxnSpPr>
        <p:spPr>
          <a:xfrm>
            <a:off x="731520" y="3914394"/>
            <a:ext cx="10698480" cy="0"/>
          </a:xfrm>
          <a:prstGeom prst="line">
            <a:avLst/>
          </a:prstGeom>
          <a:ln w="38100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xm Oval 6"/>
          <p:cNvSpPr/>
          <p:nvPr/>
        </p:nvSpPr>
        <p:spPr>
          <a:xfrm>
            <a:off x="731520" y="3777234"/>
            <a:ext cx="274320" cy="274320"/>
          </a:xfrm>
          <a:prstGeom prst="ellipse">
            <a:avLst/>
          </a:prstGeom>
          <a:solidFill>
            <a:srgbClr val="090C1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731520" y="2817114"/>
            <a:ext cx="249174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08:00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731520" y="4280154"/>
            <a:ext cx="240030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通勤路上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731520" y="4755642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实时翻译路牌</a:t>
            </a:r>
          </a:p>
        </p:txBody>
      </p:sp>
      <p:sp>
        <p:nvSpPr>
          <p:cNvPr id="11" name="xm Oval 10"/>
          <p:cNvSpPr/>
          <p:nvPr/>
        </p:nvSpPr>
        <p:spPr>
          <a:xfrm>
            <a:off x="3406140" y="3777234"/>
            <a:ext cx="274320" cy="274320"/>
          </a:xfrm>
          <a:prstGeom prst="ellipse">
            <a:avLst/>
          </a:prstGeom>
          <a:solidFill>
            <a:srgbClr val="090C1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TextBox 11"/>
          <p:cNvSpPr txBox="1"/>
          <p:nvPr/>
        </p:nvSpPr>
        <p:spPr>
          <a:xfrm>
            <a:off x="3406140" y="2817114"/>
            <a:ext cx="249174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10:30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3406140" y="4280154"/>
            <a:ext cx="240030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会议中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3406140" y="4755642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自动生成纪要</a:t>
            </a:r>
          </a:p>
        </p:txBody>
      </p:sp>
      <p:sp>
        <p:nvSpPr>
          <p:cNvPr id="15" name="xm Oval 14"/>
          <p:cNvSpPr/>
          <p:nvPr/>
        </p:nvSpPr>
        <p:spPr>
          <a:xfrm>
            <a:off x="6080760" y="3777234"/>
            <a:ext cx="274320" cy="274320"/>
          </a:xfrm>
          <a:prstGeom prst="ellipse">
            <a:avLst/>
          </a:prstGeom>
          <a:solidFill>
            <a:srgbClr val="090C1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6080760" y="2817114"/>
            <a:ext cx="249174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15:00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6080760" y="4280154"/>
            <a:ext cx="240030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维修现场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6080760" y="4755642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叠加操作指引</a:t>
            </a:r>
          </a:p>
        </p:txBody>
      </p:sp>
      <p:sp>
        <p:nvSpPr>
          <p:cNvPr id="19" name="xm Oval 18"/>
          <p:cNvSpPr/>
          <p:nvPr/>
        </p:nvSpPr>
        <p:spPr>
          <a:xfrm>
            <a:off x="8755380" y="377723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TextBox 19"/>
          <p:cNvSpPr txBox="1"/>
          <p:nvPr/>
        </p:nvSpPr>
        <p:spPr>
          <a:xfrm>
            <a:off x="8755380" y="2817114"/>
            <a:ext cx="249174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20:00</a:t>
            </a:r>
          </a:p>
        </p:txBody>
      </p:sp>
      <p:sp>
        <p:nvSpPr>
          <p:cNvPr id="21" name="xm TextBox 20"/>
          <p:cNvSpPr txBox="1"/>
          <p:nvPr/>
        </p:nvSpPr>
        <p:spPr>
          <a:xfrm>
            <a:off x="8755380" y="4280154"/>
            <a:ext cx="240030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回家路上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8755380" y="4755642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3D3D6"/>
                </a:solidFill>
                <a:latin typeface="Montserrat"/>
                <a:ea typeface="Montserrat"/>
                <a:cs typeface="Montserrat"/>
              </a:rPr>
              <a:t>提醒购物清单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各场景识别准确率（%）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731520" y="61630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示例数据</a:t>
            </a:r>
          </a:p>
        </p:txBody>
      </p:sp>
      <p:graphicFrame>
        <p:nvGraphicFramePr>
          <p:cNvPr id="7" name="xm Chart 6"/>
          <p:cNvGraphicFramePr>
            <a:graphicFrameLocks noGrp="1"/>
          </p:cNvGraphicFramePr>
          <p:nvPr/>
        </p:nvGraphicFramePr>
        <p:xfrm>
          <a:off x="731520" y="1481328"/>
          <a:ext cx="106984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66560" y="-1280160"/>
            <a:ext cx="7132320" cy="7132320"/>
          </a:xfrm>
          <a:prstGeom prst="ellipse">
            <a:avLst/>
          </a:prstGeom>
          <a:gradFill rotWithShape="1">
            <a:gsLst>
              <a:gs pos="0">
                <a:srgbClr val="22D3EE">
                  <a:alpha val="90000"/>
                </a:srgbClr>
              </a:gs>
              <a:gs pos="100000">
                <a:srgbClr val="7C3AED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0" b="1">
                <a:gradFill>
                  <a:gsLst>
                    <a:gs pos="0">
                      <a:srgbClr val="7C3AED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70914"/>
                </a:solidFill>
                <a:latin typeface="思源黑体 CN"/>
                <a:ea typeface="思源黑体 CN"/>
              </a:rPr>
              <a:t>价格与上市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68680" y="6016752"/>
            <a:ext cx="2029968" cy="347472"/>
            <a:chOff x="868680" y="6016752"/>
            <a:chExt cx="2029968" cy="347472"/>
          </a:xfrm>
        </p:grpSpPr>
        <p:sp>
          <p:nvSpPr>
            <p:cNvPr id="6" name="4-Point Star 5"/>
            <p:cNvSpPr/>
            <p:nvPr/>
          </p:nvSpPr>
          <p:spPr>
            <a:xfrm>
              <a:off x="868680" y="6035040"/>
              <a:ext cx="310896" cy="310896"/>
            </a:xfrm>
            <a:prstGeom prst="star4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TextBox 6"/>
            <p:cNvSpPr txBox="1"/>
            <p:nvPr/>
          </p:nvSpPr>
          <p:spPr>
            <a:xfrm>
              <a:off x="1252728" y="601675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070914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三个版本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731520" y="2853291"/>
            <a:ext cx="3429000" cy="1016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3,999</a:t>
            </a:r>
            <a:r>
              <a:rPr sz="26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元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731520" y="4006451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731520" y="4189331"/>
            <a:ext cx="3383280" cy="5225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标准版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731520" y="4711845"/>
            <a:ext cx="3383280" cy="335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日常佩戴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4572000" y="2853291"/>
            <a:ext cx="3154680" cy="1016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5,999</a:t>
            </a:r>
            <a:r>
              <a:rPr sz="26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元</a:t>
            </a:r>
          </a:p>
        </p:txBody>
      </p:sp>
      <p:cxnSp>
        <p:nvCxnSpPr>
          <p:cNvPr id="11" name="xm Connector 10"/>
          <p:cNvCxnSpPr/>
          <p:nvPr/>
        </p:nvCxnSpPr>
        <p:spPr>
          <a:xfrm>
            <a:off x="4572000" y="4006451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TextBox 11"/>
          <p:cNvSpPr txBox="1"/>
          <p:nvPr/>
        </p:nvSpPr>
        <p:spPr>
          <a:xfrm>
            <a:off x="4572000" y="4189331"/>
            <a:ext cx="3108960" cy="5225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专业版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4572000" y="4711845"/>
            <a:ext cx="3108960" cy="335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支持行业应用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4297680" y="2990451"/>
            <a:ext cx="0" cy="2056674"/>
          </a:xfrm>
          <a:prstGeom prst="line">
            <a:avLst/>
          </a:prstGeom>
          <a:ln w="9525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8138160" y="2853291"/>
            <a:ext cx="3154680" cy="1016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6,999</a:t>
            </a:r>
            <a:r>
              <a:rPr sz="26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 元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8138160" y="4006451"/>
            <a:ext cx="640080" cy="0"/>
          </a:xfrm>
          <a:prstGeom prst="line">
            <a:avLst/>
          </a:prstGeom>
          <a:ln w="381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8138160" y="4189331"/>
            <a:ext cx="3108960" cy="5225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开发者版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8138160" y="4711845"/>
            <a:ext cx="3108960" cy="335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8999F"/>
                </a:solidFill>
                <a:latin typeface="Montserrat"/>
                <a:ea typeface="Montserrat"/>
                <a:cs typeface="Montserrat"/>
              </a:rPr>
              <a:t>开放全部接口</a:t>
            </a:r>
          </a:p>
        </p:txBody>
      </p:sp>
      <p:cxnSp>
        <p:nvCxnSpPr>
          <p:cNvPr id="19" name="xm Connector 18"/>
          <p:cNvCxnSpPr/>
          <p:nvPr/>
        </p:nvCxnSpPr>
        <p:spPr>
          <a:xfrm>
            <a:off x="7863840" y="2990451"/>
            <a:ext cx="0" cy="2056674"/>
          </a:xfrm>
          <a:prstGeom prst="line">
            <a:avLst/>
          </a:prstGeom>
          <a:ln w="9525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上市节奏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cxnSp>
        <p:nvCxnSpPr>
          <p:cNvPr id="6" name="xm Connector 5"/>
          <p:cNvCxnSpPr/>
          <p:nvPr/>
        </p:nvCxnSpPr>
        <p:spPr>
          <a:xfrm>
            <a:off x="731520" y="3909060"/>
            <a:ext cx="10698480" cy="0"/>
          </a:xfrm>
          <a:prstGeom prst="line">
            <a:avLst/>
          </a:prstGeom>
          <a:ln w="38100">
            <a:solidFill>
              <a:srgbClr val="3F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xm Oval 6"/>
          <p:cNvSpPr/>
          <p:nvPr/>
        </p:nvSpPr>
        <p:spPr>
          <a:xfrm>
            <a:off x="731520" y="3771900"/>
            <a:ext cx="274320" cy="274320"/>
          </a:xfrm>
          <a:prstGeom prst="ellipse">
            <a:avLst/>
          </a:prstGeom>
          <a:solidFill>
            <a:srgbClr val="090C1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731520" y="28117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3 月 18 日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731520" y="4274820"/>
            <a:ext cx="329184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开启预约</a:t>
            </a:r>
          </a:p>
        </p:txBody>
      </p:sp>
      <p:sp>
        <p:nvSpPr>
          <p:cNvPr id="10" name="xm Oval 9"/>
          <p:cNvSpPr/>
          <p:nvPr/>
        </p:nvSpPr>
        <p:spPr>
          <a:xfrm>
            <a:off x="4297680" y="3771900"/>
            <a:ext cx="274320" cy="274320"/>
          </a:xfrm>
          <a:prstGeom prst="ellipse">
            <a:avLst/>
          </a:prstGeom>
          <a:solidFill>
            <a:srgbClr val="090C1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TextBox 10"/>
          <p:cNvSpPr txBox="1"/>
          <p:nvPr/>
        </p:nvSpPr>
        <p:spPr>
          <a:xfrm>
            <a:off x="4297680" y="28117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4 月 1 日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4297680" y="4274820"/>
            <a:ext cx="329184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首批发货</a:t>
            </a:r>
          </a:p>
        </p:txBody>
      </p:sp>
      <p:sp>
        <p:nvSpPr>
          <p:cNvPr id="13" name="xm Oval 12"/>
          <p:cNvSpPr/>
          <p:nvPr/>
        </p:nvSpPr>
        <p:spPr>
          <a:xfrm>
            <a:off x="7863840" y="37719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TextBox 13"/>
          <p:cNvSpPr txBox="1"/>
          <p:nvPr/>
        </p:nvSpPr>
        <p:spPr>
          <a:xfrm>
            <a:off x="7863840" y="28117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Montserrat"/>
                <a:ea typeface="Montserrat"/>
                <a:cs typeface="Montserrat"/>
              </a:rPr>
              <a:t>5 月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7863840" y="4274820"/>
            <a:ext cx="329184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进入 30 个城市的线下门店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5-n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91440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0" b="1">
                <a:gradFill>
                  <a:gsLst>
                    <a:gs pos="0">
                      <a:srgbClr val="7C3AED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468880"/>
            <a:ext cx="104543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黑体 CN"/>
                <a:ea typeface="思源黑体 CN"/>
              </a:rPr>
              <a:t>我们想做的，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思源黑体 CN"/>
                <a:ea typeface="思源黑体 CN"/>
              </a:rPr>
              <a:t>是一副你忘了自己戴着的眼镜。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023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3B8"/>
                </a:solidFill>
                <a:latin typeface="思源黑体 CN"/>
                <a:ea typeface="思源黑体 CN"/>
              </a:rPr>
              <a:t>—— 星曜科技创始人 林知远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思源黑体 CN"/>
                <a:ea typeface="思源黑体 CN"/>
              </a:rPr>
              <a:t>感谢观看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20624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92640" y="420624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+mn-lt"/>
                <a:ea typeface="+mn-ea"/>
              </a:rPr>
              <a:t>二维码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852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8B93B8"/>
                </a:solidFill>
                <a:latin typeface="思源黑体 CN"/>
                <a:ea typeface="思源黑体 CN"/>
              </a:rPr>
              <a:t>扫码关注星曜科技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77240" y="621792"/>
            <a:ext cx="2029968" cy="347472"/>
            <a:chOff x="777240" y="621792"/>
            <a:chExt cx="2029968" cy="347472"/>
          </a:xfrm>
        </p:grpSpPr>
        <p:sp>
          <p:nvSpPr>
            <p:cNvPr id="8" name="4-Point Star 7"/>
            <p:cNvSpPr/>
            <p:nvPr/>
          </p:nvSpPr>
          <p:spPr>
            <a:xfrm>
              <a:off x="777240" y="640080"/>
              <a:ext cx="310896" cy="310896"/>
            </a:xfrm>
            <a:prstGeom prst="star4">
              <a:avLst/>
            </a:prstGeom>
            <a:solidFill>
              <a:srgbClr val="22D3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1161288" y="62179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FFFFFF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