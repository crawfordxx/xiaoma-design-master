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问诊量（万人次）</c:v>
                </c:pt>
              </c:strCache>
            </c:strRef>
          </c:tx>
          <c:spPr>
            <a:ln w="34925">
              <a:solidFill>
                <a:srgbClr val="0E9AA7"/>
              </a:solidFill>
            </a:ln>
          </c:spPr>
          <c:marker>
            <c:spPr>
              <a:solidFill>
                <a:srgbClr val="0E9AA7"/>
              </a:solidFill>
              <a:ln>
                <a:solidFill>
                  <a:srgbClr val="FEFEFE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6.8</c:v>
                </c:pt>
                <c:pt idx="1">
                  <c:v>7.4</c:v>
                </c:pt>
                <c:pt idx="2">
                  <c:v>8.1</c:v>
                </c:pt>
                <c:pt idx="3">
                  <c:v>8.9</c:v>
                </c:pt>
                <c:pt idx="4">
                  <c:v>9.5</c:v>
                </c:pt>
                <c:pt idx="5">
                  <c:v>10.2</c:v>
                </c:pt>
              </c:numCache>
            </c:numRef>
          </c:val>
          <c:smooth val="0"/>
        </c:ser>
        <c:dLbls>
          <c:numFmt formatCode="#,##0.0" sourceLinked="0"/>
          <c:txPr>
            <a:bodyPr/>
            <a:lstStyle/>
            <a:p>
              <a:pPr>
                <a:defRPr sz="1500" b="1">
                  <a:solidFill>
                    <a:srgbClr val="17323A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3E5"/>
            </a:solidFill>
          </a:ln>
        </c:spPr>
        <c:txPr>
          <a:bodyPr/>
          <a:lstStyle/>
          <a:p>
            <a:pPr>
              <a:defRPr sz="1400">
                <a:solidFill>
                  <a:srgbClr val="41575D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1.389999999999999"/>
          <c:min val="2.7200000000000006"/>
        </c:scaling>
        <c:delete/>
        <c:axPos val="l"/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7F8E93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41575D"/>
          </a:solidFill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spPr>
              <a:solidFill>
                <a:srgbClr val="0E9AA7"/>
              </a:solidFill>
              <a:ln>
                <a:solidFill>
                  <a:srgbClr val="FEFEFE"/>
                </a:solidFill>
              </a:ln>
            </c:spPr>
          </c:dPt>
          <c:dPt>
            <c:idx val="1"/>
            <c:spPr>
              <a:solidFill>
                <a:srgbClr val="62BDC6"/>
              </a:solidFill>
              <a:ln>
                <a:solidFill>
                  <a:srgbClr val="FEFEFE"/>
                </a:solidFill>
              </a:ln>
            </c:spPr>
          </c:dPt>
          <c:dPt>
            <c:idx val="2"/>
            <c:spPr>
              <a:solidFill>
                <a:srgbClr val="86CCD2"/>
              </a:solidFill>
              <a:ln>
                <a:solidFill>
                  <a:srgbClr val="FEFEFE"/>
                </a:solidFill>
              </a:ln>
            </c:spPr>
          </c:dPt>
          <c:dPt>
            <c:idx val="3"/>
            <c:spPr>
              <a:solidFill>
                <a:srgbClr val="B0DEE2"/>
              </a:solidFill>
              <a:ln>
                <a:solidFill>
                  <a:srgbClr val="FEFEFE"/>
                </a:solidFill>
              </a:ln>
            </c:spPr>
          </c:dPt>
          <c:dPt>
            <c:idx val="4"/>
            <c:spPr>
              <a:solidFill>
                <a:srgbClr val="7F8E93"/>
              </a:solidFill>
              <a:ln>
                <a:solidFill>
                  <a:srgbClr val="FEFEFE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全科</c:v>
                </c:pt>
                <c:pt idx="1">
                  <c:v>儿科</c:v>
                </c:pt>
                <c:pt idx="2">
                  <c:v>内分泌</c:v>
                </c:pt>
                <c:pt idx="3">
                  <c:v>皮肤科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</c:v>
                </c:pt>
                <c:pt idx="1">
                  <c:v>22</c:v>
                </c:pt>
                <c:pt idx="2">
                  <c:v>18</c:v>
                </c:pt>
                <c:pt idx="3">
                  <c:v>14</c:v>
                </c:pt>
                <c:pt idx="4">
                  <c:v>12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500" b="1">
                  <a:solidFill>
                    <a:srgbClr val="1F2329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600">
              <a:solidFill>
                <a:srgbClr val="41575D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solidFill>
            <a:srgbClr val="41575D"/>
          </a:solidFill>
          <a:latin typeface="微软雅黑"/>
          <a:ea typeface="微软雅黑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互联网医院 2026 年三季度运营复盘。康宁医疗集团 · 互联网医院运营中心，2026-10-15。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线上问诊量 28.6 万人次，环比增长 21%；复诊续方占比 64%；平均响应时长 3.2 分钟；患者满意度 97.1%。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线上问诊量逐月增长：4 月 6.8、5 月 7.4、6 月 8.1、7 月 8.9、8 月 9.5、9 月 10.2（万人次）。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问诊科室分布：全科 34%、儿科 22%、内分泌 18%、皮肤科 14%、其他 12%。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慢病续方：高血压、糖尿病患者在线复诊开药，药品配送到家。报告解读：检查报告出具后，医生在线解读并给出建议。护理上门：换药、采血、导管维护等 12 项护理服务。心理咨询：与心理科合作开设夜间咨询门诊。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现在：线上开的检查要回医院重新排队；线上病历和院内病历分开存；医生线上接诊算不进工作量。目标：线上开单、线下直接检查；一份病历全院通用；线上接诊纳入绩效考核。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四季度计划：1. 打通检查预约：线上开单直接预约检查时段。2. 病历一体化：10 月底前完成线上线下病历合并。3. 绩效改革：11 月起线上接诊按 1:1 计入工作量。4. 扩充医生团队：新增 60 名线上坐诊医生。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让患者少跑一趟，是互联网医院存在的意义。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94360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685800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530352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223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0B5563"/>
                </a:solidFill>
                <a:latin typeface="微软雅黑"/>
                <a:ea typeface="微软雅黑"/>
              </a:rPr>
              <a:t>互联网医院三季度运营复盘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0E9AA7"/>
                </a:solidFill>
                <a:latin typeface="微软雅黑"/>
                <a:ea typeface="微软雅黑"/>
              </a:rPr>
              <a:t>康宁医疗集团 · 互联网医院运营中心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91456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2026-10-15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B5563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657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0E9AA7"/>
                </a:solidFill>
                <a:latin typeface="微软雅黑"/>
                <a:ea typeface="微软雅黑"/>
              </a:rPr>
              <a:t>CONTENTS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31520" y="2148840"/>
            <a:ext cx="3383280" cy="1691640"/>
            <a:chOff x="731520" y="2148840"/>
            <a:chExt cx="3383280" cy="1691640"/>
          </a:xfrm>
        </p:grpSpPr>
        <p:sp>
          <p:nvSpPr>
            <p:cNvPr id="6" name="Rounded Rectangle 5"/>
            <p:cNvSpPr/>
            <p:nvPr/>
          </p:nvSpPr>
          <p:spPr>
            <a:xfrm>
              <a:off x="731520" y="2148840"/>
              <a:ext cx="3383280" cy="169164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005840" y="2423160"/>
              <a:ext cx="640080" cy="640080"/>
            </a:xfrm>
            <a:prstGeom prst="ellipse">
              <a:avLst/>
            </a:prstGeom>
            <a:solidFill>
              <a:srgbClr val="0E9A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05840" y="2532888"/>
              <a:ext cx="640080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微软雅黑"/>
                  <a:ea typeface="微软雅黑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28800" y="2496312"/>
              <a:ext cx="2194560" cy="5029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800" b="1">
                  <a:solidFill>
                    <a:srgbClr val="17323A"/>
                  </a:solidFill>
                  <a:latin typeface="微软雅黑"/>
                  <a:ea typeface="微软雅黑"/>
                </a:rPr>
                <a:t>整体表现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28800" y="3017520"/>
              <a:ext cx="2194560" cy="5486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7C8F94"/>
                  </a:solidFill>
                  <a:latin typeface="微软雅黑"/>
                  <a:ea typeface="微软雅黑"/>
                </a:rPr>
                <a:t>三季度核心数据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89120" y="2148840"/>
            <a:ext cx="3383280" cy="1691640"/>
            <a:chOff x="4389120" y="2148840"/>
            <a:chExt cx="3383280" cy="1691640"/>
          </a:xfrm>
        </p:grpSpPr>
        <p:sp>
          <p:nvSpPr>
            <p:cNvPr id="12" name="Rounded Rectangle 11"/>
            <p:cNvSpPr/>
            <p:nvPr/>
          </p:nvSpPr>
          <p:spPr>
            <a:xfrm>
              <a:off x="4389120" y="2148840"/>
              <a:ext cx="3383280" cy="169164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4663440" y="2423160"/>
              <a:ext cx="640080" cy="640080"/>
            </a:xfrm>
            <a:prstGeom prst="ellipse">
              <a:avLst/>
            </a:prstGeom>
            <a:solidFill>
              <a:srgbClr val="0E9A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663440" y="2532888"/>
              <a:ext cx="640080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微软雅黑"/>
                  <a:ea typeface="微软雅黑"/>
                </a:rPr>
                <a:t>02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86400" y="2496312"/>
              <a:ext cx="2194560" cy="5029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800" b="1">
                  <a:solidFill>
                    <a:srgbClr val="17323A"/>
                  </a:solidFill>
                  <a:latin typeface="微软雅黑"/>
                  <a:ea typeface="微软雅黑"/>
                </a:rPr>
                <a:t>科室与服务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486400" y="3017520"/>
              <a:ext cx="2194560" cy="5486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7C8F94"/>
                  </a:solidFill>
                  <a:latin typeface="微软雅黑"/>
                  <a:ea typeface="微软雅黑"/>
                </a:rPr>
                <a:t>四项重点服务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046720" y="2148840"/>
            <a:ext cx="3383280" cy="1691640"/>
            <a:chOff x="8046720" y="2148840"/>
            <a:chExt cx="3383280" cy="1691640"/>
          </a:xfrm>
        </p:grpSpPr>
        <p:sp>
          <p:nvSpPr>
            <p:cNvPr id="18" name="Rounded Rectangle 17"/>
            <p:cNvSpPr/>
            <p:nvPr/>
          </p:nvSpPr>
          <p:spPr>
            <a:xfrm>
              <a:off x="8046720" y="2148840"/>
              <a:ext cx="3383280" cy="169164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8321040" y="2423160"/>
              <a:ext cx="640080" cy="640080"/>
            </a:xfrm>
            <a:prstGeom prst="ellipse">
              <a:avLst/>
            </a:prstGeom>
            <a:solidFill>
              <a:srgbClr val="0E9A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321040" y="2532888"/>
              <a:ext cx="640080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微软雅黑"/>
                  <a:ea typeface="微软雅黑"/>
                </a:rPr>
                <a:t>03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144000" y="2496312"/>
              <a:ext cx="2194560" cy="5029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800" b="1">
                  <a:solidFill>
                    <a:srgbClr val="17323A"/>
                  </a:solidFill>
                  <a:latin typeface="微软雅黑"/>
                  <a:ea typeface="微软雅黑"/>
                </a:rPr>
                <a:t>存在的问题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144000" y="3017520"/>
              <a:ext cx="2194560" cy="5486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7C8F94"/>
                  </a:solidFill>
                  <a:latin typeface="微软雅黑"/>
                  <a:ea typeface="微软雅黑"/>
                </a:rPr>
                <a:t>线上线下衔接还不顺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31520" y="4114800"/>
            <a:ext cx="3383280" cy="1691640"/>
            <a:chOff x="731520" y="4114800"/>
            <a:chExt cx="3383280" cy="1691640"/>
          </a:xfrm>
        </p:grpSpPr>
        <p:sp>
          <p:nvSpPr>
            <p:cNvPr id="24" name="Rounded Rectangle 23"/>
            <p:cNvSpPr/>
            <p:nvPr/>
          </p:nvSpPr>
          <p:spPr>
            <a:xfrm>
              <a:off x="731520" y="4114800"/>
              <a:ext cx="3383280" cy="169164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1005840" y="4389120"/>
              <a:ext cx="640080" cy="640080"/>
            </a:xfrm>
            <a:prstGeom prst="ellipse">
              <a:avLst/>
            </a:prstGeom>
            <a:solidFill>
              <a:srgbClr val="0E9A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05840" y="4498848"/>
              <a:ext cx="640080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微软雅黑"/>
                  <a:ea typeface="微软雅黑"/>
                </a:rPr>
                <a:t>04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828800" y="4462272"/>
              <a:ext cx="2194560" cy="5029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800" b="1">
                  <a:solidFill>
                    <a:srgbClr val="17323A"/>
                  </a:solidFill>
                  <a:latin typeface="微软雅黑"/>
                  <a:ea typeface="微软雅黑"/>
                </a:rPr>
                <a:t>四季度计划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828800" y="4983480"/>
              <a:ext cx="2194560" cy="5486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7C8F94"/>
                  </a:solidFill>
                  <a:latin typeface="微软雅黑"/>
                  <a:ea typeface="微软雅黑"/>
                </a:rPr>
                <a:t>打通检查预约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14400" y="214884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50592"/>
            <a:ext cx="1371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E9AA7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2402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整体表现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8686800" cy="731520"/>
          </a:xfrm>
        </p:spPr>
        <p:txBody>
          <a:bodyPr wrap="square" anchor="ctr"/>
          <a:lstStyle/>
          <a:p>
            <a:pPr algn="l"/>
            <a:r>
              <a:rPr sz="2600" b="1">
                <a:solidFill>
                  <a:srgbClr val="17323A"/>
                </a:solidFill>
                <a:latin typeface="微软雅黑"/>
                <a:ea typeface="微软雅黑"/>
              </a:rPr>
              <a:t>三季度核心数据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8" name="xm TextBox 7"/>
          <p:cNvSpPr txBox="1"/>
          <p:nvPr/>
        </p:nvSpPr>
        <p:spPr>
          <a:xfrm>
            <a:off x="822960" y="3089275"/>
            <a:ext cx="2240280" cy="60325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28.6</a:t>
            </a:r>
            <a:r>
              <a:rPr sz="15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 万人次</a:t>
            </a:r>
          </a:p>
        </p:txBody>
      </p:sp>
      <p:cxnSp>
        <p:nvCxnSpPr>
          <p:cNvPr id="9" name="xm Connector 8"/>
          <p:cNvCxnSpPr/>
          <p:nvPr/>
        </p:nvCxnSpPr>
        <p:spPr>
          <a:xfrm>
            <a:off x="822960" y="3829685"/>
            <a:ext cx="640080" cy="0"/>
          </a:xfrm>
          <a:prstGeom prst="line">
            <a:avLst/>
          </a:prstGeom>
          <a:ln w="38100">
            <a:solidFill>
              <a:srgbClr val="0E9A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xm TextBox 9"/>
          <p:cNvSpPr txBox="1"/>
          <p:nvPr/>
        </p:nvSpPr>
        <p:spPr>
          <a:xfrm>
            <a:off x="822960" y="4012565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线上问诊量</a:t>
            </a:r>
          </a:p>
        </p:txBody>
      </p:sp>
      <p:sp>
        <p:nvSpPr>
          <p:cNvPr id="11" name="xm TextBox 10"/>
          <p:cNvSpPr txBox="1"/>
          <p:nvPr/>
        </p:nvSpPr>
        <p:spPr>
          <a:xfrm>
            <a:off x="822960" y="4469765"/>
            <a:ext cx="219456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F8E93"/>
                </a:solidFill>
                <a:latin typeface="微软雅黑"/>
                <a:ea typeface="微软雅黑"/>
                <a:cs typeface="微软雅黑"/>
              </a:rPr>
              <a:t>环比增长 21%</a:t>
            </a:r>
          </a:p>
        </p:txBody>
      </p:sp>
      <p:sp>
        <p:nvSpPr>
          <p:cNvPr id="12" name="xm TextBox 11"/>
          <p:cNvSpPr txBox="1"/>
          <p:nvPr/>
        </p:nvSpPr>
        <p:spPr>
          <a:xfrm>
            <a:off x="3474720" y="3089275"/>
            <a:ext cx="1965960" cy="60325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64</a:t>
            </a:r>
            <a:r>
              <a:rPr sz="15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 %</a:t>
            </a:r>
          </a:p>
        </p:txBody>
      </p:sp>
      <p:cxnSp>
        <p:nvCxnSpPr>
          <p:cNvPr id="13" name="xm Connector 12"/>
          <p:cNvCxnSpPr/>
          <p:nvPr/>
        </p:nvCxnSpPr>
        <p:spPr>
          <a:xfrm>
            <a:off x="3474720" y="3829685"/>
            <a:ext cx="640080" cy="0"/>
          </a:xfrm>
          <a:prstGeom prst="line">
            <a:avLst/>
          </a:prstGeom>
          <a:ln w="38100">
            <a:solidFill>
              <a:srgbClr val="0E9A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xm TextBox 13"/>
          <p:cNvSpPr txBox="1"/>
          <p:nvPr/>
        </p:nvSpPr>
        <p:spPr>
          <a:xfrm>
            <a:off x="3474720" y="4012565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复诊续方占比</a:t>
            </a:r>
          </a:p>
        </p:txBody>
      </p:sp>
      <p:cxnSp>
        <p:nvCxnSpPr>
          <p:cNvPr id="15" name="xm Connector 14"/>
          <p:cNvCxnSpPr/>
          <p:nvPr/>
        </p:nvCxnSpPr>
        <p:spPr>
          <a:xfrm>
            <a:off x="3200400" y="3226435"/>
            <a:ext cx="0" cy="1548130"/>
          </a:xfrm>
          <a:prstGeom prst="line">
            <a:avLst/>
          </a:prstGeom>
          <a:ln w="9525">
            <a:solidFill>
              <a:srgbClr val="E0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xm TextBox 15"/>
          <p:cNvSpPr txBox="1"/>
          <p:nvPr/>
        </p:nvSpPr>
        <p:spPr>
          <a:xfrm>
            <a:off x="5852160" y="3089275"/>
            <a:ext cx="1965960" cy="60325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3.2</a:t>
            </a:r>
            <a:r>
              <a:rPr sz="15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 分钟</a:t>
            </a:r>
          </a:p>
        </p:txBody>
      </p:sp>
      <p:cxnSp>
        <p:nvCxnSpPr>
          <p:cNvPr id="17" name="xm Connector 16"/>
          <p:cNvCxnSpPr/>
          <p:nvPr/>
        </p:nvCxnSpPr>
        <p:spPr>
          <a:xfrm>
            <a:off x="5852160" y="3829685"/>
            <a:ext cx="640080" cy="0"/>
          </a:xfrm>
          <a:prstGeom prst="line">
            <a:avLst/>
          </a:prstGeom>
          <a:ln w="38100">
            <a:solidFill>
              <a:srgbClr val="0E9A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xm TextBox 17"/>
          <p:cNvSpPr txBox="1"/>
          <p:nvPr/>
        </p:nvSpPr>
        <p:spPr>
          <a:xfrm>
            <a:off x="5852160" y="4012565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平均响应时长</a:t>
            </a:r>
          </a:p>
        </p:txBody>
      </p:sp>
      <p:cxnSp>
        <p:nvCxnSpPr>
          <p:cNvPr id="19" name="xm Connector 18"/>
          <p:cNvCxnSpPr/>
          <p:nvPr/>
        </p:nvCxnSpPr>
        <p:spPr>
          <a:xfrm>
            <a:off x="5577840" y="3226435"/>
            <a:ext cx="0" cy="1548130"/>
          </a:xfrm>
          <a:prstGeom prst="line">
            <a:avLst/>
          </a:prstGeom>
          <a:ln w="9525">
            <a:solidFill>
              <a:srgbClr val="E0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xm TextBox 19"/>
          <p:cNvSpPr txBox="1"/>
          <p:nvPr/>
        </p:nvSpPr>
        <p:spPr>
          <a:xfrm>
            <a:off x="8229600" y="3089275"/>
            <a:ext cx="1965960" cy="60325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97.1</a:t>
            </a:r>
            <a:r>
              <a:rPr sz="15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 %</a:t>
            </a:r>
          </a:p>
        </p:txBody>
      </p:sp>
      <p:cxnSp>
        <p:nvCxnSpPr>
          <p:cNvPr id="21" name="xm Connector 20"/>
          <p:cNvCxnSpPr/>
          <p:nvPr/>
        </p:nvCxnSpPr>
        <p:spPr>
          <a:xfrm>
            <a:off x="8229600" y="3829685"/>
            <a:ext cx="640080" cy="0"/>
          </a:xfrm>
          <a:prstGeom prst="line">
            <a:avLst/>
          </a:prstGeom>
          <a:ln w="38100">
            <a:solidFill>
              <a:srgbClr val="0E9A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xm TextBox 21"/>
          <p:cNvSpPr txBox="1"/>
          <p:nvPr/>
        </p:nvSpPr>
        <p:spPr>
          <a:xfrm>
            <a:off x="8229600" y="4012565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患者满意度</a:t>
            </a:r>
          </a:p>
        </p:txBody>
      </p:sp>
      <p:cxnSp>
        <p:nvCxnSpPr>
          <p:cNvPr id="23" name="xm Connector 22"/>
          <p:cNvCxnSpPr/>
          <p:nvPr/>
        </p:nvCxnSpPr>
        <p:spPr>
          <a:xfrm>
            <a:off x="7955280" y="3226435"/>
            <a:ext cx="0" cy="1548130"/>
          </a:xfrm>
          <a:prstGeom prst="line">
            <a:avLst/>
          </a:prstGeom>
          <a:ln w="9525">
            <a:solidFill>
              <a:srgbClr val="E0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8686800" cy="731520"/>
          </a:xfrm>
        </p:spPr>
        <p:txBody>
          <a:bodyPr wrap="square" anchor="ctr"/>
          <a:lstStyle/>
          <a:p>
            <a:pPr algn="l"/>
            <a:r>
              <a:rPr sz="2600" b="1">
                <a:solidFill>
                  <a:srgbClr val="17323A"/>
                </a:solidFill>
                <a:latin typeface="微软雅黑"/>
                <a:ea typeface="微软雅黑"/>
              </a:rPr>
              <a:t>线上问诊量逐月增长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graphicFrame>
        <p:nvGraphicFramePr>
          <p:cNvPr id="8" name="xm Chart 7"/>
          <p:cNvGraphicFramePr>
            <a:graphicFrameLocks noGrp="1"/>
          </p:cNvGraphicFramePr>
          <p:nvPr/>
        </p:nvGraphicFramePr>
        <p:xfrm>
          <a:off x="822960" y="1417320"/>
          <a:ext cx="950976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14400" y="214884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50592"/>
            <a:ext cx="1371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E9AA7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2402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科室与服务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8686800" cy="731520"/>
          </a:xfrm>
        </p:spPr>
        <p:txBody>
          <a:bodyPr wrap="square" anchor="ctr"/>
          <a:lstStyle/>
          <a:p>
            <a:pPr algn="l"/>
            <a:r>
              <a:rPr sz="2600" b="1">
                <a:solidFill>
                  <a:srgbClr val="17323A"/>
                </a:solidFill>
                <a:latin typeface="微软雅黑"/>
                <a:ea typeface="微软雅黑"/>
              </a:rPr>
              <a:t>问诊科室分布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graphicFrame>
        <p:nvGraphicFramePr>
          <p:cNvPr id="8" name="xm Chart 7"/>
          <p:cNvGraphicFramePr>
            <a:graphicFrameLocks noGrp="1"/>
          </p:cNvGraphicFramePr>
          <p:nvPr/>
        </p:nvGraphicFramePr>
        <p:xfrm>
          <a:off x="822960" y="1417320"/>
          <a:ext cx="950976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8686800" cy="731520"/>
          </a:xfrm>
        </p:spPr>
        <p:txBody>
          <a:bodyPr wrap="square" anchor="ctr"/>
          <a:lstStyle/>
          <a:p>
            <a:pPr algn="l"/>
            <a:r>
              <a:rPr sz="2600" b="1">
                <a:solidFill>
                  <a:srgbClr val="17323A"/>
                </a:solidFill>
                <a:latin typeface="微软雅黑"/>
                <a:ea typeface="微软雅黑"/>
              </a:rPr>
              <a:t>四项重点服务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8" name="xm Rounded Rectangle 7"/>
          <p:cNvSpPr/>
          <p:nvPr/>
        </p:nvSpPr>
        <p:spPr>
          <a:xfrm>
            <a:off x="822960" y="1806092"/>
            <a:ext cx="2171700" cy="4251655"/>
          </a:xfrm>
          <a:prstGeom prst="roundRect">
            <a:avLst>
              <a:gd name="adj" fmla="val 5052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xm Oval 8"/>
          <p:cNvSpPr/>
          <p:nvPr/>
        </p:nvSpPr>
        <p:spPr>
          <a:xfrm>
            <a:off x="1207008" y="2190140"/>
            <a:ext cx="793699" cy="793699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xm Picture 9" descr="pill-1732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496" y="2380628"/>
            <a:ext cx="412724" cy="412724"/>
          </a:xfrm>
          <a:prstGeom prst="rect">
            <a:avLst/>
          </a:prstGeom>
        </p:spPr>
      </p:pic>
      <p:sp>
        <p:nvSpPr>
          <p:cNvPr id="11" name="xm TextBox 10"/>
          <p:cNvSpPr txBox="1"/>
          <p:nvPr/>
        </p:nvSpPr>
        <p:spPr>
          <a:xfrm>
            <a:off x="1207008" y="3166720"/>
            <a:ext cx="140360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慢病续方</a:t>
            </a:r>
          </a:p>
        </p:txBody>
      </p:sp>
      <p:sp>
        <p:nvSpPr>
          <p:cNvPr id="12" name="xm TextBox 11"/>
          <p:cNvSpPr txBox="1"/>
          <p:nvPr/>
        </p:nvSpPr>
        <p:spPr>
          <a:xfrm>
            <a:off x="1207008" y="3715360"/>
            <a:ext cx="1403604" cy="207355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高血压、糖尿病患者在线复诊开药，药品配送到家</a:t>
            </a:r>
          </a:p>
        </p:txBody>
      </p:sp>
      <p:sp>
        <p:nvSpPr>
          <p:cNvPr id="13" name="xm Rounded Rectangle 12"/>
          <p:cNvSpPr/>
          <p:nvPr/>
        </p:nvSpPr>
        <p:spPr>
          <a:xfrm>
            <a:off x="3268980" y="1806092"/>
            <a:ext cx="2171700" cy="4251655"/>
          </a:xfrm>
          <a:prstGeom prst="roundRect">
            <a:avLst>
              <a:gd name="adj" fmla="val 5052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xm Oval 13"/>
          <p:cNvSpPr/>
          <p:nvPr/>
        </p:nvSpPr>
        <p:spPr>
          <a:xfrm>
            <a:off x="3653028" y="2190140"/>
            <a:ext cx="793699" cy="793699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xm Picture 14" descr="file-search-1732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3516" y="2380628"/>
            <a:ext cx="412724" cy="412724"/>
          </a:xfrm>
          <a:prstGeom prst="rect">
            <a:avLst/>
          </a:prstGeom>
        </p:spPr>
      </p:pic>
      <p:sp>
        <p:nvSpPr>
          <p:cNvPr id="16" name="xm TextBox 15"/>
          <p:cNvSpPr txBox="1"/>
          <p:nvPr/>
        </p:nvSpPr>
        <p:spPr>
          <a:xfrm>
            <a:off x="3653028" y="3166720"/>
            <a:ext cx="140360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报告解读</a:t>
            </a:r>
          </a:p>
        </p:txBody>
      </p:sp>
      <p:sp>
        <p:nvSpPr>
          <p:cNvPr id="17" name="xm TextBox 16"/>
          <p:cNvSpPr txBox="1"/>
          <p:nvPr/>
        </p:nvSpPr>
        <p:spPr>
          <a:xfrm>
            <a:off x="3653028" y="3715360"/>
            <a:ext cx="1403604" cy="207355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检查报告出具后，医生在线解读并给出建议</a:t>
            </a:r>
          </a:p>
        </p:txBody>
      </p:sp>
      <p:sp>
        <p:nvSpPr>
          <p:cNvPr id="18" name="xm Rounded Rectangle 17"/>
          <p:cNvSpPr/>
          <p:nvPr/>
        </p:nvSpPr>
        <p:spPr>
          <a:xfrm>
            <a:off x="5715000" y="1806092"/>
            <a:ext cx="2171700" cy="4251655"/>
          </a:xfrm>
          <a:prstGeom prst="roundRect">
            <a:avLst>
              <a:gd name="adj" fmla="val 5052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xm Oval 18"/>
          <p:cNvSpPr/>
          <p:nvPr/>
        </p:nvSpPr>
        <p:spPr>
          <a:xfrm>
            <a:off x="6099048" y="2190140"/>
            <a:ext cx="793699" cy="793699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xm Picture 19" descr="hand-heart-1732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9536" y="2380628"/>
            <a:ext cx="412724" cy="412724"/>
          </a:xfrm>
          <a:prstGeom prst="rect">
            <a:avLst/>
          </a:prstGeom>
        </p:spPr>
      </p:pic>
      <p:sp>
        <p:nvSpPr>
          <p:cNvPr id="21" name="xm TextBox 20"/>
          <p:cNvSpPr txBox="1"/>
          <p:nvPr/>
        </p:nvSpPr>
        <p:spPr>
          <a:xfrm>
            <a:off x="6099048" y="3166720"/>
            <a:ext cx="140360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护理上门</a:t>
            </a:r>
          </a:p>
        </p:txBody>
      </p:sp>
      <p:sp>
        <p:nvSpPr>
          <p:cNvPr id="22" name="xm TextBox 21"/>
          <p:cNvSpPr txBox="1"/>
          <p:nvPr/>
        </p:nvSpPr>
        <p:spPr>
          <a:xfrm>
            <a:off x="6099048" y="3715360"/>
            <a:ext cx="1403604" cy="207355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换药、采血、导管维护等 12 项护理服务</a:t>
            </a:r>
          </a:p>
        </p:txBody>
      </p:sp>
      <p:sp>
        <p:nvSpPr>
          <p:cNvPr id="23" name="xm Rounded Rectangle 22"/>
          <p:cNvSpPr/>
          <p:nvPr/>
        </p:nvSpPr>
        <p:spPr>
          <a:xfrm>
            <a:off x="8161020" y="1806092"/>
            <a:ext cx="2171700" cy="4251655"/>
          </a:xfrm>
          <a:prstGeom prst="roundRect">
            <a:avLst>
              <a:gd name="adj" fmla="val 5052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xm Oval 23"/>
          <p:cNvSpPr/>
          <p:nvPr/>
        </p:nvSpPr>
        <p:spPr>
          <a:xfrm>
            <a:off x="8545068" y="2190140"/>
            <a:ext cx="793699" cy="793699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xm Picture 24" descr="brain-1732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5556" y="2380628"/>
            <a:ext cx="412724" cy="412724"/>
          </a:xfrm>
          <a:prstGeom prst="rect">
            <a:avLst/>
          </a:prstGeom>
        </p:spPr>
      </p:pic>
      <p:sp>
        <p:nvSpPr>
          <p:cNvPr id="26" name="xm TextBox 25"/>
          <p:cNvSpPr txBox="1"/>
          <p:nvPr/>
        </p:nvSpPr>
        <p:spPr>
          <a:xfrm>
            <a:off x="8545068" y="3166720"/>
            <a:ext cx="140360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心理咨询</a:t>
            </a:r>
          </a:p>
        </p:txBody>
      </p:sp>
      <p:sp>
        <p:nvSpPr>
          <p:cNvPr id="27" name="xm TextBox 26"/>
          <p:cNvSpPr txBox="1"/>
          <p:nvPr/>
        </p:nvSpPr>
        <p:spPr>
          <a:xfrm>
            <a:off x="8545068" y="3715360"/>
            <a:ext cx="1403604" cy="207355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与心理科合作开设夜间咨询门诊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14400" y="214884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50592"/>
            <a:ext cx="1371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E9AA7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2402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存在的问题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8686800" cy="731520"/>
          </a:xfrm>
        </p:spPr>
        <p:txBody>
          <a:bodyPr wrap="square" anchor="ctr"/>
          <a:lstStyle/>
          <a:p>
            <a:pPr algn="l"/>
            <a:r>
              <a:rPr sz="2600" b="1">
                <a:solidFill>
                  <a:srgbClr val="17323A"/>
                </a:solidFill>
                <a:latin typeface="微软雅黑"/>
                <a:ea typeface="微软雅黑"/>
              </a:rPr>
              <a:t>线上线下衔接还不顺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8" name="xm Rounded Rectangle 7"/>
          <p:cNvSpPr/>
          <p:nvPr/>
        </p:nvSpPr>
        <p:spPr>
          <a:xfrm>
            <a:off x="822960" y="2069287"/>
            <a:ext cx="4343400" cy="3725266"/>
          </a:xfrm>
          <a:prstGeom prst="roundRect">
            <a:avLst>
              <a:gd name="adj" fmla="val 2945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xm Rounded Rectangle 8"/>
          <p:cNvSpPr/>
          <p:nvPr/>
        </p:nvSpPr>
        <p:spPr>
          <a:xfrm>
            <a:off x="822960" y="2069287"/>
            <a:ext cx="4343400" cy="1024128"/>
          </a:xfrm>
          <a:prstGeom prst="roundRect">
            <a:avLst>
              <a:gd name="adj" fmla="val 10714"/>
            </a:avLst>
          </a:prstGeom>
          <a:solidFill>
            <a:srgbClr val="E4E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2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现在</a:t>
            </a:r>
          </a:p>
        </p:txBody>
      </p:sp>
      <p:pic>
        <p:nvPicPr>
          <p:cNvPr id="10" name="xm Picture 9" descr="circle-x-0E9A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331159"/>
            <a:ext cx="435254" cy="435254"/>
          </a:xfrm>
          <a:prstGeom prst="rect">
            <a:avLst/>
          </a:prstGeom>
        </p:spPr>
      </p:pic>
      <p:sp>
        <p:nvSpPr>
          <p:cNvPr id="11" name="xm TextBox 10"/>
          <p:cNvSpPr txBox="1"/>
          <p:nvPr/>
        </p:nvSpPr>
        <p:spPr>
          <a:xfrm>
            <a:off x="1669694" y="3276295"/>
            <a:ext cx="322234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7F8E93"/>
                </a:solidFill>
                <a:latin typeface="微软雅黑"/>
                <a:ea typeface="微软雅黑"/>
                <a:cs typeface="微软雅黑"/>
              </a:rPr>
              <a:t>线上开的检查要回医院重新排队</a:t>
            </a:r>
          </a:p>
        </p:txBody>
      </p:sp>
      <p:pic>
        <p:nvPicPr>
          <p:cNvPr id="12" name="xm Picture 11" descr="circle-x-0E9A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124858"/>
            <a:ext cx="435254" cy="435254"/>
          </a:xfrm>
          <a:prstGeom prst="rect">
            <a:avLst/>
          </a:prstGeom>
        </p:spPr>
      </p:pic>
      <p:sp>
        <p:nvSpPr>
          <p:cNvPr id="13" name="xm TextBox 12"/>
          <p:cNvSpPr txBox="1"/>
          <p:nvPr/>
        </p:nvSpPr>
        <p:spPr>
          <a:xfrm>
            <a:off x="1669694" y="4069994"/>
            <a:ext cx="322234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7F8E93"/>
                </a:solidFill>
                <a:latin typeface="微软雅黑"/>
                <a:ea typeface="微软雅黑"/>
                <a:cs typeface="微软雅黑"/>
              </a:rPr>
              <a:t>线上病历和院内病历分开存</a:t>
            </a:r>
          </a:p>
        </p:txBody>
      </p:sp>
      <p:pic>
        <p:nvPicPr>
          <p:cNvPr id="14" name="xm Picture 13" descr="circle-x-0E9A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918558"/>
            <a:ext cx="435254" cy="435254"/>
          </a:xfrm>
          <a:prstGeom prst="rect">
            <a:avLst/>
          </a:prstGeom>
        </p:spPr>
      </p:pic>
      <p:sp>
        <p:nvSpPr>
          <p:cNvPr id="15" name="xm TextBox 14"/>
          <p:cNvSpPr txBox="1"/>
          <p:nvPr/>
        </p:nvSpPr>
        <p:spPr>
          <a:xfrm>
            <a:off x="1669694" y="4863694"/>
            <a:ext cx="322234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7F8E93"/>
                </a:solidFill>
                <a:latin typeface="微软雅黑"/>
                <a:ea typeface="微软雅黑"/>
                <a:cs typeface="微软雅黑"/>
              </a:rPr>
              <a:t>医生线上接诊算不进工作量</a:t>
            </a:r>
          </a:p>
        </p:txBody>
      </p:sp>
      <p:sp>
        <p:nvSpPr>
          <p:cNvPr id="16" name="xm Rounded Rectangle 15"/>
          <p:cNvSpPr/>
          <p:nvPr/>
        </p:nvSpPr>
        <p:spPr>
          <a:xfrm>
            <a:off x="5989320" y="2069287"/>
            <a:ext cx="4343400" cy="3725266"/>
          </a:xfrm>
          <a:prstGeom prst="roundRect">
            <a:avLst>
              <a:gd name="adj" fmla="val 2945"/>
            </a:avLst>
          </a:prstGeom>
          <a:solidFill>
            <a:srgbClr val="F7FBFC"/>
          </a:solidFill>
          <a:ln w="19050">
            <a:solidFill>
              <a:srgbClr val="0E9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xm Rounded Rectangle 16"/>
          <p:cNvSpPr/>
          <p:nvPr/>
        </p:nvSpPr>
        <p:spPr>
          <a:xfrm>
            <a:off x="5989320" y="2069287"/>
            <a:ext cx="4343400" cy="1024128"/>
          </a:xfrm>
          <a:prstGeom prst="roundRect">
            <a:avLst>
              <a:gd name="adj" fmla="val 10714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2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pic>
        <p:nvPicPr>
          <p:cNvPr id="18" name="xm Picture 17" descr="circle-check-0E9AA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331159"/>
            <a:ext cx="435254" cy="435254"/>
          </a:xfrm>
          <a:prstGeom prst="rect">
            <a:avLst/>
          </a:prstGeom>
        </p:spPr>
      </p:pic>
      <p:sp>
        <p:nvSpPr>
          <p:cNvPr id="19" name="xm TextBox 18"/>
          <p:cNvSpPr txBox="1"/>
          <p:nvPr/>
        </p:nvSpPr>
        <p:spPr>
          <a:xfrm>
            <a:off x="6836054" y="3276295"/>
            <a:ext cx="322234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线上开单、线下直接检查</a:t>
            </a:r>
          </a:p>
        </p:txBody>
      </p:sp>
      <p:pic>
        <p:nvPicPr>
          <p:cNvPr id="20" name="xm Picture 19" descr="circle-check-0E9AA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124858"/>
            <a:ext cx="435254" cy="435254"/>
          </a:xfrm>
          <a:prstGeom prst="rect">
            <a:avLst/>
          </a:prstGeom>
        </p:spPr>
      </p:pic>
      <p:sp>
        <p:nvSpPr>
          <p:cNvPr id="21" name="xm TextBox 20"/>
          <p:cNvSpPr txBox="1"/>
          <p:nvPr/>
        </p:nvSpPr>
        <p:spPr>
          <a:xfrm>
            <a:off x="6836054" y="4069994"/>
            <a:ext cx="322234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一份病历全院通用</a:t>
            </a:r>
          </a:p>
        </p:txBody>
      </p:sp>
      <p:pic>
        <p:nvPicPr>
          <p:cNvPr id="22" name="xm Picture 21" descr="circle-check-0E9AA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918558"/>
            <a:ext cx="435254" cy="435254"/>
          </a:xfrm>
          <a:prstGeom prst="rect">
            <a:avLst/>
          </a:prstGeom>
        </p:spPr>
      </p:pic>
      <p:sp>
        <p:nvSpPr>
          <p:cNvPr id="23" name="xm TextBox 22"/>
          <p:cNvSpPr txBox="1"/>
          <p:nvPr/>
        </p:nvSpPr>
        <p:spPr>
          <a:xfrm>
            <a:off x="6836054" y="4863694"/>
            <a:ext cx="322234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线上接诊纳入绩效考核</a:t>
            </a:r>
          </a:p>
        </p:txBody>
      </p:sp>
      <p:sp>
        <p:nvSpPr>
          <p:cNvPr id="24" name="xm Oval 23"/>
          <p:cNvSpPr/>
          <p:nvPr/>
        </p:nvSpPr>
        <p:spPr>
          <a:xfrm>
            <a:off x="5230368" y="3584448"/>
            <a:ext cx="694944" cy="694944"/>
          </a:xfrm>
          <a:prstGeom prst="ellipse">
            <a:avLst/>
          </a:prstGeom>
          <a:solidFill>
            <a:srgbClr val="17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EFEFE"/>
                </a:solidFill>
                <a:latin typeface="微软雅黑"/>
                <a:ea typeface="微软雅黑"/>
                <a:cs typeface="微软雅黑"/>
              </a:rPr>
              <a:t>VS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14400" y="214884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50592"/>
            <a:ext cx="1371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E9AA7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2402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四季度计划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8686800" cy="731520"/>
          </a:xfrm>
        </p:spPr>
        <p:txBody>
          <a:bodyPr wrap="square" anchor="ctr"/>
          <a:lstStyle/>
          <a:p>
            <a:pPr algn="l"/>
            <a:r>
              <a:rPr sz="2600" b="1">
                <a:solidFill>
                  <a:srgbClr val="17323A"/>
                </a:solidFill>
                <a:latin typeface="微软雅黑"/>
                <a:ea typeface="微软雅黑"/>
              </a:rPr>
              <a:t>四季度计划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cxnSp>
        <p:nvCxnSpPr>
          <p:cNvPr id="8" name="xm Connector 7"/>
          <p:cNvCxnSpPr/>
          <p:nvPr/>
        </p:nvCxnSpPr>
        <p:spPr>
          <a:xfrm>
            <a:off x="1908810" y="2445563"/>
            <a:ext cx="7338060" cy="0"/>
          </a:xfrm>
          <a:prstGeom prst="line">
            <a:avLst/>
          </a:prstGeom>
          <a:ln w="38100">
            <a:solidFill>
              <a:srgbClr val="9ED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xm Oval 8"/>
          <p:cNvSpPr/>
          <p:nvPr/>
        </p:nvSpPr>
        <p:spPr>
          <a:xfrm>
            <a:off x="1460754" y="1997507"/>
            <a:ext cx="896112" cy="896112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xm Picture 9" descr="calendar-1732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821" y="2212574"/>
            <a:ext cx="465978" cy="465978"/>
          </a:xfrm>
          <a:prstGeom prst="rect">
            <a:avLst/>
          </a:prstGeom>
        </p:spPr>
      </p:pic>
      <p:sp>
        <p:nvSpPr>
          <p:cNvPr id="11" name="xm Rounded Rectangle 10"/>
          <p:cNvSpPr/>
          <p:nvPr/>
        </p:nvSpPr>
        <p:spPr>
          <a:xfrm>
            <a:off x="822960" y="3213659"/>
            <a:ext cx="2171700" cy="2652674"/>
          </a:xfrm>
          <a:prstGeom prst="roundRect">
            <a:avLst>
              <a:gd name="adj" fmla="val 5052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xm TextBox 11"/>
          <p:cNvSpPr txBox="1"/>
          <p:nvPr/>
        </p:nvSpPr>
        <p:spPr>
          <a:xfrm>
            <a:off x="1104595" y="3495294"/>
            <a:ext cx="1608430" cy="8138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3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打通检查预约</a:t>
            </a:r>
          </a:p>
        </p:txBody>
      </p:sp>
      <p:sp>
        <p:nvSpPr>
          <p:cNvPr id="13" name="xm TextBox 12"/>
          <p:cNvSpPr txBox="1"/>
          <p:nvPr/>
        </p:nvSpPr>
        <p:spPr>
          <a:xfrm>
            <a:off x="1104595" y="4373118"/>
            <a:ext cx="160843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线上开单直接预约检查时段</a:t>
            </a:r>
          </a:p>
        </p:txBody>
      </p:sp>
      <p:sp>
        <p:nvSpPr>
          <p:cNvPr id="14" name="xm Oval 13"/>
          <p:cNvSpPr/>
          <p:nvPr/>
        </p:nvSpPr>
        <p:spPr>
          <a:xfrm>
            <a:off x="3906774" y="1997507"/>
            <a:ext cx="896112" cy="896112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xm Picture 14" descr="file-text-1732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841" y="2212574"/>
            <a:ext cx="465978" cy="465978"/>
          </a:xfrm>
          <a:prstGeom prst="rect">
            <a:avLst/>
          </a:prstGeom>
        </p:spPr>
      </p:pic>
      <p:sp>
        <p:nvSpPr>
          <p:cNvPr id="16" name="xm Rounded Rectangle 15"/>
          <p:cNvSpPr/>
          <p:nvPr/>
        </p:nvSpPr>
        <p:spPr>
          <a:xfrm>
            <a:off x="3268980" y="3213659"/>
            <a:ext cx="2171700" cy="2652674"/>
          </a:xfrm>
          <a:prstGeom prst="roundRect">
            <a:avLst>
              <a:gd name="adj" fmla="val 5052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xm TextBox 16"/>
          <p:cNvSpPr txBox="1"/>
          <p:nvPr/>
        </p:nvSpPr>
        <p:spPr>
          <a:xfrm>
            <a:off x="3550615" y="3495294"/>
            <a:ext cx="1608430" cy="8138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3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病历一体化</a:t>
            </a:r>
          </a:p>
        </p:txBody>
      </p:sp>
      <p:sp>
        <p:nvSpPr>
          <p:cNvPr id="18" name="xm TextBox 17"/>
          <p:cNvSpPr txBox="1"/>
          <p:nvPr/>
        </p:nvSpPr>
        <p:spPr>
          <a:xfrm>
            <a:off x="3550615" y="4373118"/>
            <a:ext cx="160843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10 月底前完成线上线下病历合并</a:t>
            </a:r>
          </a:p>
        </p:txBody>
      </p:sp>
      <p:sp>
        <p:nvSpPr>
          <p:cNvPr id="19" name="xm Oval 18"/>
          <p:cNvSpPr/>
          <p:nvPr/>
        </p:nvSpPr>
        <p:spPr>
          <a:xfrm>
            <a:off x="6352794" y="1997507"/>
            <a:ext cx="896112" cy="896112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xm Picture 19" descr="award-1732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861" y="2212574"/>
            <a:ext cx="465978" cy="465978"/>
          </a:xfrm>
          <a:prstGeom prst="rect">
            <a:avLst/>
          </a:prstGeom>
        </p:spPr>
      </p:pic>
      <p:sp>
        <p:nvSpPr>
          <p:cNvPr id="21" name="xm Rounded Rectangle 20"/>
          <p:cNvSpPr/>
          <p:nvPr/>
        </p:nvSpPr>
        <p:spPr>
          <a:xfrm>
            <a:off x="5715000" y="3213659"/>
            <a:ext cx="2171700" cy="2652674"/>
          </a:xfrm>
          <a:prstGeom prst="roundRect">
            <a:avLst>
              <a:gd name="adj" fmla="val 5052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xm TextBox 21"/>
          <p:cNvSpPr txBox="1"/>
          <p:nvPr/>
        </p:nvSpPr>
        <p:spPr>
          <a:xfrm>
            <a:off x="5996635" y="3495294"/>
            <a:ext cx="1608430" cy="8138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绩效改革</a:t>
            </a:r>
          </a:p>
        </p:txBody>
      </p:sp>
      <p:sp>
        <p:nvSpPr>
          <p:cNvPr id="23" name="xm TextBox 22"/>
          <p:cNvSpPr txBox="1"/>
          <p:nvPr/>
        </p:nvSpPr>
        <p:spPr>
          <a:xfrm>
            <a:off x="5996635" y="4373118"/>
            <a:ext cx="160843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11 月起线上接诊按 1:1 计入工作量</a:t>
            </a:r>
          </a:p>
        </p:txBody>
      </p:sp>
      <p:sp>
        <p:nvSpPr>
          <p:cNvPr id="24" name="xm Oval 23"/>
          <p:cNvSpPr/>
          <p:nvPr/>
        </p:nvSpPr>
        <p:spPr>
          <a:xfrm>
            <a:off x="8798814" y="1997507"/>
            <a:ext cx="896112" cy="896112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xm Picture 24" descr="users-1732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3881" y="2212574"/>
            <a:ext cx="465978" cy="465978"/>
          </a:xfrm>
          <a:prstGeom prst="rect">
            <a:avLst/>
          </a:prstGeom>
        </p:spPr>
      </p:pic>
      <p:sp>
        <p:nvSpPr>
          <p:cNvPr id="26" name="xm Rounded Rectangle 25"/>
          <p:cNvSpPr/>
          <p:nvPr/>
        </p:nvSpPr>
        <p:spPr>
          <a:xfrm>
            <a:off x="8161020" y="3213659"/>
            <a:ext cx="2171700" cy="2652674"/>
          </a:xfrm>
          <a:prstGeom prst="roundRect">
            <a:avLst>
              <a:gd name="adj" fmla="val 5052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xm TextBox 26"/>
          <p:cNvSpPr txBox="1"/>
          <p:nvPr/>
        </p:nvSpPr>
        <p:spPr>
          <a:xfrm>
            <a:off x="8442655" y="3495294"/>
            <a:ext cx="1608430" cy="8138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3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扩充医生团队</a:t>
            </a:r>
          </a:p>
        </p:txBody>
      </p:sp>
      <p:sp>
        <p:nvSpPr>
          <p:cNvPr id="28" name="xm TextBox 27"/>
          <p:cNvSpPr txBox="1"/>
          <p:nvPr/>
        </p:nvSpPr>
        <p:spPr>
          <a:xfrm>
            <a:off x="8442655" y="4373118"/>
            <a:ext cx="160843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新增 60 名线上坐诊医生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8" name="xm TextBox 7"/>
          <p:cNvSpPr txBox="1"/>
          <p:nvPr/>
        </p:nvSpPr>
        <p:spPr>
          <a:xfrm>
            <a:off x="1005840" y="2514600"/>
            <a:ext cx="10972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80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“</a:t>
            </a:r>
          </a:p>
        </p:txBody>
      </p:sp>
      <p:sp>
        <p:nvSpPr>
          <p:cNvPr id="9" name="xm TextBox 8"/>
          <p:cNvSpPr txBox="1"/>
          <p:nvPr/>
        </p:nvSpPr>
        <p:spPr>
          <a:xfrm>
            <a:off x="1188720" y="3566160"/>
            <a:ext cx="8778240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让患者少跑一趟，是互联网医院存在的意义。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94360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685800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530352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7315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微软雅黑"/>
                <a:ea typeface="微软雅黑"/>
              </a:rPr>
              <a:t>感谢聆听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5F3EF"/>
                </a:solidFill>
                <a:latin typeface="微软雅黑"/>
                <a:ea typeface="微软雅黑"/>
              </a:rPr>
              <a:t>守护每一份健康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