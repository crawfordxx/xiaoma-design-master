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我们的面试官人均每年参加 60 场面试</a:t>
            </a:r>
          </a:p>
          <a:p>
            <a:r>
              <a:t>· 非结构化面试的预测效度只有 0.38</a:t>
            </a:r>
          </a:p>
          <a:p>
            <a:r>
              <a:t>· 结构化面试的预测效度可以达到 0.51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好的面试，是把「我觉得」变成「我看到」。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拆解岗位：明确 3–5 项核心胜任力</a:t>
            </a:r>
          </a:p>
          <a:p>
            <a:r>
              <a:t>2. 设计问题：每项胜任力准备 2 道行为面试题</a:t>
            </a:r>
          </a:p>
          <a:p>
            <a:r>
              <a:t>3. 制定评分表：写清楚 1 分、3 分、5 分分别长什么样</a:t>
            </a:r>
          </a:p>
          <a:p>
            <a:r>
              <a:t>4. 分工对齐：多位面试官提前确认各自考察的维度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情境 Situation：当时是什么背景？</a:t>
            </a:r>
          </a:p>
          <a:p>
            <a:r>
              <a:t>· 任务 Task：你的职责和目标是什么？</a:t>
            </a:r>
          </a:p>
          <a:p>
            <a:r>
              <a:t>· 行动 Action：你具体做了什么？</a:t>
            </a:r>
          </a:p>
          <a:p>
            <a:r>
              <a:t>· 结果 Result：最后结果怎样，学到了什么？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引导性问题：「你应该很擅长沟通吧？」</a:t>
            </a:r>
          </a:p>
          <a:p>
            <a:r>
              <a:t>· 假设性问题：「如果你遇到……你会怎么做？」</a:t>
            </a:r>
          </a:p>
          <a:p>
            <a:r>
              <a:t>· 隐私类问题：婚育、籍贯、宗教等与岗位无关的问题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独立打分：面试结束 30 分钟内各自填写评分表</a:t>
            </a:r>
          </a:p>
          <a:p>
            <a:r>
              <a:t>2. 校准讨论：分差超过 2 分的维度逐项讨论</a:t>
            </a:r>
          </a:p>
          <a:p>
            <a:r>
              <a:t>3. 形成结论：按录用标准给出通过、待定或不通过</a:t>
            </a:r>
          </a:p>
          <a:p>
            <a:r>
              <a:t>4. 反馈复盘：入职 6 个月后回看面试评分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面试官的每一个问题，都在替公司做一次投资决策。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585216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30352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6766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4A2C1D"/>
                </a:solidFill>
                <a:latin typeface="微软雅黑"/>
                <a:ea typeface="微软雅黑"/>
              </a:rPr>
              <a:t>结构化面试官培训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启明教育 · 人才发展中心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4A2C1D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841248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2762E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91640"/>
            <a:ext cx="566928" cy="566928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46504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A2C1D"/>
                </a:solidFill>
                <a:latin typeface="微软雅黑"/>
                <a:ea typeface="微软雅黑"/>
              </a:rPr>
              <a:t>为什么要结构化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06040"/>
            <a:ext cx="566928" cy="566928"/>
          </a:xfrm>
          <a:prstGeom prst="ellipse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60904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A2C1D"/>
                </a:solidFill>
                <a:latin typeface="微软雅黑"/>
                <a:ea typeface="微软雅黑"/>
              </a:rPr>
              <a:t>面试前准备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20440"/>
            <a:ext cx="566928" cy="566928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575304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A2C1D"/>
                </a:solidFill>
                <a:latin typeface="微软雅黑"/>
                <a:ea typeface="微软雅黑"/>
              </a:rPr>
              <a:t>面试中提问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434840"/>
            <a:ext cx="566928" cy="566928"/>
          </a:xfrm>
          <a:prstGeom prst="ellipse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26279"/>
            <a:ext cx="566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489703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A2C1D"/>
                </a:solidFill>
                <a:latin typeface="微软雅黑"/>
                <a:ea typeface="微软雅黑"/>
              </a:rPr>
              <a:t>面试后评估</a:t>
            </a:r>
          </a:p>
        </p:txBody>
      </p:sp>
      <p:sp>
        <p:nvSpPr>
          <p:cNvPr id="20" name="Oval 19"/>
          <p:cNvSpPr/>
          <p:nvPr/>
        </p:nvSpPr>
        <p:spPr>
          <a:xfrm>
            <a:off x="8138160" y="1371600"/>
            <a:ext cx="4389120" cy="4389120"/>
          </a:xfrm>
          <a:prstGeom prst="ellipse">
            <a:avLst/>
          </a:prstGeom>
          <a:solidFill>
            <a:srgbClr val="FB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69680" y="2103120"/>
            <a:ext cx="2926080" cy="292608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267968"/>
            <a:ext cx="2743200" cy="1566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为什么要结构化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A2C1D"/>
                </a:solidFill>
                <a:latin typeface="微软雅黑"/>
                <a:ea typeface="微软雅黑"/>
              </a:rPr>
              <a:t>一场面试的真实成本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0700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03504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548640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731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9A7B67"/>
                </a:solidFill>
                <a:latin typeface="微软雅黑"/>
                <a:ea typeface="微软雅黑"/>
              </a:rPr>
              <a:t>‹ 启明 ›</a:t>
            </a:r>
          </a:p>
        </p:txBody>
      </p:sp>
      <p:sp>
        <p:nvSpPr>
          <p:cNvPr id="14" name="xm TextBox 13"/>
          <p:cNvSpPr txBox="1"/>
          <p:nvPr/>
        </p:nvSpPr>
        <p:spPr>
          <a:xfrm>
            <a:off x="777240" y="5916168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7736A"/>
                </a:solidFill>
                <a:latin typeface="微软雅黑"/>
                <a:ea typeface="微软雅黑"/>
                <a:cs typeface="微软雅黑"/>
              </a:rPr>
              <a:t>预测效度：Schmidt &amp; Hunter (1998), Psychological Bulletin 124(2)</a:t>
            </a:r>
          </a:p>
        </p:txBody>
      </p:sp>
      <p:sp>
        <p:nvSpPr>
          <p:cNvPr id="15" name="xm TextBox 14"/>
          <p:cNvSpPr txBox="1"/>
          <p:nvPr/>
        </p:nvSpPr>
        <p:spPr>
          <a:xfrm>
            <a:off x="777240" y="2178812"/>
            <a:ext cx="3398520" cy="1397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60</a:t>
            </a:r>
            <a:r>
              <a:rPr sz="35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 场</a:t>
            </a:r>
          </a:p>
        </p:txBody>
      </p:sp>
      <p:cxnSp>
        <p:nvCxnSpPr>
          <p:cNvPr id="16" name="xm Connector 15"/>
          <p:cNvCxnSpPr/>
          <p:nvPr/>
        </p:nvCxnSpPr>
        <p:spPr>
          <a:xfrm>
            <a:off x="777240" y="3712972"/>
            <a:ext cx="640080" cy="0"/>
          </a:xfrm>
          <a:prstGeom prst="line">
            <a:avLst/>
          </a:prstGeom>
          <a:ln w="38100">
            <a:solidFill>
              <a:srgbClr val="F27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xm TextBox 16"/>
          <p:cNvSpPr txBox="1"/>
          <p:nvPr/>
        </p:nvSpPr>
        <p:spPr>
          <a:xfrm>
            <a:off x="777240" y="3895852"/>
            <a:ext cx="33528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面试官人均每年</a:t>
            </a:r>
          </a:p>
        </p:txBody>
      </p:sp>
      <p:sp>
        <p:nvSpPr>
          <p:cNvPr id="18" name="xm TextBox 17"/>
          <p:cNvSpPr txBox="1"/>
          <p:nvPr/>
        </p:nvSpPr>
        <p:spPr>
          <a:xfrm>
            <a:off x="777240" y="4490212"/>
            <a:ext cx="3352800" cy="646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87736A"/>
                </a:solidFill>
                <a:latin typeface="微软雅黑"/>
                <a:ea typeface="微软雅黑"/>
                <a:cs typeface="微软雅黑"/>
              </a:rPr>
              <a:t>参加的面试场次（内部数据）</a:t>
            </a:r>
          </a:p>
        </p:txBody>
      </p:sp>
      <p:sp>
        <p:nvSpPr>
          <p:cNvPr id="19" name="xm TextBox 18"/>
          <p:cNvSpPr txBox="1"/>
          <p:nvPr/>
        </p:nvSpPr>
        <p:spPr>
          <a:xfrm>
            <a:off x="4587240" y="2178812"/>
            <a:ext cx="3124200" cy="1397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0.38</a:t>
            </a:r>
            <a:r>
              <a:rPr sz="35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 </a:t>
            </a:r>
          </a:p>
        </p:txBody>
      </p:sp>
      <p:cxnSp>
        <p:nvCxnSpPr>
          <p:cNvPr id="20" name="xm Connector 19"/>
          <p:cNvCxnSpPr/>
          <p:nvPr/>
        </p:nvCxnSpPr>
        <p:spPr>
          <a:xfrm>
            <a:off x="4587240" y="3712972"/>
            <a:ext cx="640080" cy="0"/>
          </a:xfrm>
          <a:prstGeom prst="line">
            <a:avLst/>
          </a:prstGeom>
          <a:ln w="38100">
            <a:solidFill>
              <a:srgbClr val="F27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xm TextBox 20"/>
          <p:cNvSpPr txBox="1"/>
          <p:nvPr/>
        </p:nvSpPr>
        <p:spPr>
          <a:xfrm>
            <a:off x="4587240" y="3895852"/>
            <a:ext cx="30784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非结构化面试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4587240" y="4490212"/>
            <a:ext cx="3078480" cy="646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87736A"/>
                </a:solidFill>
                <a:latin typeface="微软雅黑"/>
                <a:ea typeface="微软雅黑"/>
                <a:cs typeface="微软雅黑"/>
              </a:rPr>
              <a:t>预测效度</a:t>
            </a:r>
          </a:p>
        </p:txBody>
      </p:sp>
      <p:cxnSp>
        <p:nvCxnSpPr>
          <p:cNvPr id="23" name="xm Connector 22"/>
          <p:cNvCxnSpPr/>
          <p:nvPr/>
        </p:nvCxnSpPr>
        <p:spPr>
          <a:xfrm>
            <a:off x="4312920" y="2315972"/>
            <a:ext cx="0" cy="2820416"/>
          </a:xfrm>
          <a:prstGeom prst="line">
            <a:avLst/>
          </a:prstGeom>
          <a:ln w="9525">
            <a:solidFill>
              <a:srgbClr val="E7D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xm TextBox 23"/>
          <p:cNvSpPr txBox="1"/>
          <p:nvPr/>
        </p:nvSpPr>
        <p:spPr>
          <a:xfrm>
            <a:off x="8122920" y="2178812"/>
            <a:ext cx="3124200" cy="1397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0.51</a:t>
            </a:r>
            <a:r>
              <a:rPr sz="35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 </a:t>
            </a:r>
          </a:p>
        </p:txBody>
      </p:sp>
      <p:cxnSp>
        <p:nvCxnSpPr>
          <p:cNvPr id="25" name="xm Connector 24"/>
          <p:cNvCxnSpPr/>
          <p:nvPr/>
        </p:nvCxnSpPr>
        <p:spPr>
          <a:xfrm>
            <a:off x="8122920" y="3712972"/>
            <a:ext cx="640080" cy="0"/>
          </a:xfrm>
          <a:prstGeom prst="line">
            <a:avLst/>
          </a:prstGeom>
          <a:ln w="38100">
            <a:solidFill>
              <a:srgbClr val="F27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xm TextBox 25"/>
          <p:cNvSpPr txBox="1"/>
          <p:nvPr/>
        </p:nvSpPr>
        <p:spPr>
          <a:xfrm>
            <a:off x="8122920" y="3895852"/>
            <a:ext cx="30784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结构化面试</a:t>
            </a:r>
          </a:p>
        </p:txBody>
      </p:sp>
      <p:sp>
        <p:nvSpPr>
          <p:cNvPr id="27" name="xm TextBox 26"/>
          <p:cNvSpPr txBox="1"/>
          <p:nvPr/>
        </p:nvSpPr>
        <p:spPr>
          <a:xfrm>
            <a:off x="8122920" y="4490212"/>
            <a:ext cx="3078480" cy="646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87736A"/>
                </a:solidFill>
                <a:latin typeface="微软雅黑"/>
                <a:ea typeface="微软雅黑"/>
                <a:cs typeface="微软雅黑"/>
              </a:rPr>
              <a:t>预测效度</a:t>
            </a:r>
          </a:p>
        </p:txBody>
      </p:sp>
      <p:cxnSp>
        <p:nvCxnSpPr>
          <p:cNvPr id="28" name="xm Connector 27"/>
          <p:cNvCxnSpPr/>
          <p:nvPr/>
        </p:nvCxnSpPr>
        <p:spPr>
          <a:xfrm>
            <a:off x="7848600" y="2315972"/>
            <a:ext cx="0" cy="2820416"/>
          </a:xfrm>
          <a:prstGeom prst="line">
            <a:avLst/>
          </a:prstGeom>
          <a:ln w="9525">
            <a:solidFill>
              <a:srgbClr val="E7D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A2C1D"/>
                </a:solidFill>
                <a:latin typeface="微软雅黑"/>
                <a:ea typeface="微软雅黑"/>
              </a:rPr>
              <a:t>凭感觉面试 vs 结构化面试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0700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03504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548640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731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9A7B67"/>
                </a:solidFill>
                <a:latin typeface="微软雅黑"/>
                <a:ea typeface="微软雅黑"/>
              </a:rPr>
              <a:t>‹ 启明 ›</a:t>
            </a:r>
          </a:p>
        </p:txBody>
      </p:sp>
      <p:sp>
        <p:nvSpPr>
          <p:cNvPr id="14" name="xm Rectangle 13"/>
          <p:cNvSpPr/>
          <p:nvPr/>
        </p:nvSpPr>
        <p:spPr>
          <a:xfrm>
            <a:off x="777240" y="1817883"/>
            <a:ext cx="4892040" cy="2947914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xm Rectangle 14"/>
          <p:cNvSpPr/>
          <p:nvPr/>
        </p:nvSpPr>
        <p:spPr>
          <a:xfrm>
            <a:off x="777240" y="1817883"/>
            <a:ext cx="4892040" cy="790338"/>
          </a:xfrm>
          <a:prstGeom prst="rect">
            <a:avLst/>
          </a:prstGeom>
          <a:solidFill>
            <a:srgbClr val="EC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2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凭感觉</a:t>
            </a:r>
          </a:p>
        </p:txBody>
      </p:sp>
      <p:pic>
        <p:nvPicPr>
          <p:cNvPr id="16" name="xm Picture 15" descr="circle-x-A655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845965"/>
            <a:ext cx="335894" cy="335894"/>
          </a:xfrm>
          <a:prstGeom prst="rect">
            <a:avLst/>
          </a:prstGeom>
        </p:spPr>
      </p:pic>
      <p:sp>
        <p:nvSpPr>
          <p:cNvPr id="17" name="xm TextBox 16"/>
          <p:cNvSpPr txBox="1"/>
          <p:nvPr/>
        </p:nvSpPr>
        <p:spPr>
          <a:xfrm>
            <a:off x="1524614" y="2791101"/>
            <a:ext cx="3870346" cy="566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7736A"/>
                </a:solidFill>
                <a:latin typeface="微软雅黑"/>
                <a:ea typeface="微软雅黑"/>
                <a:cs typeface="微软雅黑"/>
              </a:rPr>
              <a:t>问题临场发挥，每个候选人不一样</a:t>
            </a:r>
          </a:p>
        </p:txBody>
      </p:sp>
      <p:pic>
        <p:nvPicPr>
          <p:cNvPr id="18" name="xm Picture 17" descr="circle-x-A655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458477"/>
            <a:ext cx="335894" cy="335894"/>
          </a:xfrm>
          <a:prstGeom prst="rect">
            <a:avLst/>
          </a:prstGeom>
        </p:spPr>
      </p:pic>
      <p:sp>
        <p:nvSpPr>
          <p:cNvPr id="19" name="xm TextBox 18"/>
          <p:cNvSpPr txBox="1"/>
          <p:nvPr/>
        </p:nvSpPr>
        <p:spPr>
          <a:xfrm>
            <a:off x="1524614" y="3403613"/>
            <a:ext cx="3870346" cy="566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7736A"/>
                </a:solidFill>
                <a:latin typeface="微软雅黑"/>
                <a:ea typeface="微软雅黑"/>
                <a:cs typeface="微软雅黑"/>
              </a:rPr>
              <a:t>第一印象决定结论</a:t>
            </a:r>
          </a:p>
        </p:txBody>
      </p:sp>
      <p:pic>
        <p:nvPicPr>
          <p:cNvPr id="20" name="xm Picture 19" descr="circle-x-A655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070989"/>
            <a:ext cx="335894" cy="335894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1524614" y="4016125"/>
            <a:ext cx="3870346" cy="566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7736A"/>
                </a:solidFill>
                <a:latin typeface="微软雅黑"/>
                <a:ea typeface="微软雅黑"/>
                <a:cs typeface="微软雅黑"/>
              </a:rPr>
              <a:t>面试官之间评分差异大</a:t>
            </a:r>
          </a:p>
        </p:txBody>
      </p:sp>
      <p:sp>
        <p:nvSpPr>
          <p:cNvPr id="22" name="xm Rectangle 21"/>
          <p:cNvSpPr/>
          <p:nvPr/>
        </p:nvSpPr>
        <p:spPr>
          <a:xfrm>
            <a:off x="6492240" y="1817883"/>
            <a:ext cx="4892040" cy="2947914"/>
          </a:xfrm>
          <a:prstGeom prst="rect">
            <a:avLst/>
          </a:prstGeom>
          <a:solidFill>
            <a:srgbClr val="FFFAF8"/>
          </a:solidFill>
          <a:ln w="19050">
            <a:solidFill>
              <a:srgbClr val="F27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xm Rectangle 22"/>
          <p:cNvSpPr/>
          <p:nvPr/>
        </p:nvSpPr>
        <p:spPr>
          <a:xfrm>
            <a:off x="6492240" y="1817883"/>
            <a:ext cx="4892040" cy="79033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2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结构化</a:t>
            </a:r>
          </a:p>
        </p:txBody>
      </p:sp>
      <p:pic>
        <p:nvPicPr>
          <p:cNvPr id="24" name="xm Picture 23" descr="circle-check-A655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845965"/>
            <a:ext cx="335894" cy="335894"/>
          </a:xfrm>
          <a:prstGeom prst="rect">
            <a:avLst/>
          </a:prstGeom>
        </p:spPr>
      </p:pic>
      <p:sp>
        <p:nvSpPr>
          <p:cNvPr id="25" name="xm TextBox 24"/>
          <p:cNvSpPr txBox="1"/>
          <p:nvPr/>
        </p:nvSpPr>
        <p:spPr>
          <a:xfrm>
            <a:off x="7239614" y="2791101"/>
            <a:ext cx="3870346" cy="566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同岗位同一套问题</a:t>
            </a:r>
          </a:p>
        </p:txBody>
      </p:sp>
      <p:pic>
        <p:nvPicPr>
          <p:cNvPr id="26" name="xm Picture 25" descr="circle-check-A655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458477"/>
            <a:ext cx="335894" cy="335894"/>
          </a:xfrm>
          <a:prstGeom prst="rect">
            <a:avLst/>
          </a:prstGeom>
        </p:spPr>
      </p:pic>
      <p:sp>
        <p:nvSpPr>
          <p:cNvPr id="27" name="xm TextBox 26"/>
          <p:cNvSpPr txBox="1"/>
          <p:nvPr/>
        </p:nvSpPr>
        <p:spPr>
          <a:xfrm>
            <a:off x="7239614" y="3403613"/>
            <a:ext cx="3870346" cy="566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按行为证据打分</a:t>
            </a:r>
          </a:p>
        </p:txBody>
      </p:sp>
      <p:pic>
        <p:nvPicPr>
          <p:cNvPr id="28" name="xm Picture 27" descr="circle-check-A655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070989"/>
            <a:ext cx="335894" cy="335894"/>
          </a:xfrm>
          <a:prstGeom prst="rect">
            <a:avLst/>
          </a:prstGeom>
        </p:spPr>
      </p:pic>
      <p:sp>
        <p:nvSpPr>
          <p:cNvPr id="29" name="xm TextBox 28"/>
          <p:cNvSpPr txBox="1"/>
          <p:nvPr/>
        </p:nvSpPr>
        <p:spPr>
          <a:xfrm>
            <a:off x="7239614" y="4016125"/>
            <a:ext cx="3870346" cy="566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评分标准提前统一</a:t>
            </a:r>
          </a:p>
        </p:txBody>
      </p:sp>
      <p:sp>
        <p:nvSpPr>
          <p:cNvPr id="30" name="xm Oval 29"/>
          <p:cNvSpPr/>
          <p:nvPr/>
        </p:nvSpPr>
        <p:spPr>
          <a:xfrm>
            <a:off x="5733288" y="2944368"/>
            <a:ext cx="694944" cy="694944"/>
          </a:xfrm>
          <a:prstGeom prst="ellipse">
            <a:avLst/>
          </a:prstGeom>
          <a:solidFill>
            <a:srgbClr val="4A2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EF6EB"/>
                </a:solidFill>
                <a:latin typeface="微软雅黑"/>
                <a:ea typeface="微软雅黑"/>
                <a:cs typeface="微软雅黑"/>
              </a:rPr>
              <a:t>VS</a:t>
            </a:r>
          </a:p>
        </p:txBody>
      </p:sp>
      <p:sp>
        <p:nvSpPr>
          <p:cNvPr id="31" name="xm Rectangle 30"/>
          <p:cNvSpPr/>
          <p:nvPr/>
        </p:nvSpPr>
        <p:spPr>
          <a:xfrm>
            <a:off x="777240" y="5085837"/>
            <a:ext cx="10607040" cy="777240"/>
          </a:xfrm>
          <a:prstGeom prst="rect">
            <a:avLst/>
          </a:prstGeom>
          <a:gradFill rotWithShape="1">
            <a:gsLst>
              <a:gs pos="0">
                <a:srgbClr val="F2762E"/>
              </a:gs>
              <a:gs pos="100000">
                <a:srgbClr val="F7A67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19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好的面试，是把「我觉得」变成「我看到」。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267968"/>
            <a:ext cx="2743200" cy="1566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面试前准备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A2C1D"/>
                </a:solidFill>
                <a:latin typeface="微软雅黑"/>
                <a:ea typeface="微软雅黑"/>
              </a:rPr>
              <a:t>四步准备法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0700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03504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548640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731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9A7B67"/>
                </a:solidFill>
                <a:latin typeface="微软雅黑"/>
                <a:ea typeface="微软雅黑"/>
              </a:rPr>
              <a:t>‹ 启明 ›</a:t>
            </a:r>
          </a:p>
        </p:txBody>
      </p:sp>
      <p:cxnSp>
        <p:nvCxnSpPr>
          <p:cNvPr id="14" name="xm Connector 13"/>
          <p:cNvCxnSpPr/>
          <p:nvPr/>
        </p:nvCxnSpPr>
        <p:spPr>
          <a:xfrm>
            <a:off x="2000250" y="2546147"/>
            <a:ext cx="8161020" cy="0"/>
          </a:xfrm>
          <a:prstGeom prst="line">
            <a:avLst/>
          </a:prstGeom>
          <a:ln w="38100">
            <a:solidFill>
              <a:srgbClr val="F9C3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xm Oval 14"/>
          <p:cNvSpPr/>
          <p:nvPr/>
        </p:nvSpPr>
        <p:spPr>
          <a:xfrm>
            <a:off x="155219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6" name="xm Rectangle 15"/>
          <p:cNvSpPr/>
          <p:nvPr/>
        </p:nvSpPr>
        <p:spPr>
          <a:xfrm>
            <a:off x="77724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xm TextBox 16"/>
          <p:cNvSpPr txBox="1"/>
          <p:nvPr/>
        </p:nvSpPr>
        <p:spPr>
          <a:xfrm>
            <a:off x="105887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拆解岗位</a:t>
            </a:r>
          </a:p>
        </p:txBody>
      </p:sp>
      <p:sp>
        <p:nvSpPr>
          <p:cNvPr id="18" name="xm TextBox 17"/>
          <p:cNvSpPr txBox="1"/>
          <p:nvPr/>
        </p:nvSpPr>
        <p:spPr>
          <a:xfrm>
            <a:off x="105887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明确 3–5 项核心胜任力</a:t>
            </a:r>
          </a:p>
        </p:txBody>
      </p:sp>
      <p:sp>
        <p:nvSpPr>
          <p:cNvPr id="19" name="xm Oval 18"/>
          <p:cNvSpPr/>
          <p:nvPr/>
        </p:nvSpPr>
        <p:spPr>
          <a:xfrm>
            <a:off x="427253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0" name="xm Rectangle 19"/>
          <p:cNvSpPr/>
          <p:nvPr/>
        </p:nvSpPr>
        <p:spPr>
          <a:xfrm>
            <a:off x="349758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xm TextBox 20"/>
          <p:cNvSpPr txBox="1"/>
          <p:nvPr/>
        </p:nvSpPr>
        <p:spPr>
          <a:xfrm>
            <a:off x="377921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设计问题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377921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每项胜任力准备 2 道行为面试题</a:t>
            </a:r>
          </a:p>
        </p:txBody>
      </p:sp>
      <p:sp>
        <p:nvSpPr>
          <p:cNvPr id="23" name="xm Oval 22"/>
          <p:cNvSpPr/>
          <p:nvPr/>
        </p:nvSpPr>
        <p:spPr>
          <a:xfrm>
            <a:off x="699287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4" name="xm Rectangle 23"/>
          <p:cNvSpPr/>
          <p:nvPr/>
        </p:nvSpPr>
        <p:spPr>
          <a:xfrm>
            <a:off x="621792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xm TextBox 24"/>
          <p:cNvSpPr txBox="1"/>
          <p:nvPr/>
        </p:nvSpPr>
        <p:spPr>
          <a:xfrm>
            <a:off x="649955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制定评分表</a:t>
            </a:r>
          </a:p>
        </p:txBody>
      </p:sp>
      <p:sp>
        <p:nvSpPr>
          <p:cNvPr id="26" name="xm TextBox 25"/>
          <p:cNvSpPr txBox="1"/>
          <p:nvPr/>
        </p:nvSpPr>
        <p:spPr>
          <a:xfrm>
            <a:off x="649955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写清楚 1 分、3 分、5 分分别长什么样</a:t>
            </a:r>
          </a:p>
        </p:txBody>
      </p:sp>
      <p:sp>
        <p:nvSpPr>
          <p:cNvPr id="27" name="xm Oval 26"/>
          <p:cNvSpPr/>
          <p:nvPr/>
        </p:nvSpPr>
        <p:spPr>
          <a:xfrm>
            <a:off x="971321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8" name="xm Rectangle 27"/>
          <p:cNvSpPr/>
          <p:nvPr/>
        </p:nvSpPr>
        <p:spPr>
          <a:xfrm>
            <a:off x="893826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xm TextBox 28"/>
          <p:cNvSpPr txBox="1"/>
          <p:nvPr/>
        </p:nvSpPr>
        <p:spPr>
          <a:xfrm>
            <a:off x="921989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分工对齐</a:t>
            </a:r>
          </a:p>
        </p:txBody>
      </p:sp>
      <p:sp>
        <p:nvSpPr>
          <p:cNvPr id="30" name="xm TextBox 29"/>
          <p:cNvSpPr txBox="1"/>
          <p:nvPr/>
        </p:nvSpPr>
        <p:spPr>
          <a:xfrm>
            <a:off x="921989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多位面试官提前确认各自考察的维度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267968"/>
            <a:ext cx="2743200" cy="1566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面试中提问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A2C1D"/>
                </a:solidFill>
                <a:latin typeface="微软雅黑"/>
                <a:ea typeface="微软雅黑"/>
              </a:rPr>
              <a:t>STAR 追问法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0700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03504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548640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731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9A7B67"/>
                </a:solidFill>
                <a:latin typeface="微软雅黑"/>
                <a:ea typeface="微软雅黑"/>
              </a:rPr>
              <a:t>‹ 启明 ›</a:t>
            </a:r>
          </a:p>
        </p:txBody>
      </p:sp>
      <p:sp>
        <p:nvSpPr>
          <p:cNvPr id="14" name="xm Rectangle 13"/>
          <p:cNvSpPr/>
          <p:nvPr/>
        </p:nvSpPr>
        <p:spPr>
          <a:xfrm>
            <a:off x="777240" y="2064258"/>
            <a:ext cx="2446020" cy="3552444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xm Rectangle 14"/>
          <p:cNvSpPr/>
          <p:nvPr/>
        </p:nvSpPr>
        <p:spPr>
          <a:xfrm>
            <a:off x="777240" y="2064258"/>
            <a:ext cx="2446020" cy="6400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xm TextBox 15"/>
          <p:cNvSpPr txBox="1"/>
          <p:nvPr/>
        </p:nvSpPr>
        <p:spPr>
          <a:xfrm>
            <a:off x="1161288" y="2448306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xm TextBox 16"/>
          <p:cNvSpPr txBox="1"/>
          <p:nvPr/>
        </p:nvSpPr>
        <p:spPr>
          <a:xfrm>
            <a:off x="1161288" y="3088386"/>
            <a:ext cx="1677924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情境 Situation</a:t>
            </a:r>
          </a:p>
        </p:txBody>
      </p:sp>
      <p:sp>
        <p:nvSpPr>
          <p:cNvPr id="18" name="xm TextBox 17"/>
          <p:cNvSpPr txBox="1"/>
          <p:nvPr/>
        </p:nvSpPr>
        <p:spPr>
          <a:xfrm>
            <a:off x="1161288" y="4021074"/>
            <a:ext cx="167792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当时是什么背景？</a:t>
            </a:r>
          </a:p>
        </p:txBody>
      </p:sp>
      <p:sp>
        <p:nvSpPr>
          <p:cNvPr id="19" name="xm Rectangle 18"/>
          <p:cNvSpPr/>
          <p:nvPr/>
        </p:nvSpPr>
        <p:spPr>
          <a:xfrm>
            <a:off x="3497580" y="2064258"/>
            <a:ext cx="2446020" cy="3552444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xm Rectangle 19"/>
          <p:cNvSpPr/>
          <p:nvPr/>
        </p:nvSpPr>
        <p:spPr>
          <a:xfrm>
            <a:off x="3497580" y="2064258"/>
            <a:ext cx="2446020" cy="6400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xm TextBox 20"/>
          <p:cNvSpPr txBox="1"/>
          <p:nvPr/>
        </p:nvSpPr>
        <p:spPr>
          <a:xfrm>
            <a:off x="3881628" y="2448306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3881628" y="3088386"/>
            <a:ext cx="1677924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任务 Task</a:t>
            </a:r>
          </a:p>
        </p:txBody>
      </p:sp>
      <p:sp>
        <p:nvSpPr>
          <p:cNvPr id="23" name="xm TextBox 22"/>
          <p:cNvSpPr txBox="1"/>
          <p:nvPr/>
        </p:nvSpPr>
        <p:spPr>
          <a:xfrm>
            <a:off x="3881628" y="4021074"/>
            <a:ext cx="167792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你的职责和目标是什么？</a:t>
            </a:r>
          </a:p>
        </p:txBody>
      </p:sp>
      <p:sp>
        <p:nvSpPr>
          <p:cNvPr id="24" name="xm Rectangle 23"/>
          <p:cNvSpPr/>
          <p:nvPr/>
        </p:nvSpPr>
        <p:spPr>
          <a:xfrm>
            <a:off x="6217920" y="2064258"/>
            <a:ext cx="2446020" cy="3552444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xm Rectangle 24"/>
          <p:cNvSpPr/>
          <p:nvPr/>
        </p:nvSpPr>
        <p:spPr>
          <a:xfrm>
            <a:off x="6217920" y="2064258"/>
            <a:ext cx="2446020" cy="6400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xm TextBox 25"/>
          <p:cNvSpPr txBox="1"/>
          <p:nvPr/>
        </p:nvSpPr>
        <p:spPr>
          <a:xfrm>
            <a:off x="6601968" y="2448306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7" name="xm TextBox 26"/>
          <p:cNvSpPr txBox="1"/>
          <p:nvPr/>
        </p:nvSpPr>
        <p:spPr>
          <a:xfrm>
            <a:off x="6601968" y="3088386"/>
            <a:ext cx="1677924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行动 Action</a:t>
            </a:r>
          </a:p>
        </p:txBody>
      </p:sp>
      <p:sp>
        <p:nvSpPr>
          <p:cNvPr id="28" name="xm TextBox 27"/>
          <p:cNvSpPr txBox="1"/>
          <p:nvPr/>
        </p:nvSpPr>
        <p:spPr>
          <a:xfrm>
            <a:off x="6601968" y="4021074"/>
            <a:ext cx="167792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你具体做了什么？</a:t>
            </a:r>
          </a:p>
        </p:txBody>
      </p:sp>
      <p:sp>
        <p:nvSpPr>
          <p:cNvPr id="29" name="xm Rectangle 28"/>
          <p:cNvSpPr/>
          <p:nvPr/>
        </p:nvSpPr>
        <p:spPr>
          <a:xfrm>
            <a:off x="8938260" y="2064258"/>
            <a:ext cx="2446020" cy="3552444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xm Rectangle 29"/>
          <p:cNvSpPr/>
          <p:nvPr/>
        </p:nvSpPr>
        <p:spPr>
          <a:xfrm>
            <a:off x="8938260" y="2064258"/>
            <a:ext cx="2446020" cy="6400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xm TextBox 30"/>
          <p:cNvSpPr txBox="1"/>
          <p:nvPr/>
        </p:nvSpPr>
        <p:spPr>
          <a:xfrm>
            <a:off x="9322308" y="2448306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2" name="xm TextBox 31"/>
          <p:cNvSpPr txBox="1"/>
          <p:nvPr/>
        </p:nvSpPr>
        <p:spPr>
          <a:xfrm>
            <a:off x="9322308" y="3088386"/>
            <a:ext cx="1677924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结果 Result</a:t>
            </a:r>
          </a:p>
        </p:txBody>
      </p:sp>
      <p:sp>
        <p:nvSpPr>
          <p:cNvPr id="33" name="xm TextBox 32"/>
          <p:cNvSpPr txBox="1"/>
          <p:nvPr/>
        </p:nvSpPr>
        <p:spPr>
          <a:xfrm>
            <a:off x="9322308" y="4021074"/>
            <a:ext cx="1677924" cy="13267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最后结果怎样，学到了什么？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A2C1D"/>
                </a:solidFill>
                <a:latin typeface="微软雅黑"/>
                <a:ea typeface="微软雅黑"/>
              </a:rPr>
              <a:t>三类要避开的问题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0700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03504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548640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731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9A7B67"/>
                </a:solidFill>
                <a:latin typeface="微软雅黑"/>
                <a:ea typeface="微软雅黑"/>
              </a:rPr>
              <a:t>‹ 启明 ›</a:t>
            </a:r>
          </a:p>
        </p:txBody>
      </p:sp>
      <p:sp>
        <p:nvSpPr>
          <p:cNvPr id="14" name="xm Rectangle 13"/>
          <p:cNvSpPr/>
          <p:nvPr/>
        </p:nvSpPr>
        <p:spPr>
          <a:xfrm>
            <a:off x="777240" y="2274722"/>
            <a:ext cx="3352800" cy="3131515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xm Rectangle 14"/>
          <p:cNvSpPr/>
          <p:nvPr/>
        </p:nvSpPr>
        <p:spPr>
          <a:xfrm>
            <a:off x="777240" y="2274722"/>
            <a:ext cx="3352800" cy="6400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xm Oval 15"/>
          <p:cNvSpPr/>
          <p:nvPr/>
        </p:nvSpPr>
        <p:spPr>
          <a:xfrm>
            <a:off x="1161288" y="2658770"/>
            <a:ext cx="793699" cy="793699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xm Picture 16" descr="triangle-alert-4A2C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776" y="2849258"/>
            <a:ext cx="412724" cy="412724"/>
          </a:xfrm>
          <a:prstGeom prst="rect">
            <a:avLst/>
          </a:prstGeom>
        </p:spPr>
      </p:pic>
      <p:sp>
        <p:nvSpPr>
          <p:cNvPr id="18" name="xm TextBox 17"/>
          <p:cNvSpPr txBox="1"/>
          <p:nvPr/>
        </p:nvSpPr>
        <p:spPr>
          <a:xfrm>
            <a:off x="1161288" y="3635350"/>
            <a:ext cx="25847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引导性问题</a:t>
            </a:r>
          </a:p>
        </p:txBody>
      </p:sp>
      <p:sp>
        <p:nvSpPr>
          <p:cNvPr id="19" name="xm TextBox 18"/>
          <p:cNvSpPr txBox="1"/>
          <p:nvPr/>
        </p:nvSpPr>
        <p:spPr>
          <a:xfrm>
            <a:off x="1161288" y="4183990"/>
            <a:ext cx="2584704" cy="953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「你应该很擅长沟通吧？」</a:t>
            </a:r>
          </a:p>
        </p:txBody>
      </p:sp>
      <p:sp>
        <p:nvSpPr>
          <p:cNvPr id="20" name="xm Rectangle 19"/>
          <p:cNvSpPr/>
          <p:nvPr/>
        </p:nvSpPr>
        <p:spPr>
          <a:xfrm>
            <a:off x="4404360" y="2274722"/>
            <a:ext cx="3352800" cy="3131515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xm Rectangle 20"/>
          <p:cNvSpPr/>
          <p:nvPr/>
        </p:nvSpPr>
        <p:spPr>
          <a:xfrm>
            <a:off x="4404360" y="2274722"/>
            <a:ext cx="3352800" cy="6400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xm Oval 21"/>
          <p:cNvSpPr/>
          <p:nvPr/>
        </p:nvSpPr>
        <p:spPr>
          <a:xfrm>
            <a:off x="4788408" y="2658770"/>
            <a:ext cx="793699" cy="793699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xm Picture 22" descr="triangle-alert-4A2C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896" y="2849258"/>
            <a:ext cx="412724" cy="412724"/>
          </a:xfrm>
          <a:prstGeom prst="rect">
            <a:avLst/>
          </a:prstGeom>
        </p:spPr>
      </p:pic>
      <p:sp>
        <p:nvSpPr>
          <p:cNvPr id="24" name="xm TextBox 23"/>
          <p:cNvSpPr txBox="1"/>
          <p:nvPr/>
        </p:nvSpPr>
        <p:spPr>
          <a:xfrm>
            <a:off x="4788408" y="3635350"/>
            <a:ext cx="25847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假设性问题</a:t>
            </a:r>
          </a:p>
        </p:txBody>
      </p:sp>
      <p:sp>
        <p:nvSpPr>
          <p:cNvPr id="25" name="xm TextBox 24"/>
          <p:cNvSpPr txBox="1"/>
          <p:nvPr/>
        </p:nvSpPr>
        <p:spPr>
          <a:xfrm>
            <a:off x="4788408" y="4183990"/>
            <a:ext cx="2584704" cy="953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「如果你遇到……你会怎么做？」</a:t>
            </a:r>
          </a:p>
        </p:txBody>
      </p:sp>
      <p:sp>
        <p:nvSpPr>
          <p:cNvPr id="26" name="xm Rectangle 25"/>
          <p:cNvSpPr/>
          <p:nvPr/>
        </p:nvSpPr>
        <p:spPr>
          <a:xfrm>
            <a:off x="8031480" y="2274722"/>
            <a:ext cx="3352800" cy="3131515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xm Rectangle 26"/>
          <p:cNvSpPr/>
          <p:nvPr/>
        </p:nvSpPr>
        <p:spPr>
          <a:xfrm>
            <a:off x="8031480" y="2274722"/>
            <a:ext cx="3352800" cy="64008"/>
          </a:xfrm>
          <a:prstGeom prst="rect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xm Oval 27"/>
          <p:cNvSpPr/>
          <p:nvPr/>
        </p:nvSpPr>
        <p:spPr>
          <a:xfrm>
            <a:off x="8415528" y="2658770"/>
            <a:ext cx="793699" cy="793699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xm Picture 28" descr="shield-check-4A2C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016" y="2849258"/>
            <a:ext cx="412724" cy="412724"/>
          </a:xfrm>
          <a:prstGeom prst="rect">
            <a:avLst/>
          </a:prstGeom>
        </p:spPr>
      </p:pic>
      <p:sp>
        <p:nvSpPr>
          <p:cNvPr id="30" name="xm TextBox 29"/>
          <p:cNvSpPr txBox="1"/>
          <p:nvPr/>
        </p:nvSpPr>
        <p:spPr>
          <a:xfrm>
            <a:off x="8415528" y="3635350"/>
            <a:ext cx="25847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隐私类问题</a:t>
            </a:r>
          </a:p>
        </p:txBody>
      </p:sp>
      <p:sp>
        <p:nvSpPr>
          <p:cNvPr id="31" name="xm TextBox 30"/>
          <p:cNvSpPr txBox="1"/>
          <p:nvPr/>
        </p:nvSpPr>
        <p:spPr>
          <a:xfrm>
            <a:off x="8415528" y="4183990"/>
            <a:ext cx="2584704" cy="953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婚育、籍贯、宗教等与岗位无关的问题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267968"/>
            <a:ext cx="2743200" cy="15666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面试后评估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A2C1D"/>
                </a:solidFill>
                <a:latin typeface="微软雅黑"/>
                <a:ea typeface="微软雅黑"/>
              </a:rPr>
              <a:t>评分与决策流程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0700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03504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548640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731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9A7B67"/>
                </a:solidFill>
                <a:latin typeface="微软雅黑"/>
                <a:ea typeface="微软雅黑"/>
              </a:rPr>
              <a:t>‹ 启明 ›</a:t>
            </a:r>
          </a:p>
        </p:txBody>
      </p:sp>
      <p:cxnSp>
        <p:nvCxnSpPr>
          <p:cNvPr id="14" name="xm Connector 13"/>
          <p:cNvCxnSpPr/>
          <p:nvPr/>
        </p:nvCxnSpPr>
        <p:spPr>
          <a:xfrm>
            <a:off x="2000250" y="2546147"/>
            <a:ext cx="8161020" cy="0"/>
          </a:xfrm>
          <a:prstGeom prst="line">
            <a:avLst/>
          </a:prstGeom>
          <a:ln w="38100">
            <a:solidFill>
              <a:srgbClr val="F9C3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xm Oval 14"/>
          <p:cNvSpPr/>
          <p:nvPr/>
        </p:nvSpPr>
        <p:spPr>
          <a:xfrm>
            <a:off x="155219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6" name="xm Rectangle 15"/>
          <p:cNvSpPr/>
          <p:nvPr/>
        </p:nvSpPr>
        <p:spPr>
          <a:xfrm>
            <a:off x="77724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xm TextBox 16"/>
          <p:cNvSpPr txBox="1"/>
          <p:nvPr/>
        </p:nvSpPr>
        <p:spPr>
          <a:xfrm>
            <a:off x="105887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独立打分</a:t>
            </a:r>
          </a:p>
        </p:txBody>
      </p:sp>
      <p:sp>
        <p:nvSpPr>
          <p:cNvPr id="18" name="xm TextBox 17"/>
          <p:cNvSpPr txBox="1"/>
          <p:nvPr/>
        </p:nvSpPr>
        <p:spPr>
          <a:xfrm>
            <a:off x="105887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面试结束 30 分钟内各自填写评分表</a:t>
            </a:r>
          </a:p>
        </p:txBody>
      </p:sp>
      <p:sp>
        <p:nvSpPr>
          <p:cNvPr id="19" name="xm Oval 18"/>
          <p:cNvSpPr/>
          <p:nvPr/>
        </p:nvSpPr>
        <p:spPr>
          <a:xfrm>
            <a:off x="427253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0" name="xm Rectangle 19"/>
          <p:cNvSpPr/>
          <p:nvPr/>
        </p:nvSpPr>
        <p:spPr>
          <a:xfrm>
            <a:off x="349758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xm TextBox 20"/>
          <p:cNvSpPr txBox="1"/>
          <p:nvPr/>
        </p:nvSpPr>
        <p:spPr>
          <a:xfrm>
            <a:off x="377921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校准讨论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377921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分差超过 2 分的维度逐项讨论</a:t>
            </a:r>
          </a:p>
        </p:txBody>
      </p:sp>
      <p:sp>
        <p:nvSpPr>
          <p:cNvPr id="23" name="xm Oval 22"/>
          <p:cNvSpPr/>
          <p:nvPr/>
        </p:nvSpPr>
        <p:spPr>
          <a:xfrm>
            <a:off x="699287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4" name="xm Rectangle 23"/>
          <p:cNvSpPr/>
          <p:nvPr/>
        </p:nvSpPr>
        <p:spPr>
          <a:xfrm>
            <a:off x="621792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xm TextBox 24"/>
          <p:cNvSpPr txBox="1"/>
          <p:nvPr/>
        </p:nvSpPr>
        <p:spPr>
          <a:xfrm>
            <a:off x="649955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形成结论</a:t>
            </a:r>
          </a:p>
        </p:txBody>
      </p:sp>
      <p:sp>
        <p:nvSpPr>
          <p:cNvPr id="26" name="xm TextBox 25"/>
          <p:cNvSpPr txBox="1"/>
          <p:nvPr/>
        </p:nvSpPr>
        <p:spPr>
          <a:xfrm>
            <a:off x="649955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按录用标准给出通过、待定或不通过</a:t>
            </a:r>
          </a:p>
        </p:txBody>
      </p:sp>
      <p:sp>
        <p:nvSpPr>
          <p:cNvPr id="27" name="xm Oval 26"/>
          <p:cNvSpPr/>
          <p:nvPr/>
        </p:nvSpPr>
        <p:spPr>
          <a:xfrm>
            <a:off x="9713214" y="2098091"/>
            <a:ext cx="896112" cy="896112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8" name="xm Rectangle 27"/>
          <p:cNvSpPr/>
          <p:nvPr/>
        </p:nvSpPr>
        <p:spPr>
          <a:xfrm>
            <a:off x="8938260" y="3314243"/>
            <a:ext cx="2446020" cy="2268626"/>
          </a:xfrm>
          <a:prstGeom prst="rect">
            <a:avLst/>
          </a:prstGeom>
          <a:solidFill>
            <a:srgbClr val="FFFAF8"/>
          </a:solidFill>
          <a:ln w="9525">
            <a:solidFill>
              <a:srgbClr val="E7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xm TextBox 28"/>
          <p:cNvSpPr txBox="1"/>
          <p:nvPr/>
        </p:nvSpPr>
        <p:spPr>
          <a:xfrm>
            <a:off x="9219895" y="3595878"/>
            <a:ext cx="188275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反馈复盘</a:t>
            </a:r>
          </a:p>
        </p:txBody>
      </p:sp>
      <p:sp>
        <p:nvSpPr>
          <p:cNvPr id="30" name="xm TextBox 29"/>
          <p:cNvSpPr txBox="1"/>
          <p:nvPr/>
        </p:nvSpPr>
        <p:spPr>
          <a:xfrm>
            <a:off x="9219895" y="4089654"/>
            <a:ext cx="1882750" cy="12298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6B5246"/>
                </a:solidFill>
                <a:latin typeface="微软雅黑"/>
                <a:ea typeface="微软雅黑"/>
                <a:cs typeface="微软雅黑"/>
              </a:rPr>
              <a:t>入职 6 个月后回看面试评分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4A2C1D"/>
                </a:solidFill>
                <a:latin typeface="微软雅黑"/>
                <a:ea typeface="微软雅黑"/>
              </a:rPr>
              <a:t>面试后评估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0700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603504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548640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731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9A7B67"/>
                </a:solidFill>
                <a:latin typeface="微软雅黑"/>
                <a:ea typeface="微软雅黑"/>
              </a:rPr>
              <a:t>‹ 启明 ›</a:t>
            </a:r>
          </a:p>
        </p:txBody>
      </p:sp>
      <p:sp>
        <p:nvSpPr>
          <p:cNvPr id="14" name="xm TextBox 13"/>
          <p:cNvSpPr txBox="1"/>
          <p:nvPr/>
        </p:nvSpPr>
        <p:spPr>
          <a:xfrm>
            <a:off x="1508760" y="2306320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A65526"/>
                </a:solidFill>
                <a:latin typeface="微软雅黑"/>
                <a:ea typeface="微软雅黑"/>
                <a:cs typeface="微软雅黑"/>
              </a:rPr>
              <a:t>“</a:t>
            </a:r>
          </a:p>
        </p:txBody>
      </p:sp>
      <p:sp>
        <p:nvSpPr>
          <p:cNvPr id="15" name="xm TextBox 14"/>
          <p:cNvSpPr txBox="1"/>
          <p:nvPr/>
        </p:nvSpPr>
        <p:spPr>
          <a:xfrm>
            <a:off x="1691640" y="3357880"/>
            <a:ext cx="8778240" cy="1330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4A2C1D"/>
                </a:solidFill>
                <a:latin typeface="微软雅黑"/>
                <a:ea typeface="微软雅黑"/>
                <a:cs typeface="微软雅黑"/>
              </a:rPr>
              <a:t>面试官的每一个问题，都在替公司做一次投资决策。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585216"/>
            <a:ext cx="274320" cy="274320"/>
          </a:xfrm>
          <a:prstGeom prst="ellips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30352"/>
            <a:ext cx="2011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A2C1D"/>
                </a:solidFill>
                <a:latin typeface="微软雅黑"/>
                <a:ea typeface="微软雅黑"/>
              </a:rPr>
              <a:t>启明教育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6400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4A2C1D"/>
                </a:solidFill>
                <a:latin typeface="微软雅黑"/>
                <a:ea typeface="微软雅黑"/>
              </a:rPr>
              <a:t>下课啦，谢谢大家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2762E"/>
                </a:solidFill>
                <a:latin typeface="微软雅黑"/>
                <a:ea typeface="微软雅黑"/>
              </a:rPr>
              <a:t>课后作业见学习群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