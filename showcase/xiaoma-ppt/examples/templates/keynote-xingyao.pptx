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keynote-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"/>
            <a:ext cx="5852160" cy="585216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731520" y="621792"/>
            <a:ext cx="2029968" cy="347472"/>
            <a:chOff x="731520" y="621792"/>
            <a:chExt cx="2029968" cy="347472"/>
          </a:xfrm>
        </p:grpSpPr>
        <p:sp>
          <p:nvSpPr>
            <p:cNvPr id="4" name="4-Point Star 3"/>
            <p:cNvSpPr/>
            <p:nvPr/>
          </p:nvSpPr>
          <p:spPr>
            <a:xfrm>
              <a:off x="731520" y="640080"/>
              <a:ext cx="310896" cy="310896"/>
            </a:xfrm>
            <a:prstGeom prst="star4">
              <a:avLst/>
            </a:prstGeom>
            <a:solidFill>
              <a:srgbClr val="22D3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1115568" y="62179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FFFFFF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31520" y="19659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spc="400">
                <a:solidFill>
                  <a:srgbClr val="22D3EE"/>
                </a:solidFill>
                <a:latin typeface="Montserrat"/>
                <a:ea typeface="Montserrat"/>
              </a:rPr>
              <a:t>XINGYAO LAUNCH EVENT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思源黑体 CN"/>
                <a:ea typeface="思源黑体 CN"/>
              </a:rPr>
              <a:t>产品发布会主标题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7CCE8"/>
                </a:solidFill>
                <a:latin typeface="思源黑体 CN"/>
                <a:ea typeface="思源黑体 CN"/>
              </a:rPr>
              <a:t>SUBTITLE · 在此输入副标题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343400"/>
            <a:ext cx="1463040" cy="457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B93B8"/>
                </a:solidFill>
                <a:latin typeface="Montserrat"/>
                <a:ea typeface="Montserrat"/>
              </a:rPr>
              <a:t>2027.03.18　·　深圳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ynote-space5-n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14400"/>
            <a:ext cx="1005840" cy="2377440"/>
          </a:xfrm>
          <a:prstGeom prst="rect">
            <a:avLst/>
          </a:prstGeom>
          <a:noFill/>
        </p:spPr>
        <p:txBody>
          <a:bodyPr wrap="square" anchor="t" vert="eaVer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黑体 CN"/>
                <a:ea typeface="思源黑体 CN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502920" y="4526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600">
                <a:solidFill>
                  <a:srgbClr val="22D3EE"/>
                </a:solidFill>
                <a:latin typeface="Montserrat"/>
                <a:ea typeface="Montserrat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914400"/>
            <a:ext cx="27432" cy="502920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9" name="Group 8"/>
          <p:cNvGrpSpPr/>
          <p:nvPr/>
        </p:nvGrpSpPr>
        <p:grpSpPr>
          <a:xfrm>
            <a:off x="2651760" y="1143000"/>
            <a:ext cx="2743200" cy="1691640"/>
            <a:chOff x="2651760" y="1143000"/>
            <a:chExt cx="2743200" cy="1691640"/>
          </a:xfrm>
        </p:grpSpPr>
        <p:sp>
          <p:nvSpPr>
            <p:cNvPr id="6" name="TextBox 5"/>
            <p:cNvSpPr txBox="1"/>
            <p:nvPr/>
          </p:nvSpPr>
          <p:spPr>
            <a:xfrm>
              <a:off x="265176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5176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51760" y="25146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760720" y="1143000"/>
            <a:ext cx="2743200" cy="1691640"/>
            <a:chOff x="5760720" y="1143000"/>
            <a:chExt cx="2743200" cy="1691640"/>
          </a:xfrm>
        </p:grpSpPr>
        <p:sp>
          <p:nvSpPr>
            <p:cNvPr id="10" name="TextBox 9"/>
            <p:cNvSpPr txBox="1"/>
            <p:nvPr/>
          </p:nvSpPr>
          <p:spPr>
            <a:xfrm>
              <a:off x="576072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6072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0720" y="25146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869680" y="1143000"/>
            <a:ext cx="2743200" cy="1691640"/>
            <a:chOff x="8869680" y="1143000"/>
            <a:chExt cx="2743200" cy="1691640"/>
          </a:xfrm>
        </p:grpSpPr>
        <p:sp>
          <p:nvSpPr>
            <p:cNvPr id="14" name="TextBox 13"/>
            <p:cNvSpPr txBox="1"/>
            <p:nvPr/>
          </p:nvSpPr>
          <p:spPr>
            <a:xfrm>
              <a:off x="8869680" y="11430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69680" y="20574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0" y="25146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651760" y="3657600"/>
            <a:ext cx="2743200" cy="1691640"/>
            <a:chOff x="2651760" y="3657600"/>
            <a:chExt cx="2743200" cy="1691640"/>
          </a:xfrm>
        </p:grpSpPr>
        <p:sp>
          <p:nvSpPr>
            <p:cNvPr id="18" name="TextBox 17"/>
            <p:cNvSpPr txBox="1"/>
            <p:nvPr/>
          </p:nvSpPr>
          <p:spPr>
            <a:xfrm>
              <a:off x="2651760" y="36576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1760" y="45720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1760" y="50292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760720" y="3657600"/>
            <a:ext cx="2743200" cy="1691640"/>
            <a:chOff x="5760720" y="3657600"/>
            <a:chExt cx="2743200" cy="1691640"/>
          </a:xfrm>
        </p:grpSpPr>
        <p:sp>
          <p:nvSpPr>
            <p:cNvPr id="22" name="TextBox 21"/>
            <p:cNvSpPr txBox="1"/>
            <p:nvPr/>
          </p:nvSpPr>
          <p:spPr>
            <a:xfrm>
              <a:off x="5760720" y="36576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60720" y="45720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60720" y="50292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869680" y="3657600"/>
            <a:ext cx="2743200" cy="1691640"/>
            <a:chOff x="8869680" y="3657600"/>
            <a:chExt cx="2743200" cy="1691640"/>
          </a:xfrm>
        </p:grpSpPr>
        <p:sp>
          <p:nvSpPr>
            <p:cNvPr id="26" name="TextBox 25"/>
            <p:cNvSpPr txBox="1"/>
            <p:nvPr/>
          </p:nvSpPr>
          <p:spPr>
            <a:xfrm>
              <a:off x="8869680" y="3657600"/>
              <a:ext cx="1463040" cy="8686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4800" b="1">
                  <a:ln w="15875">
                    <a:solidFill>
                      <a:srgbClr val="22D3EE"/>
                    </a:solidFill>
                  </a:ln>
                  <a:noFill/>
                  <a:latin typeface="Montserrat"/>
                  <a:ea typeface="Montserrat"/>
                </a:rPr>
                <a:t>06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69680" y="457200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目录标题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869680" y="5029200"/>
              <a:ext cx="274320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000" b="0" spc="200">
                  <a:solidFill>
                    <a:srgbClr val="8B93B8"/>
                  </a:solidFill>
                  <a:latin typeface="Montserrat"/>
                  <a:ea typeface="Montserrat"/>
                </a:rPr>
                <a:t>TITLE HERE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1097280" y="0"/>
            <a:ext cx="7863840" cy="6858000"/>
          </a:xfrm>
          <a:prstGeom prst="parallelogram">
            <a:avLst>
              <a:gd name="adj" fmla="val 28000"/>
            </a:avLst>
          </a:prstGeom>
          <a:gradFill rotWithShape="1">
            <a:gsLst>
              <a:gs pos="0">
                <a:srgbClr val="7C3AED">
                  <a:alpha val="85000"/>
                </a:srgbClr>
              </a:gs>
              <a:gs pos="100000">
                <a:srgbClr val="1E1B4B"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ln w="19050">
                  <a:solidFill>
                    <a:srgbClr val="FFFFFF"/>
                  </a:solidFill>
                </a:ln>
                <a:noFill/>
                <a:latin typeface="Montserrat"/>
                <a:ea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9692640" y="29260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600">
                <a:solidFill>
                  <a:srgbClr val="22D3EE"/>
                </a:solidFill>
                <a:latin typeface="Montserrat"/>
                <a:ea typeface="Montserrat"/>
              </a:rPr>
              <a:t>CHAPTER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黑体 CN"/>
                <a:ea typeface="思源黑体 CN"/>
              </a:rPr>
              <a:t>章节标题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CCE8"/>
                </a:solidFill>
                <a:latin typeface="Montserrat"/>
                <a:ea typeface="Montserrat"/>
              </a:rPr>
              <a:t>Chapter subtitle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66560" y="-1280160"/>
            <a:ext cx="7132320" cy="7132320"/>
          </a:xfrm>
          <a:prstGeom prst="ellipse">
            <a:avLst/>
          </a:prstGeom>
          <a:gradFill rotWithShape="1">
            <a:gsLst>
              <a:gs pos="0">
                <a:srgbClr val="22D3EE">
                  <a:alpha val="90000"/>
                </a:srgbClr>
              </a:gs>
              <a:gs pos="100000">
                <a:srgbClr val="7C3AED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0" b="1">
                <a:gradFill>
                  <a:gsLst>
                    <a:gs pos="0">
                      <a:srgbClr val="7C3AED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70914"/>
                </a:solidFill>
                <a:latin typeface="思源黑体 CN"/>
                <a:ea typeface="思源黑体 CN"/>
              </a:rPr>
              <a:t>章节标题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Montserrat"/>
                <a:ea typeface="Montserrat"/>
              </a:rPr>
              <a:t>Chapter subtitle here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68680" y="6016752"/>
            <a:ext cx="2029968" cy="347472"/>
            <a:chOff x="868680" y="6016752"/>
            <a:chExt cx="2029968" cy="347472"/>
          </a:xfrm>
        </p:grpSpPr>
        <p:sp>
          <p:nvSpPr>
            <p:cNvPr id="6" name="4-Point Star 5"/>
            <p:cNvSpPr/>
            <p:nvPr/>
          </p:nvSpPr>
          <p:spPr>
            <a:xfrm>
              <a:off x="868680" y="6035040"/>
              <a:ext cx="310896" cy="310896"/>
            </a:xfrm>
            <a:prstGeom prst="star4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TextBox 6"/>
            <p:cNvSpPr txBox="1"/>
            <p:nvPr/>
          </p:nvSpPr>
          <p:spPr>
            <a:xfrm>
              <a:off x="1252728" y="601675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070914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页面标题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pic>
        <p:nvPicPr>
          <p:cNvPr id="6" name="Picture 5" descr="keynote-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291840" cy="6497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737360"/>
            <a:ext cx="6766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7CCE8"/>
                </a:solidFill>
                <a:latin typeface="思源黑体 CN"/>
                <a:ea typeface="思源黑体 CN"/>
              </a:rPr>
              <a:t>在此输入正文内容，介绍产品的一项核心能力。建议每页只讲一件事，用一句结论加两三个支撑点。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页面标题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298448"/>
            <a:ext cx="1097280" cy="457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7C3AED"/>
                </a:solidFill>
                <a:latin typeface="Montserrat"/>
                <a:ea typeface="Montserrat"/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70914"/>
                </a:solidFill>
                <a:latin typeface="思源黑体 CN"/>
                <a:ea typeface="思源黑体 CN"/>
              </a:rPr>
              <a:t>页面标题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98448"/>
            <a:ext cx="10972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A8FA3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功能亮点示例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85800" y="1828800"/>
            <a:ext cx="3383280" cy="3931920"/>
            <a:chOff x="685800" y="1828800"/>
            <a:chExt cx="3383280" cy="393192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383280" cy="3931920"/>
            </a:xfrm>
            <a:prstGeom prst="roundRect">
              <a:avLst>
                <a:gd name="adj" fmla="val 6000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Oval 6"/>
            <p:cNvSpPr/>
            <p:nvPr/>
          </p:nvSpPr>
          <p:spPr>
            <a:xfrm>
              <a:off x="1051560" y="224028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7C3AED"/>
                </a:gs>
                <a:gs pos="100000">
                  <a:srgbClr val="22D3EE"/>
                </a:gs>
              </a:gsLst>
              <a:lin ang="2700000" scaled="0"/>
            </a:gradFill>
            <a:ln>
              <a:noFill/>
            </a:ln>
            <a:effectLst>
              <a:glow rad="127000">
                <a:srgbClr val="22D3EE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TextBox 7"/>
            <p:cNvSpPr txBox="1"/>
            <p:nvPr/>
          </p:nvSpPr>
          <p:spPr>
            <a:xfrm>
              <a:off x="1051560" y="324612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功能名称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1560" y="3794760"/>
              <a:ext cx="2651760" cy="1463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35000"/>
                </a:lnSpc>
              </a:pPr>
              <a:r>
                <a:rPr sz="1200" b="0">
                  <a:solidFill>
                    <a:srgbClr val="A8AFCF"/>
                  </a:solidFill>
                  <a:latin typeface="思源黑体 CN"/>
                  <a:ea typeface="思源黑体 CN"/>
                </a:rPr>
                <a:t>在此输入功能描述文字，一两句话说清楚它解决了什么问题。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343400" y="1828800"/>
            <a:ext cx="3383280" cy="3931920"/>
            <a:chOff x="4343400" y="1828800"/>
            <a:chExt cx="3383280" cy="3931920"/>
          </a:xfrm>
        </p:grpSpPr>
        <p:sp>
          <p:nvSpPr>
            <p:cNvPr id="11" name="Rounded Rectangle 10"/>
            <p:cNvSpPr/>
            <p:nvPr/>
          </p:nvSpPr>
          <p:spPr>
            <a:xfrm>
              <a:off x="4343400" y="1828800"/>
              <a:ext cx="3383280" cy="3931920"/>
            </a:xfrm>
            <a:prstGeom prst="roundRect">
              <a:avLst>
                <a:gd name="adj" fmla="val 6000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Oval 11"/>
            <p:cNvSpPr/>
            <p:nvPr/>
          </p:nvSpPr>
          <p:spPr>
            <a:xfrm>
              <a:off x="4709160" y="224028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7C3AED"/>
                </a:gs>
                <a:gs pos="100000">
                  <a:srgbClr val="22D3EE"/>
                </a:gs>
              </a:gsLst>
              <a:lin ang="2700000" scaled="0"/>
            </a:gradFill>
            <a:ln>
              <a:noFill/>
            </a:ln>
            <a:effectLst>
              <a:glow rad="127000">
                <a:srgbClr val="22D3EE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TextBox 12"/>
            <p:cNvSpPr txBox="1"/>
            <p:nvPr/>
          </p:nvSpPr>
          <p:spPr>
            <a:xfrm>
              <a:off x="4709160" y="324612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功能名称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09160" y="3794760"/>
              <a:ext cx="2651760" cy="1463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35000"/>
                </a:lnSpc>
              </a:pPr>
              <a:r>
                <a:rPr sz="1200" b="0">
                  <a:solidFill>
                    <a:srgbClr val="A8AFCF"/>
                  </a:solidFill>
                  <a:latin typeface="思源黑体 CN"/>
                  <a:ea typeface="思源黑体 CN"/>
                </a:rPr>
                <a:t>在此输入功能描述文字，一两句话说清楚它解决了什么问题。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001000" y="1828800"/>
            <a:ext cx="3383280" cy="3931920"/>
            <a:chOff x="8001000" y="1828800"/>
            <a:chExt cx="3383280" cy="3931920"/>
          </a:xfrm>
        </p:grpSpPr>
        <p:sp>
          <p:nvSpPr>
            <p:cNvPr id="16" name="Rounded Rectangle 15"/>
            <p:cNvSpPr/>
            <p:nvPr/>
          </p:nvSpPr>
          <p:spPr>
            <a:xfrm>
              <a:off x="8001000" y="1828800"/>
              <a:ext cx="3383280" cy="3931920"/>
            </a:xfrm>
            <a:prstGeom prst="roundRect">
              <a:avLst>
                <a:gd name="adj" fmla="val 6000"/>
              </a:avLst>
            </a:prstGeom>
            <a:solidFill>
              <a:srgbClr val="FFFFFF">
                <a:alpha val="6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Oval 16"/>
            <p:cNvSpPr/>
            <p:nvPr/>
          </p:nvSpPr>
          <p:spPr>
            <a:xfrm>
              <a:off x="8366760" y="224028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7C3AED"/>
                </a:gs>
                <a:gs pos="100000">
                  <a:srgbClr val="22D3EE"/>
                </a:gs>
              </a:gsLst>
              <a:lin ang="2700000" scaled="0"/>
            </a:gradFill>
            <a:ln>
              <a:noFill/>
            </a:ln>
            <a:effectLst>
              <a:glow rad="127000">
                <a:srgbClr val="22D3EE">
                  <a:alpha val="35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8366760" y="3246120"/>
              <a:ext cx="2743200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>
                  <a:solidFill>
                    <a:srgbClr val="FFFFFF"/>
                  </a:solidFill>
                  <a:latin typeface="思源黑体 CN"/>
                  <a:ea typeface="思源黑体 CN"/>
                </a:rPr>
                <a:t>功能名称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366760" y="3794760"/>
              <a:ext cx="2651760" cy="1463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lnSpc>
                  <a:spcPct val="135000"/>
                </a:lnSpc>
              </a:pPr>
              <a:r>
                <a:rPr sz="1200" b="0">
                  <a:solidFill>
                    <a:srgbClr val="A8AFCF"/>
                  </a:solidFill>
                  <a:latin typeface="思源黑体 CN"/>
                  <a:ea typeface="思源黑体 CN"/>
                </a:rPr>
                <a:t>在此输入功能描述文字，一两句话说清楚它解决了什么问题。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22D3EE"/>
                </a:solidFill>
                <a:latin typeface="Montserrat"/>
                <a:ea typeface="Montserrat"/>
              </a:rPr>
              <a:t>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思源黑体 CN"/>
                <a:ea typeface="思源黑体 CN"/>
              </a:rPr>
              <a:t>核心参数示例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XX</a:t>
            </a:r>
          </a:p>
          <a:p>
            <a:pPr algn="l"/>
            <a:r>
              <a:rPr sz="2200" b="1">
                <a:solidFill>
                  <a:srgbClr val="22D3EE"/>
                </a:solidFill>
                <a:latin typeface="Montserrat"/>
                <a:ea typeface="Montserrat"/>
              </a:rPr>
              <a:t>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黑体 CN"/>
                <a:ea typeface="思源黑体 CN"/>
              </a:rPr>
              <a:t>参数名称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在此输入参数说明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37744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XX</a:t>
            </a:r>
          </a:p>
          <a:p>
            <a:pPr algn="l"/>
            <a:r>
              <a:rPr sz="2200" b="1">
                <a:solidFill>
                  <a:srgbClr val="22D3EE"/>
                </a:solidFill>
                <a:latin typeface="Montserrat"/>
                <a:ea typeface="Montserrat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黑体 CN"/>
                <a:ea typeface="思源黑体 CN"/>
              </a:rPr>
              <a:t>参数名称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4348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在此输入参数说明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XX</a:t>
            </a:r>
          </a:p>
          <a:p>
            <a:pPr algn="l"/>
            <a:r>
              <a:rPr sz="2200" b="1">
                <a:solidFill>
                  <a:srgbClr val="22D3EE"/>
                </a:solidFill>
                <a:latin typeface="Montserrat"/>
                <a:ea typeface="Montserrat"/>
              </a:rPr>
              <a:t>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黑体 CN"/>
                <a:ea typeface="思源黑体 CN"/>
              </a:rPr>
              <a:t>参数名称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348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在此输入参数说明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37744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XX</a:t>
            </a:r>
          </a:p>
          <a:p>
            <a:pPr algn="l"/>
            <a:r>
              <a:rPr sz="2200" b="1">
                <a:solidFill>
                  <a:srgbClr val="22D3EE"/>
                </a:solidFill>
                <a:latin typeface="Montserrat"/>
                <a:ea typeface="Montserrat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黑体 CN"/>
                <a:ea typeface="思源黑体 CN"/>
              </a:rPr>
              <a:t>参数名称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4348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在此输入参数说明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spc="300">
                <a:solidFill>
                  <a:srgbClr val="7C3AED"/>
                </a:solidFill>
                <a:latin typeface="Montserrat"/>
                <a:ea typeface="Montserrat"/>
              </a:rP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70914"/>
                </a:solidFill>
                <a:latin typeface="思源黑体 CN"/>
                <a:ea typeface="思源黑体 CN"/>
              </a:rPr>
              <a:t>参数对比示例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A8FA3"/>
                </a:solidFill>
                <a:latin typeface="Montserrat"/>
                <a:ea typeface="Montserrat"/>
              </a:rPr>
              <a:t>XINGYAO LAUNCH 2027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789920" cy="3291840"/>
        </p:xfrm>
        <a:graphic>
          <a:graphicData uri="http://schemas.openxmlformats.org/drawingml/2006/table">
            <a:tbl>
              <a:tblPr firstRow="0" bandRow="0"/>
              <a:tblGrid>
                <a:gridCol w="2697480"/>
                <a:gridCol w="2697480"/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参数</a:t>
                      </a:r>
                    </a:p>
                  </a:txBody>
                  <a:tcPr marL="73152" marR="731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上一代</a:t>
                      </a:r>
                    </a:p>
                  </a:txBody>
                  <a:tcPr marL="73152" marR="731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本代</a:t>
                      </a:r>
                    </a:p>
                  </a:txBody>
                  <a:tcPr marL="73152" marR="731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提升</a:t>
                      </a:r>
                    </a:p>
                  </a:txBody>
                  <a:tcPr marL="73152" marR="73152" anchor="ctr"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参数名称 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+XX%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参数名称 2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+XX%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参数名称 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+XX%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参数名称 4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+XX%</a:t>
                      </a:r>
                    </a:p>
                  </a:txBody>
                  <a:tcPr marL="73152" marR="73152" anchor="ctr">
                    <a:solidFill>
                      <a:srgbClr val="F4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参数名称 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XX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+XX%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do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914400" y="0"/>
            <a:ext cx="5669280" cy="6858000"/>
          </a:xfrm>
          <a:prstGeom prst="parallelogram">
            <a:avLst>
              <a:gd name="adj" fmla="val 22000"/>
            </a:avLst>
          </a:prstGeom>
          <a:gradFill rotWithShape="1">
            <a:gsLst>
              <a:gs pos="0">
                <a:srgbClr val="1E1B4B"/>
              </a:gs>
              <a:gs pos="100000">
                <a:srgbClr val="7C3AED">
                  <a:alpha val="7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黑体 CN"/>
                <a:ea typeface="思源黑体 CN"/>
              </a:rPr>
              <a:t>页面标题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CCE8"/>
                </a:solidFill>
                <a:latin typeface="思源黑体 CN"/>
                <a:ea typeface="思源黑体 CN"/>
              </a:rPr>
              <a:t>在此输入一句页面说明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spc="200">
                <a:solidFill>
                  <a:srgbClr val="8B93B8"/>
                </a:solidFill>
                <a:latin typeface="Montserrat"/>
                <a:ea typeface="Montserrat"/>
              </a:rPr>
              <a:t>XINGYAO LAUNCH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5-n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0" b="1">
                <a:gradFill>
                  <a:gsLst>
                    <a:gs pos="0">
                      <a:srgbClr val="7C3AED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46888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黑体 CN"/>
                <a:ea typeface="思源黑体 CN"/>
              </a:rPr>
              <a:t>在这里输入一句有力量的话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023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B93B8"/>
                </a:solidFill>
                <a:latin typeface="思源黑体 CN"/>
                <a:ea typeface="思源黑体 CN"/>
              </a:rPr>
              <a:t>—— 署名 / 职务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-spac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>
                <a:gradFill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Montserrat"/>
                <a:ea typeface="Montserra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思源黑体 CN"/>
                <a:ea typeface="思源黑体 CN"/>
              </a:rPr>
              <a:t>感谢观看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20624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92640" y="420624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+mn-lt"/>
                <a:ea typeface="+mn-ea"/>
              </a:rPr>
              <a:t>二维码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852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B93B8"/>
                </a:solidFill>
                <a:latin typeface="思源黑体 CN"/>
                <a:ea typeface="思源黑体 CN"/>
              </a:rPr>
              <a:t>扫码关注星曜科技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77240" y="621792"/>
            <a:ext cx="2029968" cy="347472"/>
            <a:chOff x="777240" y="621792"/>
            <a:chExt cx="2029968" cy="347472"/>
          </a:xfrm>
        </p:grpSpPr>
        <p:sp>
          <p:nvSpPr>
            <p:cNvPr id="8" name="4-Point Star 7"/>
            <p:cNvSpPr/>
            <p:nvPr/>
          </p:nvSpPr>
          <p:spPr>
            <a:xfrm>
              <a:off x="777240" y="640080"/>
              <a:ext cx="310896" cy="310896"/>
            </a:xfrm>
            <a:prstGeom prst="star4">
              <a:avLst/>
            </a:prstGeom>
            <a:solidFill>
              <a:srgbClr val="22D3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1161288" y="621792"/>
              <a:ext cx="164592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300" b="1" spc="200">
                  <a:solidFill>
                    <a:srgbClr val="FFFFFF"/>
                  </a:solidFill>
                  <a:latin typeface="Montserrat"/>
                  <a:ea typeface="Montserrat"/>
                </a:rPr>
                <a:t>XINGYAO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