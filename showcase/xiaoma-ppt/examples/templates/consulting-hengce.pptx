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底座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起点</c:v>
                </c:pt>
                <c:pt idx="1">
                  <c:v>因素一</c:v>
                </c:pt>
                <c:pt idx="2">
                  <c:v>因素二</c:v>
                </c:pt>
                <c:pt idx="3">
                  <c:v>因素三</c:v>
                </c:pt>
                <c:pt idx="4">
                  <c:v>因素四</c:v>
                </c:pt>
                <c:pt idx="5">
                  <c:v>终点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130</c:v>
                </c:pt>
                <c:pt idx="3">
                  <c:v>110</c:v>
                </c:pt>
                <c:pt idx="4">
                  <c:v>125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起点</c:v>
                </c:pt>
                <c:pt idx="1">
                  <c:v>因素一</c:v>
                </c:pt>
                <c:pt idx="2">
                  <c:v>因素二</c:v>
                </c:pt>
                <c:pt idx="3">
                  <c:v>因素三</c:v>
                </c:pt>
                <c:pt idx="4">
                  <c:v>因素四</c:v>
                </c:pt>
                <c:pt idx="5">
                  <c:v>终点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30</c:v>
                </c:pt>
                <c:pt idx="2">
                  <c:v>-20</c:v>
                </c:pt>
                <c:pt idx="3">
                  <c:v>15</c:v>
                </c:pt>
                <c:pt idx="4">
                  <c:v>20</c:v>
                </c:pt>
                <c:pt idx="5">
                  <c:v>145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sulting-sky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611880"/>
            <a:ext cx="731520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onsulting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828800" cy="4424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737360"/>
            <a:ext cx="4114800" cy="1737360"/>
          </a:xfrm>
        </p:spPr>
        <p:txBody>
          <a:bodyPr anchor="b"/>
          <a:lstStyle>
            <a:lvl1pPr algn="l">
              <a:defRPr sz="30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单击此处添加报告标题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840480"/>
            <a:ext cx="4114800" cy="822960"/>
          </a:xfrm>
        </p:spPr>
        <p:txBody>
          <a:bodyPr/>
          <a:lstStyle>
            <a:lvl1pPr algn="l" marL="0" indent="0">
              <a:buNone/>
              <a:defRPr sz="1400">
                <a:solidFill>
                  <a:srgbClr val="C9D4E3"/>
                </a:solidFill>
              </a:defRPr>
            </a:lvl1pPr>
          </a:lstStyle>
          <a:p>
            <a:r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行动标题：用一句完整的话写出本页结论，不超过两行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带要点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1600200"/>
            <a:ext cx="3136392" cy="4526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549640" y="1600200"/>
            <a:ext cx="313639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77824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chemeClr val="tx2"/>
                </a:solidFill>
                <a:latin typeface="+mn-lt"/>
                <a:ea typeface="+mn-ea"/>
              </a:rPr>
              <a:t>要点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行动标题：用一句完整的话写出本页结论，不超过两行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7772400" cy="4480560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行动标题：用一句完整的话写出本页结论，不超过两行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议程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6400800"/>
            <a:ext cx="11183112" cy="7315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566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600200"/>
            <a:ext cx="11155680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2920" y="6473952"/>
            <a:ext cx="457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5680" y="6473952"/>
            <a:ext cx="54864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 b="0">
          <a:solidFill>
            <a:schemeClr val="tx2"/>
          </a:solidFill>
          <a:latin typeface="+mj-lt"/>
          <a:ea typeface="+mj-e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accent4"/>
          </a:solidFill>
          <a:latin typeface="+mn-lt"/>
          <a:ea typeface="+mn-e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模板使用说明（本页隐藏，不会放映）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chemeClr val="tx1"/>
                </a:solidFill>
                <a:latin typeface="+mn-lt"/>
                <a:ea typeface="+mn-ea"/>
              </a:rPr>
              <a:t>1. 标题用「行动标题」：一句完整的话写出本页结论，不超过两行。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chemeClr val="tx1"/>
                </a:solidFill>
                <a:latin typeface="+mn-lt"/>
                <a:ea typeface="+mn-ea"/>
              </a:rPr>
              <a:t>2. 右上角进度标签标出当前所在章节，其余章节为灰色。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chemeClr val="tx1"/>
                </a:solidFill>
                <a:latin typeface="+mn-lt"/>
                <a:ea typeface="+mn-ea"/>
              </a:rPr>
              <a:t>3. 每页左下角注明资料来源；单位写在标题下方。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chemeClr val="tx1"/>
                </a:solidFill>
                <a:latin typeface="+mn-lt"/>
                <a:ea typeface="+mn-ea"/>
              </a:rPr>
              <a:t>4. 图表颜色只用主题色：深蓝为主，青绿表示重点，琥珀色表示风险。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chemeClr val="tx1"/>
                </a:solidFill>
                <a:latin typeface="+mn-lt"/>
                <a:ea typeface="+mn-ea"/>
              </a:rPr>
              <a:t>5. 正文字号不小于 11pt；一页只讲一个结论。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chemeClr val="tx1"/>
                </a:solidFill>
                <a:latin typeface="+mn-lt"/>
                <a:ea typeface="+mn-ea"/>
              </a:rPr>
              <a:t>6. 交付前删除本页，并把封面的「讨论稿」改为「终稿」。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项目名称：报告主标题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为XX客户准备的讨论文件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4E3"/>
                </a:solidFill>
                <a:latin typeface="+mn-lt"/>
                <a:ea typeface="+mn-ea"/>
              </a:rPr>
              <a:t>202X年X月　|　北京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DA2BF"/>
                </a:solidFill>
                <a:latin typeface="+mn-lt"/>
                <a:ea typeface="+mn-ea"/>
              </a:rPr>
              <a:t>讨论稿 · 严格保密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1　　议题一：在此输入议题名称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2　　议题二：在此输入议题名称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3　　议题三：在此输入议题名称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4　　议题四：在此输入议题名称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5　　议题五：在此输入议题名称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1　　议题一：在此输入议题名称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chemeClr val="tx2"/>
                </a:solidFill>
                <a:latin typeface="+mn-lt"/>
                <a:ea typeface="+mn-ea"/>
              </a:rPr>
              <a:t>2　　议题二：在此输入议题名称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3　　议题三：在此输入议题名称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4　　议题四：在此输入议题名称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5　　议题五：在此输入议题名称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523744"/>
            <a:ext cx="73152" cy="384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518904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6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02920" y="1655064"/>
            <a:ext cx="10972800" cy="886968"/>
            <a:chOff x="502920" y="1655064"/>
            <a:chExt cx="10972800" cy="886968"/>
          </a:xfrm>
        </p:grpSpPr>
        <p:sp>
          <p:nvSpPr>
            <p:cNvPr id="8" name="Rectangle 7"/>
            <p:cNvSpPr/>
            <p:nvPr/>
          </p:nvSpPr>
          <p:spPr>
            <a:xfrm>
              <a:off x="502920" y="1691640"/>
              <a:ext cx="457200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502920" y="1691640"/>
              <a:ext cx="45720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chemeClr val="bg1"/>
                  </a:solidFill>
                  <a:latin typeface="+mn-lt"/>
                  <a:ea typeface="+mn-ea"/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43000" y="1655064"/>
              <a:ext cx="1033272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chemeClr val="tx2"/>
                  </a:solidFill>
                  <a:latin typeface="+mn-lt"/>
                  <a:ea typeface="+mn-ea"/>
                </a:rPr>
                <a:t>核心结论一：在此输入一句话结论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43000" y="2039112"/>
              <a:ext cx="1033272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支撑论据：在此输入数据或事实，说明为什么得出这个结论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02920" y="2734056"/>
            <a:ext cx="10972800" cy="886968"/>
            <a:chOff x="502920" y="2734056"/>
            <a:chExt cx="10972800" cy="886968"/>
          </a:xfrm>
        </p:grpSpPr>
        <p:sp>
          <p:nvSpPr>
            <p:cNvPr id="13" name="Rectangle 12"/>
            <p:cNvSpPr/>
            <p:nvPr/>
          </p:nvSpPr>
          <p:spPr>
            <a:xfrm>
              <a:off x="502920" y="2770632"/>
              <a:ext cx="457200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502920" y="2770632"/>
              <a:ext cx="45720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chemeClr val="bg1"/>
                  </a:solidFill>
                  <a:latin typeface="+mn-lt"/>
                  <a:ea typeface="+mn-ea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43000" y="2734056"/>
              <a:ext cx="1033272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chemeClr val="tx2"/>
                  </a:solidFill>
                  <a:latin typeface="+mn-lt"/>
                  <a:ea typeface="+mn-ea"/>
                </a:rPr>
                <a:t>核心结论二：在此输入一句话结论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43000" y="3118104"/>
              <a:ext cx="1033272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支撑论据：在此输入数据或事实，说明为什么得出这个结论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02920" y="3813048"/>
            <a:ext cx="10972800" cy="886968"/>
            <a:chOff x="502920" y="3813048"/>
            <a:chExt cx="10972800" cy="886968"/>
          </a:xfrm>
        </p:grpSpPr>
        <p:sp>
          <p:nvSpPr>
            <p:cNvPr id="18" name="Rectangle 17"/>
            <p:cNvSpPr/>
            <p:nvPr/>
          </p:nvSpPr>
          <p:spPr>
            <a:xfrm>
              <a:off x="502920" y="3849624"/>
              <a:ext cx="457200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TextBox 18"/>
            <p:cNvSpPr txBox="1"/>
            <p:nvPr/>
          </p:nvSpPr>
          <p:spPr>
            <a:xfrm>
              <a:off x="502920" y="3849624"/>
              <a:ext cx="45720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chemeClr val="bg1"/>
                  </a:solidFill>
                  <a:latin typeface="+mn-lt"/>
                  <a:ea typeface="+mn-ea"/>
                </a:rPr>
                <a:t>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43000" y="3813048"/>
              <a:ext cx="1033272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chemeClr val="tx2"/>
                  </a:solidFill>
                  <a:latin typeface="+mn-lt"/>
                  <a:ea typeface="+mn-ea"/>
                </a:rPr>
                <a:t>核心结论三：在此输入一句话结论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43000" y="4197096"/>
              <a:ext cx="1033272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支撑论据：在此输入数据或事实，说明为什么得出这个结论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02920" y="4892040"/>
            <a:ext cx="10972800" cy="886968"/>
            <a:chOff x="502920" y="4892040"/>
            <a:chExt cx="10972800" cy="886968"/>
          </a:xfrm>
        </p:grpSpPr>
        <p:sp>
          <p:nvSpPr>
            <p:cNvPr id="23" name="Rectangle 22"/>
            <p:cNvSpPr/>
            <p:nvPr/>
          </p:nvSpPr>
          <p:spPr>
            <a:xfrm>
              <a:off x="502920" y="4928616"/>
              <a:ext cx="457200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TextBox 23"/>
            <p:cNvSpPr txBox="1"/>
            <p:nvPr/>
          </p:nvSpPr>
          <p:spPr>
            <a:xfrm>
              <a:off x="502920" y="4928616"/>
              <a:ext cx="45720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chemeClr val="bg1"/>
                  </a:solidFill>
                  <a:latin typeface="+mn-lt"/>
                  <a:ea typeface="+mn-ea"/>
                </a:rPr>
                <a:t>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43000" y="4892040"/>
              <a:ext cx="1033272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chemeClr val="tx2"/>
                  </a:solidFill>
                  <a:latin typeface="+mn-lt"/>
                  <a:ea typeface="+mn-ea"/>
                </a:rPr>
                <a:t>核心结论四：在此输入一句话结论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5276088"/>
              <a:ext cx="1033272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支撑论据：在此输入数据或事实，说明为什么得出这个结论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02920" y="61447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chemeClr val="accent4"/>
                </a:solidFill>
                <a:latin typeface="+mn-lt"/>
                <a:ea typeface="+mn-ea"/>
              </a:rPr>
              <a:t>资料来源：XXX；衡策咨询分析</a:t>
            </a:r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5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5832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8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chemeClr val="accent4"/>
                </a:solidFill>
                <a:latin typeface="+mn-lt"/>
                <a:ea typeface="+mn-ea"/>
              </a:rPr>
              <a:t>单位：XX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chemeClr val="accent4"/>
                </a:solidFill>
                <a:latin typeface="+mn-lt"/>
                <a:ea typeface="+mn-ea"/>
              </a:rPr>
              <a:t>资料来源：XXX；衡策咨询分析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2×2 矩阵示例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7863840" cy="137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760720" y="1737360"/>
            <a:ext cx="13716" cy="42062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011680" y="1828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象限一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28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象限二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97763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象限三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97763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象限四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2377440"/>
            <a:ext cx="731520" cy="7315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291840" y="274320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863840" y="4572000"/>
            <a:ext cx="411480" cy="4114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023360" y="4846320"/>
            <a:ext cx="548640" cy="5486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84080" y="3703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维度一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↑ 维度二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447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chemeClr val="accent4"/>
                </a:solidFill>
                <a:latin typeface="+mn-lt"/>
                <a:ea typeface="+mn-ea"/>
              </a:rPr>
              <a:t>资料来源：XXX；衡策咨询分析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瀑布图示例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chemeClr val="accent4"/>
                </a:solidFill>
                <a:latin typeface="+mn-lt"/>
                <a:ea typeface="+mn-ea"/>
              </a:rPr>
              <a:t>单位：XX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737360"/>
          <a:ext cx="111556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1447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chemeClr val="accent4"/>
                </a:solidFill>
                <a:latin typeface="+mn-lt"/>
                <a:ea typeface="+mn-ea"/>
              </a:rPr>
              <a:t>资料来源：XXX；衡策咨询分析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能力评估示例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37360"/>
          <a:ext cx="11155680" cy="3566160"/>
        </p:xfrm>
        <a:graphic>
          <a:graphicData uri="http://schemas.openxmlformats.org/drawingml/2006/table">
            <a:tbl>
              <a:tblPr firstRow="0" bandRow="0"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评估维度</a:t>
                      </a: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公司 A</a:t>
                      </a: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公司 B</a:t>
                      </a: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公司 C</a:t>
                      </a: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公司 D</a:t>
                      </a: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维度一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维度二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维度三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维度四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维度五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Oval 8"/>
          <p:cNvSpPr/>
          <p:nvPr/>
        </p:nvSpPr>
        <p:spPr>
          <a:xfrm>
            <a:off x="4343400" y="23957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ie 9"/>
          <p:cNvSpPr/>
          <p:nvPr/>
        </p:nvSpPr>
        <p:spPr>
          <a:xfrm>
            <a:off x="4343400" y="2395728"/>
            <a:ext cx="292608" cy="292608"/>
          </a:xfrm>
          <a:prstGeom prst="pie">
            <a:avLst>
              <a:gd name="adj1" fmla="val -9000000"/>
              <a:gd name="adj2" fmla="val 9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574536" y="23957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ie 11"/>
          <p:cNvSpPr/>
          <p:nvPr/>
        </p:nvSpPr>
        <p:spPr>
          <a:xfrm>
            <a:off x="6574536" y="2395728"/>
            <a:ext cx="292608" cy="292608"/>
          </a:xfrm>
          <a:prstGeom prst="pie">
            <a:avLst>
              <a:gd name="adj1" fmla="val -9000000"/>
              <a:gd name="adj2" fmla="val 18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805672" y="23957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ie 13"/>
          <p:cNvSpPr/>
          <p:nvPr/>
        </p:nvSpPr>
        <p:spPr>
          <a:xfrm>
            <a:off x="8805672" y="2395728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036808" y="23957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1036808" y="2395728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343400" y="29855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343400" y="298551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574536" y="29855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ie 19"/>
          <p:cNvSpPr/>
          <p:nvPr/>
        </p:nvSpPr>
        <p:spPr>
          <a:xfrm>
            <a:off x="6574536" y="2985516"/>
            <a:ext cx="292608" cy="292608"/>
          </a:xfrm>
          <a:prstGeom prst="pie">
            <a:avLst>
              <a:gd name="adj1" fmla="val -9000000"/>
              <a:gd name="adj2" fmla="val 9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805672" y="29855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ie 21"/>
          <p:cNvSpPr/>
          <p:nvPr/>
        </p:nvSpPr>
        <p:spPr>
          <a:xfrm>
            <a:off x="8805672" y="2985516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1036808" y="29855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Pie 23"/>
          <p:cNvSpPr/>
          <p:nvPr/>
        </p:nvSpPr>
        <p:spPr>
          <a:xfrm>
            <a:off x="11036808" y="2985516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343400" y="357530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ie 25"/>
          <p:cNvSpPr/>
          <p:nvPr/>
        </p:nvSpPr>
        <p:spPr>
          <a:xfrm>
            <a:off x="4343400" y="3575304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574536" y="357530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574536" y="3575304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805672" y="357530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ie 29"/>
          <p:cNvSpPr/>
          <p:nvPr/>
        </p:nvSpPr>
        <p:spPr>
          <a:xfrm>
            <a:off x="8805672" y="3575304"/>
            <a:ext cx="292608" cy="292608"/>
          </a:xfrm>
          <a:prstGeom prst="pie">
            <a:avLst>
              <a:gd name="adj1" fmla="val -9000000"/>
              <a:gd name="adj2" fmla="val 18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1036808" y="357530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Pie 31"/>
          <p:cNvSpPr/>
          <p:nvPr/>
        </p:nvSpPr>
        <p:spPr>
          <a:xfrm>
            <a:off x="11036808" y="3575304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343400" y="416509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ie 33"/>
          <p:cNvSpPr/>
          <p:nvPr/>
        </p:nvSpPr>
        <p:spPr>
          <a:xfrm>
            <a:off x="4343400" y="4165091"/>
            <a:ext cx="292608" cy="292608"/>
          </a:xfrm>
          <a:prstGeom prst="pie">
            <a:avLst>
              <a:gd name="adj1" fmla="val -9000000"/>
              <a:gd name="adj2" fmla="val 9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574536" y="416509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ie 35"/>
          <p:cNvSpPr/>
          <p:nvPr/>
        </p:nvSpPr>
        <p:spPr>
          <a:xfrm>
            <a:off x="6574536" y="4165091"/>
            <a:ext cx="292608" cy="292608"/>
          </a:xfrm>
          <a:prstGeom prst="pie">
            <a:avLst>
              <a:gd name="adj1" fmla="val -9000000"/>
              <a:gd name="adj2" fmla="val 18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805672" y="416509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Pie 37"/>
          <p:cNvSpPr/>
          <p:nvPr/>
        </p:nvSpPr>
        <p:spPr>
          <a:xfrm>
            <a:off x="8805672" y="4165091"/>
            <a:ext cx="292608" cy="292608"/>
          </a:xfrm>
          <a:prstGeom prst="pie">
            <a:avLst>
              <a:gd name="adj1" fmla="val -9000000"/>
              <a:gd name="adj2" fmla="val 18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1036808" y="416509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Pie 39"/>
          <p:cNvSpPr/>
          <p:nvPr/>
        </p:nvSpPr>
        <p:spPr>
          <a:xfrm>
            <a:off x="11036808" y="4165091"/>
            <a:ext cx="292608" cy="292608"/>
          </a:xfrm>
          <a:prstGeom prst="pie">
            <a:avLst>
              <a:gd name="adj1" fmla="val -9000000"/>
              <a:gd name="adj2" fmla="val 9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343400" y="47548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ie 41"/>
          <p:cNvSpPr/>
          <p:nvPr/>
        </p:nvSpPr>
        <p:spPr>
          <a:xfrm>
            <a:off x="4343400" y="4754880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574536" y="47548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Pie 43"/>
          <p:cNvSpPr/>
          <p:nvPr/>
        </p:nvSpPr>
        <p:spPr>
          <a:xfrm>
            <a:off x="6574536" y="4754880"/>
            <a:ext cx="292608" cy="292608"/>
          </a:xfrm>
          <a:prstGeom prst="pie">
            <a:avLst>
              <a:gd name="adj1" fmla="val -9000000"/>
              <a:gd name="adj2" fmla="val 18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805672" y="47548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ie 45"/>
          <p:cNvSpPr/>
          <p:nvPr/>
        </p:nvSpPr>
        <p:spPr>
          <a:xfrm>
            <a:off x="8805672" y="4754880"/>
            <a:ext cx="292608" cy="292608"/>
          </a:xfrm>
          <a:prstGeom prst="pie">
            <a:avLst>
              <a:gd name="adj1" fmla="val -9000000"/>
              <a:gd name="adj2" fmla="val 90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1036808" y="47548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Pie 47"/>
          <p:cNvSpPr/>
          <p:nvPr/>
        </p:nvSpPr>
        <p:spPr>
          <a:xfrm>
            <a:off x="11036808" y="4754880"/>
            <a:ext cx="292608" cy="292608"/>
          </a:xfrm>
          <a:prstGeom prst="pie">
            <a:avLst>
              <a:gd name="adj1" fmla="val -90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02920" y="61447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chemeClr val="accent4"/>
                </a:solidFill>
                <a:latin typeface="+mn-lt"/>
                <a:ea typeface="+mn-ea"/>
              </a:rPr>
              <a:t>资料来源：XXX；衡策咨询分析</a:t>
            </a:r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实施路线图示例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19688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26080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6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8624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4896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3032" y="16916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chemeClr val="tx2"/>
                </a:solidFill>
                <a:latin typeface="+mn-lt"/>
                <a:ea typeface="+mn-ea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工作模块一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15184"/>
            <a:ext cx="11155680" cy="7315"/>
          </a:xfrm>
          <a:prstGeom prst="rect">
            <a:avLst/>
          </a:prstGeom>
          <a:solidFill>
            <a:srgbClr val="E3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971800" y="2176272"/>
            <a:ext cx="2194560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2724912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工作模块二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36976"/>
            <a:ext cx="11155680" cy="7315"/>
          </a:xfrm>
          <a:prstGeom prst="rect">
            <a:avLst/>
          </a:prstGeom>
          <a:solidFill>
            <a:srgbClr val="E3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794760" y="2798064"/>
            <a:ext cx="2926080" cy="2926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3346704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工作模块三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58768"/>
            <a:ext cx="11155680" cy="7315"/>
          </a:xfrm>
          <a:prstGeom prst="rect">
            <a:avLst/>
          </a:prstGeom>
          <a:solidFill>
            <a:srgbClr val="E3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617720" y="3419856"/>
            <a:ext cx="3657600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2920" y="3968496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工作模块四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11155680" cy="7315"/>
          </a:xfrm>
          <a:prstGeom prst="rect">
            <a:avLst/>
          </a:prstGeom>
          <a:solidFill>
            <a:srgbClr val="E3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40680" y="4041648"/>
            <a:ext cx="2194560" cy="2926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2920" y="4590288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工作模块五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02352"/>
            <a:ext cx="11155680" cy="7315"/>
          </a:xfrm>
          <a:prstGeom prst="rect">
            <a:avLst/>
          </a:prstGeom>
          <a:solidFill>
            <a:srgbClr val="E3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63640" y="4663440"/>
            <a:ext cx="2926080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" y="52120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工作模块六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724144"/>
            <a:ext cx="11155680" cy="7315"/>
          </a:xfrm>
          <a:prstGeom prst="rect">
            <a:avLst/>
          </a:prstGeom>
          <a:solidFill>
            <a:srgbClr val="E3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086600" y="5285232"/>
            <a:ext cx="3657600" cy="2926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Diamond 33"/>
          <p:cNvSpPr/>
          <p:nvPr/>
        </p:nvSpPr>
        <p:spPr>
          <a:xfrm>
            <a:off x="9418320" y="5806440"/>
            <a:ext cx="228600" cy="2286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92640" y="5760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里程碑</a:t>
            </a: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组织架构示例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19688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937760" y="1783080"/>
            <a:ext cx="2286000" cy="640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  <a:ea typeface="+mn-ea"/>
              </a:rPr>
              <a:t>项目指导委员会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91840"/>
            <a:ext cx="219456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工作组一</a:t>
            </a:r>
          </a:p>
        </p:txBody>
      </p:sp>
      <p:cxnSp>
        <p:nvCxnSpPr>
          <p:cNvPr id="12" name="Connector 11"/>
          <p:cNvCxnSpPr>
            <a:stCxn id="8" idx="2"/>
            <a:endCxn id="10" idx="0"/>
          </p:cNvCxnSpPr>
          <p:nvPr/>
        </p:nvCxnSpPr>
        <p:spPr>
          <a:xfrm flipH="1">
            <a:off x="1920240" y="2423160"/>
            <a:ext cx="4160520" cy="868680"/>
          </a:xfrm>
          <a:prstGeom prst="bentConnector3">
            <a:avLst/>
          </a:prstGeom>
          <a:ln>
            <a:solidFill>
              <a:srgbClr val="8D9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069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531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291840"/>
            <a:ext cx="219456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0" y="329184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工作组二</a:t>
            </a:r>
          </a:p>
        </p:txBody>
      </p:sp>
      <p:cxnSp>
        <p:nvCxnSpPr>
          <p:cNvPr id="17" name="Connector 16"/>
          <p:cNvCxnSpPr>
            <a:stCxn id="8" idx="2"/>
            <a:endCxn id="15" idx="0"/>
          </p:cNvCxnSpPr>
          <p:nvPr/>
        </p:nvCxnSpPr>
        <p:spPr>
          <a:xfrm flipH="1">
            <a:off x="4754880" y="2423160"/>
            <a:ext cx="1325880" cy="868680"/>
          </a:xfrm>
          <a:prstGeom prst="bentConnector3">
            <a:avLst/>
          </a:prstGeom>
          <a:ln>
            <a:solidFill>
              <a:srgbClr val="8D9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4069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4531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91840"/>
            <a:ext cx="219456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329184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工作组三</a:t>
            </a:r>
          </a:p>
        </p:txBody>
      </p:sp>
      <p:cxnSp>
        <p:nvCxnSpPr>
          <p:cNvPr id="22" name="Connector 21"/>
          <p:cNvCxnSpPr>
            <a:stCxn id="8" idx="2"/>
            <a:endCxn id="20" idx="0"/>
          </p:cNvCxnSpPr>
          <p:nvPr/>
        </p:nvCxnSpPr>
        <p:spPr>
          <a:xfrm>
            <a:off x="6080760" y="2423160"/>
            <a:ext cx="1508760" cy="868680"/>
          </a:xfrm>
          <a:prstGeom prst="bentConnector3">
            <a:avLst/>
          </a:prstGeom>
          <a:ln>
            <a:solidFill>
              <a:srgbClr val="8D9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0" y="4069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531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3291840"/>
            <a:ext cx="219456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0" y="329184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chemeClr val="tx2"/>
                </a:solidFill>
                <a:latin typeface="+mn-lt"/>
                <a:ea typeface="+mn-ea"/>
              </a:rPr>
              <a:t>工作组四</a:t>
            </a:r>
          </a:p>
        </p:txBody>
      </p:sp>
      <p:cxnSp>
        <p:nvCxnSpPr>
          <p:cNvPr id="27" name="Connector 26"/>
          <p:cNvCxnSpPr>
            <a:stCxn id="8" idx="2"/>
            <a:endCxn id="25" idx="0"/>
          </p:cNvCxnSpPr>
          <p:nvPr/>
        </p:nvCxnSpPr>
        <p:spPr>
          <a:xfrm>
            <a:off x="6080760" y="2423160"/>
            <a:ext cx="4343400" cy="868680"/>
          </a:xfrm>
          <a:prstGeom prst="bentConnector3">
            <a:avLst/>
          </a:prstGeom>
          <a:ln>
            <a:solidFill>
              <a:srgbClr val="8D9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4069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4531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  <a:latin typeface="+mn-lt"/>
                <a:ea typeface="+mn-ea"/>
              </a:rPr>
              <a:t>职责描述</a:t>
            </a:r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推进步骤示例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19688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11" name="Group 10"/>
          <p:cNvGrpSpPr/>
          <p:nvPr/>
        </p:nvGrpSpPr>
        <p:grpSpPr>
          <a:xfrm>
            <a:off x="502920" y="1828800"/>
            <a:ext cx="2331720" cy="3154680"/>
            <a:chOff x="502920" y="1828800"/>
            <a:chExt cx="2331720" cy="3154680"/>
          </a:xfrm>
        </p:grpSpPr>
        <p:sp>
          <p:nvSpPr>
            <p:cNvPr id="8" name="Pentagon 7"/>
            <p:cNvSpPr/>
            <p:nvPr/>
          </p:nvSpPr>
          <p:spPr>
            <a:xfrm>
              <a:off x="502920" y="1828800"/>
              <a:ext cx="2331720" cy="731520"/>
            </a:xfrm>
            <a:prstGeom prst="homePlat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777240" y="1828800"/>
              <a:ext cx="1828800" cy="7315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300" b="1">
                  <a:solidFill>
                    <a:schemeClr val="bg1"/>
                  </a:solidFill>
                  <a:latin typeface="+mn-lt"/>
                  <a:ea typeface="+mn-ea"/>
                </a:rPr>
                <a:t>阶段一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360" y="2788920"/>
              <a:ext cx="2011680" cy="21945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交付成果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743200" y="1828800"/>
            <a:ext cx="2331720" cy="3154680"/>
            <a:chOff x="2743200" y="1828800"/>
            <a:chExt cx="2331720" cy="3154680"/>
          </a:xfrm>
        </p:grpSpPr>
        <p:sp>
          <p:nvSpPr>
            <p:cNvPr id="12" name="Chevron 11"/>
            <p:cNvSpPr/>
            <p:nvPr/>
          </p:nvSpPr>
          <p:spPr>
            <a:xfrm>
              <a:off x="2743200" y="1828800"/>
              <a:ext cx="2331720" cy="73152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TextBox 12"/>
            <p:cNvSpPr txBox="1"/>
            <p:nvPr/>
          </p:nvSpPr>
          <p:spPr>
            <a:xfrm>
              <a:off x="3017520" y="1828800"/>
              <a:ext cx="1828800" cy="7315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300" b="1">
                  <a:solidFill>
                    <a:schemeClr val="bg1"/>
                  </a:solidFill>
                  <a:latin typeface="+mn-lt"/>
                  <a:ea typeface="+mn-ea"/>
                </a:rPr>
                <a:t>阶段二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34640" y="2788920"/>
              <a:ext cx="2011680" cy="21945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交付成果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983480" y="1828800"/>
            <a:ext cx="2331720" cy="3154680"/>
            <a:chOff x="4983480" y="1828800"/>
            <a:chExt cx="2331720" cy="3154680"/>
          </a:xfrm>
        </p:grpSpPr>
        <p:sp>
          <p:nvSpPr>
            <p:cNvPr id="16" name="Chevron 15"/>
            <p:cNvSpPr/>
            <p:nvPr/>
          </p:nvSpPr>
          <p:spPr>
            <a:xfrm>
              <a:off x="4983480" y="1828800"/>
              <a:ext cx="2331720" cy="731520"/>
            </a:xfrm>
            <a:prstGeom prst="chevron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5257800" y="1828800"/>
              <a:ext cx="1828800" cy="7315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300" b="1">
                  <a:solidFill>
                    <a:schemeClr val="bg1"/>
                  </a:solidFill>
                  <a:latin typeface="+mn-lt"/>
                  <a:ea typeface="+mn-ea"/>
                </a:rPr>
                <a:t>阶段三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74920" y="2788920"/>
              <a:ext cx="2011680" cy="21945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交付成果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223760" y="1828800"/>
            <a:ext cx="2331720" cy="3154680"/>
            <a:chOff x="7223760" y="1828800"/>
            <a:chExt cx="2331720" cy="3154680"/>
          </a:xfrm>
        </p:grpSpPr>
        <p:sp>
          <p:nvSpPr>
            <p:cNvPr id="20" name="Chevron 19"/>
            <p:cNvSpPr/>
            <p:nvPr/>
          </p:nvSpPr>
          <p:spPr>
            <a:xfrm>
              <a:off x="7223760" y="1828800"/>
              <a:ext cx="2331720" cy="73152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7498080" y="1828800"/>
              <a:ext cx="1828800" cy="7315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300" b="1">
                  <a:solidFill>
                    <a:schemeClr val="bg1"/>
                  </a:solidFill>
                  <a:latin typeface="+mn-lt"/>
                  <a:ea typeface="+mn-ea"/>
                </a:rPr>
                <a:t>阶段四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15200" y="2788920"/>
              <a:ext cx="2011680" cy="21945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交付成果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464040" y="1828800"/>
            <a:ext cx="2331720" cy="3154680"/>
            <a:chOff x="9464040" y="1828800"/>
            <a:chExt cx="2331720" cy="3154680"/>
          </a:xfrm>
        </p:grpSpPr>
        <p:sp>
          <p:nvSpPr>
            <p:cNvPr id="24" name="Chevron 23"/>
            <p:cNvSpPr/>
            <p:nvPr/>
          </p:nvSpPr>
          <p:spPr>
            <a:xfrm>
              <a:off x="9464040" y="1828800"/>
              <a:ext cx="2331720" cy="731520"/>
            </a:xfrm>
            <a:prstGeom prst="chevron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5" name="TextBox 24"/>
            <p:cNvSpPr txBox="1"/>
            <p:nvPr/>
          </p:nvSpPr>
          <p:spPr>
            <a:xfrm>
              <a:off x="9738360" y="1828800"/>
              <a:ext cx="1828800" cy="7315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300" b="1">
                  <a:solidFill>
                    <a:schemeClr val="bg1"/>
                  </a:solidFill>
                  <a:latin typeface="+mn-lt"/>
                  <a:ea typeface="+mn-ea"/>
                </a:rPr>
                <a:t>阶段五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555480" y="2788920"/>
              <a:ext cx="2011680" cy="21945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关键动作</a:t>
              </a:r>
            </a:p>
            <a:p>
              <a:pPr algn="l">
                <a:lnSpc>
                  <a:spcPct val="140000"/>
                </a:lnSpc>
              </a:pPr>
              <a:r>
                <a:rPr sz="1100" b="0">
                  <a:solidFill>
                    <a:schemeClr val="tx1"/>
                  </a:solidFill>
                  <a:latin typeface="+mn-lt"/>
                  <a:ea typeface="+mn-ea"/>
                </a:rPr>
                <a:t>• 交付成果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02920" y="61447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chemeClr val="accent4"/>
                </a:solidFill>
                <a:latin typeface="+mn-lt"/>
                <a:ea typeface="+mn-ea"/>
              </a:rPr>
              <a:t>资料来源：XXX；衡策咨询分析</a:t>
            </a:r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在此输入正文或插入图表</a:t>
            </a:r>
          </a:p>
        </p:txBody>
      </p:sp>
      <p:sp>
        <p:nvSpPr>
          <p:cNvPr id="4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5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6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52760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40280"/>
            <a:ext cx="2743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• 在此输入要点一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• 在此输入要点二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chemeClr val="tx1"/>
                </a:solidFill>
                <a:latin typeface="+mn-lt"/>
                <a:ea typeface="+mn-ea"/>
              </a:rPr>
              <a:t>• 在此输入要点三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sulting-log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377440" cy="575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3"/>
                </a:solidFill>
                <a:latin typeface="+mn-lt"/>
                <a:ea typeface="+mn-ea"/>
              </a:rPr>
              <a:t>北京　|　上海　|　深圳　|　香港　|　新加坡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DA2BF"/>
                </a:solidFill>
                <a:latin typeface="+mn-lt"/>
                <a:ea typeface="+mn-ea"/>
              </a:rPr>
              <a:t>本报告仅供委托方内部参考使用，未经衡策咨询书面许可，不得向任何第三方披露、引用或转载。报告中的分析与结论基于委托方提供的资料及公开信息，衡策咨询不对其完整性与准确性作出保证，亦不承担因使用本报告而产生的任何责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衡策咨询">
  <a:themeElements>
    <a:clrScheme name="衡策咨询">
      <a:dk1>
        <a:srgbClr val="1F2937"/>
      </a:dk1>
      <a:lt1>
        <a:srgbClr val="FFFFFF"/>
      </a:lt1>
      <a:dk2>
        <a:srgbClr val="0B2545"/>
      </a:dk2>
      <a:lt2>
        <a:srgbClr val="F2F4F7"/>
      </a:lt2>
      <a:accent1>
        <a:srgbClr val="13315C"/>
      </a:accent1>
      <a:accent2>
        <a:srgbClr val="1F8A70"/>
      </a:accent2>
      <a:accent3>
        <a:srgbClr val="E09F3E"/>
      </a:accent3>
      <a:accent4>
        <a:srgbClr val="8D99AE"/>
      </a:accent4>
      <a:accent5>
        <a:srgbClr val="5DA9E9"/>
      </a:accent5>
      <a:accent6>
        <a:srgbClr val="C0392B"/>
      </a:accent6>
      <a:hlink>
        <a:srgbClr val="13315C"/>
      </a:hlink>
      <a:folHlink>
        <a:srgbClr val="8D99AE"/>
      </a:folHlink>
    </a:clrScheme>
    <a:fontScheme name="衡策咨询">
      <a:majorFont>
        <a:latin typeface="Georgia"/>
        <a:ea typeface="华文中宋"/>
        <a:cs typeface=""/>
        <a:font script="Jpan" typeface="ＭＳ Ｐゴシック"/>
        <a:font script="Hang" typeface="맑은 고딕"/>
        <a:font script="Hans" typeface="华文中宋"/>
        <a:font script="Hant" typeface="华文中宋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