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系列一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系列二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3.2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583679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92000"/>
                </a:srgbClr>
              </a:gs>
              <a:gs pos="70000">
                <a:srgbClr val="081834">
                  <a:alpha val="55000"/>
                </a:srgbClr>
              </a:gs>
              <a:gs pos="100000">
                <a:srgbClr val="081834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2697480"/>
            <a:ext cx="82296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00200"/>
            <a:ext cx="5852160" cy="10058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80360"/>
            <a:ext cx="5486400" cy="731520"/>
          </a:xfrm>
        </p:spPr>
        <p:txBody>
          <a:bodyPr/>
          <a:lstStyle>
            <a:lvl1pPr algn="l" marL="0" indent="0">
              <a:buNone/>
              <a:defRPr sz="140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8680"/>
            <a:ext cx="8229600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nut 1"/>
          <p:cNvSpPr/>
          <p:nvPr/>
        </p:nvSpPr>
        <p:spPr>
          <a:xfrm>
            <a:off x="5760720" y="548640"/>
            <a:ext cx="4206240" cy="4206240"/>
          </a:xfrm>
          <a:prstGeom prst="donu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energy-log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"/>
            <a:ext cx="1143000" cy="3265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2971800"/>
            <a:ext cx="64008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8840"/>
            <a:ext cx="5943600" cy="7772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单击此处添加章节标题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51560"/>
            <a:ext cx="2743200" cy="1005840"/>
          </a:xfrm>
        </p:spPr>
        <p:txBody>
          <a:bodyPr anchor="b"/>
          <a:lstStyle>
            <a:lvl1pPr marL="0" indent="0">
              <a:buNone/>
              <a:defRPr sz="6000" b="1">
                <a:solidFill>
                  <a:schemeClr val="accent3"/>
                </a:solidFill>
                <a:latin typeface="+mj-lt"/>
                <a:ea typeface="+mj-ea"/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868680"/>
            <a:ext cx="3931920" cy="3749039"/>
          </a:xfrm>
        </p:spPr>
        <p:txBody>
          <a:bodyPr/>
          <a:lstStyle>
            <a:lvl1pPr>
              <a:defRPr/>
            </a:lvl1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3440" y="868680"/>
            <a:ext cx="4023360" cy="3749039"/>
          </a:xfrm>
        </p:spPr>
        <p:txBody>
          <a:bodyPr/>
          <a:lstStyle>
            <a:lvl1pPr>
              <a:defRPr sz="1400"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solar.jp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31089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0" y="0"/>
            <a:ext cx="73152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3749039" y="502920"/>
            <a:ext cx="3657600" cy="640080"/>
          </a:xfrm>
        </p:spPr>
        <p:txBody>
          <a:bodyPr vert="horz"/>
          <a:lstStyle>
            <a:lvl1pPr algn="l">
              <a:defRPr sz="30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wave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4960" y="3570732"/>
            <a:ext cx="3749039" cy="15677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00584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nergy-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182880"/>
            <a:ext cx="1143000" cy="3265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8680"/>
            <a:ext cx="8229600" cy="374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18888"/>
            <a:ext cx="3657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7" r:id="rId9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 b="1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accent4"/>
          </a:solidFill>
          <a:latin typeface="+mn-lt"/>
          <a:ea typeface="+mn-e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岳川能源202X年度工作汇报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汇报人：XXX　|　202X年XX月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spc="300">
                <a:solidFill>
                  <a:srgbClr val="F5C77E"/>
                </a:solidFill>
                <a:latin typeface="+mj-lt"/>
                <a:ea typeface="+mj-ea"/>
              </a:rPr>
              <a:t>ANNUAL WORK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94760" y="9875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200">
                <a:solidFill>
                  <a:schemeClr val="accent2"/>
                </a:solidFill>
                <a:latin typeface="+mj-lt"/>
                <a:ea typeface="+mj-ea"/>
              </a:rPr>
              <a:t>CONTENTS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794760" y="1417320"/>
            <a:ext cx="4526280" cy="484632"/>
            <a:chOff x="3794760" y="1417320"/>
            <a:chExt cx="4526280" cy="484632"/>
          </a:xfrm>
        </p:grpSpPr>
        <p:sp>
          <p:nvSpPr>
            <p:cNvPr id="4" name="Oval 3"/>
            <p:cNvSpPr/>
            <p:nvPr/>
          </p:nvSpPr>
          <p:spPr>
            <a:xfrm>
              <a:off x="3794760" y="1417320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3794760" y="1417320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89120" y="1417320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目录标题内容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89120" y="1892808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3" name="Group 12"/>
          <p:cNvGrpSpPr/>
          <p:nvPr/>
        </p:nvGrpSpPr>
        <p:grpSpPr>
          <a:xfrm>
            <a:off x="3794760" y="2075688"/>
            <a:ext cx="4526280" cy="484632"/>
            <a:chOff x="3794760" y="2075688"/>
            <a:chExt cx="4526280" cy="484632"/>
          </a:xfrm>
        </p:grpSpPr>
        <p:sp>
          <p:nvSpPr>
            <p:cNvPr id="9" name="Oval 8"/>
            <p:cNvSpPr/>
            <p:nvPr/>
          </p:nvSpPr>
          <p:spPr>
            <a:xfrm>
              <a:off x="3794760" y="2075688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3794760" y="2075688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89120" y="2075688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目录标题内容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89120" y="2551176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8" name="Group 17"/>
          <p:cNvGrpSpPr/>
          <p:nvPr/>
        </p:nvGrpSpPr>
        <p:grpSpPr>
          <a:xfrm>
            <a:off x="3794760" y="2734056"/>
            <a:ext cx="4526280" cy="484632"/>
            <a:chOff x="3794760" y="2734056"/>
            <a:chExt cx="4526280" cy="484632"/>
          </a:xfrm>
        </p:grpSpPr>
        <p:sp>
          <p:nvSpPr>
            <p:cNvPr id="14" name="Oval 13"/>
            <p:cNvSpPr/>
            <p:nvPr/>
          </p:nvSpPr>
          <p:spPr>
            <a:xfrm>
              <a:off x="3794760" y="2734056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3794760" y="2734056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89120" y="2734056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目录标题内容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89120" y="3209544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3" name="Group 22"/>
          <p:cNvGrpSpPr/>
          <p:nvPr/>
        </p:nvGrpSpPr>
        <p:grpSpPr>
          <a:xfrm>
            <a:off x="3794760" y="3392424"/>
            <a:ext cx="4526280" cy="484632"/>
            <a:chOff x="3794760" y="3392424"/>
            <a:chExt cx="4526280" cy="484632"/>
          </a:xfrm>
        </p:grpSpPr>
        <p:sp>
          <p:nvSpPr>
            <p:cNvPr id="19" name="Oval 18"/>
            <p:cNvSpPr/>
            <p:nvPr/>
          </p:nvSpPr>
          <p:spPr>
            <a:xfrm>
              <a:off x="3794760" y="3392424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3794760" y="3392424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89120" y="3392424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目录标题内容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89120" y="3867912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8" name="Group 27"/>
          <p:cNvGrpSpPr/>
          <p:nvPr/>
        </p:nvGrpSpPr>
        <p:grpSpPr>
          <a:xfrm>
            <a:off x="3794760" y="4050791"/>
            <a:ext cx="4526280" cy="484632"/>
            <a:chOff x="3794760" y="4050791"/>
            <a:chExt cx="4526280" cy="484632"/>
          </a:xfrm>
        </p:grpSpPr>
        <p:sp>
          <p:nvSpPr>
            <p:cNvPr id="24" name="Oval 23"/>
            <p:cNvSpPr/>
            <p:nvPr/>
          </p:nvSpPr>
          <p:spPr>
            <a:xfrm>
              <a:off x="3794760" y="4050791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TextBox 24"/>
            <p:cNvSpPr txBox="1"/>
            <p:nvPr/>
          </p:nvSpPr>
          <p:spPr>
            <a:xfrm>
              <a:off x="3794760" y="4050791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89120" y="4050791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目录标题内容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89120" y="4526279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章节标题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4F5"/>
                </a:solidFill>
                <a:latin typeface="+mn-lt"/>
                <a:ea typeface="+mn-ea"/>
              </a:rPr>
              <a:t>在此输入本章节的简要说明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一级要点：在此输入工作内容</a:t>
            </a:r>
          </a:p>
          <a:p>
            <a:pPr lvl="1"/>
            <a:r>
              <a:t>二级要点：补充说明文字</a:t>
            </a:r>
          </a:p>
          <a:p>
            <a:pPr lvl="1"/>
            <a:r>
              <a:t>二级要点：补充说明文字</a:t>
            </a:r>
          </a:p>
          <a:p>
            <a:pPr/>
            <a:r>
              <a:t>一级要点：在此输入工作内容</a:t>
            </a:r>
          </a:p>
          <a:p>
            <a:pPr lvl="1"/>
            <a:r>
              <a:t>二级要点：补充说明文字</a:t>
            </a:r>
          </a:p>
          <a:p>
            <a:pPr lvl="2"/>
            <a:r>
              <a:t>三级要点：数据来源或备注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14400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第一部分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第二部分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第三部分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第四部分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两栏内容示例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在此输入对比内容</a:t>
            </a:r>
          </a:p>
          <a:p>
            <a:r>
              <a:t>在此输入对比内容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在此输入对比内容</a:t>
            </a:r>
          </a:p>
          <a:p>
            <a:r>
              <a:t>在此输入对比内容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图文排版示例</a:t>
            </a:r>
          </a:p>
        </p:txBody>
      </p:sp>
      <p:pic>
        <p:nvPicPr>
          <p:cNvPr id="3" name="Picture Placeholder 2" descr="energy-solar2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805" r="280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在此输入图片说明文字，建议不超过 80 字。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8229600" cy="2377440"/>
        </p:xfrm>
        <a:graphic>
          <a:graphicData uri="http://schemas.openxmlformats.org/drawingml/2006/table">
            <a:tbl>
              <a:tblPr firstRow="0" bandRow="0"/>
              <a:tblGrid>
                <a:gridCol w="2057400"/>
                <a:gridCol w="2057400"/>
                <a:gridCol w="2057400"/>
                <a:gridCol w="20574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指标</a:t>
                      </a:r>
                    </a:p>
                  </a:txBody>
                  <a:tcPr marL="73152" marR="73152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202X年</a:t>
                      </a:r>
                    </a:p>
                  </a:txBody>
                  <a:tcPr marL="73152" marR="73152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202Y年</a:t>
                      </a:r>
                    </a:p>
                  </a:txBody>
                  <a:tcPr marL="73152" marR="73152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同比</a:t>
                      </a:r>
                    </a:p>
                  </a:txBody>
                  <a:tcPr marL="73152" marR="73152" anchor="ctr">
                    <a:solidFill>
                      <a:schemeClr val="accent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指标名称1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指标名称2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XX%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指标名称3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指标名称4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XX%</a:t>
                      </a:r>
                    </a:p>
                  </a:txBody>
                  <a:tcPr marL="73152" marR="73152" anchor="ctr">
                    <a:solidFill>
                      <a:srgbClr val="F3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指标名称5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图表示例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68680"/>
          <a:ext cx="82296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核心指标示例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57200" y="1097280"/>
            <a:ext cx="1874519" cy="2926080"/>
            <a:chOff x="457200" y="1097280"/>
            <a:chExt cx="1874519" cy="2926080"/>
          </a:xfrm>
        </p:grpSpPr>
        <p:sp>
          <p:nvSpPr>
            <p:cNvPr id="3" name="Rectangle 2"/>
            <p:cNvSpPr/>
            <p:nvPr/>
          </p:nvSpPr>
          <p:spPr>
            <a:xfrm>
              <a:off x="457200" y="1097280"/>
              <a:ext cx="1874519" cy="29260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" name="Rectangle 3"/>
            <p:cNvSpPr/>
            <p:nvPr/>
          </p:nvSpPr>
          <p:spPr>
            <a:xfrm>
              <a:off x="457200" y="1097280"/>
              <a:ext cx="1874519" cy="54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Oval 4"/>
            <p:cNvSpPr/>
            <p:nvPr/>
          </p:nvSpPr>
          <p:spPr>
            <a:xfrm>
              <a:off x="1143000" y="1417320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457200" y="2103120"/>
              <a:ext cx="1874519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000" b="1">
                  <a:solidFill>
                    <a:schemeClr val="accent1"/>
                  </a:solidFill>
                  <a:latin typeface="+mj-lt"/>
                  <a:ea typeface="+mj-ea"/>
                </a:rPr>
                <a:t>XX%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743200"/>
              <a:ext cx="1874519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400" b="1">
                  <a:solidFill>
                    <a:schemeClr val="tx2"/>
                  </a:solidFill>
                  <a:latin typeface="+mn-lt"/>
                  <a:ea typeface="+mn-ea"/>
                </a:rPr>
                <a:t>指标名称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4360" y="3154680"/>
              <a:ext cx="160020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0">
                  <a:solidFill>
                    <a:schemeClr val="accent4"/>
                  </a:solidFill>
                  <a:latin typeface="+mn-lt"/>
                  <a:ea typeface="+mn-ea"/>
                </a:rPr>
                <a:t>在此输入指标说明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560320" y="1097280"/>
            <a:ext cx="1874519" cy="2926080"/>
            <a:chOff x="2560320" y="1097280"/>
            <a:chExt cx="1874519" cy="2926080"/>
          </a:xfrm>
        </p:grpSpPr>
        <p:sp>
          <p:nvSpPr>
            <p:cNvPr id="10" name="Rectangle 9"/>
            <p:cNvSpPr/>
            <p:nvPr/>
          </p:nvSpPr>
          <p:spPr>
            <a:xfrm>
              <a:off x="2560320" y="1097280"/>
              <a:ext cx="1874519" cy="29260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Rectangle 10"/>
            <p:cNvSpPr/>
            <p:nvPr/>
          </p:nvSpPr>
          <p:spPr>
            <a:xfrm>
              <a:off x="2560320" y="1097280"/>
              <a:ext cx="1874519" cy="54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Oval 11"/>
            <p:cNvSpPr/>
            <p:nvPr/>
          </p:nvSpPr>
          <p:spPr>
            <a:xfrm>
              <a:off x="3246120" y="1417320"/>
              <a:ext cx="502920" cy="5029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2560320" y="2103120"/>
              <a:ext cx="1874519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000" b="1">
                  <a:solidFill>
                    <a:schemeClr val="accent1"/>
                  </a:solidFill>
                  <a:latin typeface="+mj-lt"/>
                  <a:ea typeface="+mj-ea"/>
                </a:rPr>
                <a:t>XX%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60320" y="2743200"/>
              <a:ext cx="1874519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400" b="1">
                  <a:solidFill>
                    <a:schemeClr val="tx2"/>
                  </a:solidFill>
                  <a:latin typeface="+mn-lt"/>
                  <a:ea typeface="+mn-ea"/>
                </a:rPr>
                <a:t>指标名称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97479" y="3154680"/>
              <a:ext cx="160020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0">
                  <a:solidFill>
                    <a:schemeClr val="accent4"/>
                  </a:solidFill>
                  <a:latin typeface="+mn-lt"/>
                  <a:ea typeface="+mn-ea"/>
                </a:rPr>
                <a:t>在此输入指标说明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663440" y="1097280"/>
            <a:ext cx="1874519" cy="2926080"/>
            <a:chOff x="4663440" y="1097280"/>
            <a:chExt cx="1874519" cy="2926080"/>
          </a:xfrm>
        </p:grpSpPr>
        <p:sp>
          <p:nvSpPr>
            <p:cNvPr id="17" name="Rectangle 16"/>
            <p:cNvSpPr/>
            <p:nvPr/>
          </p:nvSpPr>
          <p:spPr>
            <a:xfrm>
              <a:off x="4663440" y="1097280"/>
              <a:ext cx="1874519" cy="29260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Rectangle 17"/>
            <p:cNvSpPr/>
            <p:nvPr/>
          </p:nvSpPr>
          <p:spPr>
            <a:xfrm>
              <a:off x="4663440" y="1097280"/>
              <a:ext cx="1874519" cy="54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Oval 18"/>
            <p:cNvSpPr/>
            <p:nvPr/>
          </p:nvSpPr>
          <p:spPr>
            <a:xfrm>
              <a:off x="5349240" y="1417320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4663440" y="2103120"/>
              <a:ext cx="1874519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000" b="1">
                  <a:solidFill>
                    <a:schemeClr val="accent1"/>
                  </a:solidFill>
                  <a:latin typeface="+mj-lt"/>
                  <a:ea typeface="+mj-ea"/>
                </a:rPr>
                <a:t>XX%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63440" y="2743200"/>
              <a:ext cx="1874519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400" b="1">
                  <a:solidFill>
                    <a:schemeClr val="tx2"/>
                  </a:solidFill>
                  <a:latin typeface="+mn-lt"/>
                  <a:ea typeface="+mn-ea"/>
                </a:rPr>
                <a:t>指标名称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00600" y="3154680"/>
              <a:ext cx="160020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0">
                  <a:solidFill>
                    <a:schemeClr val="accent4"/>
                  </a:solidFill>
                  <a:latin typeface="+mn-lt"/>
                  <a:ea typeface="+mn-ea"/>
                </a:rPr>
                <a:t>在此输入指标说明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766559" y="1097280"/>
            <a:ext cx="1874519" cy="2926080"/>
            <a:chOff x="6766559" y="1097280"/>
            <a:chExt cx="1874519" cy="2926080"/>
          </a:xfrm>
        </p:grpSpPr>
        <p:sp>
          <p:nvSpPr>
            <p:cNvPr id="24" name="Rectangle 23"/>
            <p:cNvSpPr/>
            <p:nvPr/>
          </p:nvSpPr>
          <p:spPr>
            <a:xfrm>
              <a:off x="6766559" y="1097280"/>
              <a:ext cx="1874519" cy="29260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Rectangle 24"/>
            <p:cNvSpPr/>
            <p:nvPr/>
          </p:nvSpPr>
          <p:spPr>
            <a:xfrm>
              <a:off x="6766559" y="1097280"/>
              <a:ext cx="1874519" cy="54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6" name="Oval 25"/>
            <p:cNvSpPr/>
            <p:nvPr/>
          </p:nvSpPr>
          <p:spPr>
            <a:xfrm>
              <a:off x="7452359" y="1417320"/>
              <a:ext cx="502920" cy="5029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TextBox 26"/>
            <p:cNvSpPr txBox="1"/>
            <p:nvPr/>
          </p:nvSpPr>
          <p:spPr>
            <a:xfrm>
              <a:off x="6766559" y="2103120"/>
              <a:ext cx="1874519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000" b="1">
                  <a:solidFill>
                    <a:schemeClr val="accent1"/>
                  </a:solidFill>
                  <a:latin typeface="+mj-lt"/>
                  <a:ea typeface="+mj-ea"/>
                </a:rPr>
                <a:t>XX%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766559" y="2743200"/>
              <a:ext cx="1874519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400" b="1">
                  <a:solidFill>
                    <a:schemeClr val="tx2"/>
                  </a:solidFill>
                  <a:latin typeface="+mn-lt"/>
                  <a:ea typeface="+mn-ea"/>
                </a:rPr>
                <a:t>指标名称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03720" y="3154680"/>
              <a:ext cx="1600200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0">
                  <a:solidFill>
                    <a:schemeClr val="accent4"/>
                  </a:solidFill>
                  <a:latin typeface="+mn-lt"/>
                  <a:ea typeface="+mn-ea"/>
                </a:rPr>
                <a:t>在此输入指标说明</a:t>
              </a:r>
            </a:p>
          </p:txBody>
        </p:sp>
      </p:grp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11</a:t>
            </a:fld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发展历程示例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651760"/>
            <a:ext cx="786384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88720" y="2551176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202X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+mn-lt"/>
                <a:ea typeface="+mn-ea"/>
              </a:rPr>
              <a:t>在此输入事件描述</a:t>
            </a:r>
          </a:p>
        </p:txBody>
      </p:sp>
      <p:sp>
        <p:nvSpPr>
          <p:cNvPr id="7" name="Oval 6"/>
          <p:cNvSpPr/>
          <p:nvPr/>
        </p:nvSpPr>
        <p:spPr>
          <a:xfrm>
            <a:off x="2834639" y="2551176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31720" y="1920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202X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971800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+mn-lt"/>
                <a:ea typeface="+mn-ea"/>
              </a:rPr>
              <a:t>在此输入事件描述</a:t>
            </a:r>
          </a:p>
        </p:txBody>
      </p:sp>
      <p:sp>
        <p:nvSpPr>
          <p:cNvPr id="10" name="Oval 9"/>
          <p:cNvSpPr/>
          <p:nvPr/>
        </p:nvSpPr>
        <p:spPr>
          <a:xfrm>
            <a:off x="4480559" y="2551176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977639" y="1920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202X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71800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+mn-lt"/>
                <a:ea typeface="+mn-ea"/>
              </a:rPr>
              <a:t>在此输入事件描述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551176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1920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202X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971800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+mn-lt"/>
                <a:ea typeface="+mn-ea"/>
              </a:rPr>
              <a:t>在此输入事件描述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2551176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69480" y="1920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202X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971800"/>
            <a:ext cx="1463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  <a:latin typeface="+mn-lt"/>
                <a:ea typeface="+mn-ea"/>
              </a:rPr>
              <a:t>在此输入事件描述</a:t>
            </a: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" name="Picture 1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85000"/>
                </a:srgbClr>
              </a:gs>
              <a:gs pos="100000">
                <a:srgbClr val="081834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chemeClr val="bg1"/>
                </a:solidFill>
                <a:latin typeface="+mj-lt"/>
                <a:ea typeface="+mj-ea"/>
              </a:rPr>
              <a:t>谢谢聆听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C77E"/>
                </a:solidFill>
                <a:latin typeface="+mn-lt"/>
                <a:ea typeface="+mn-ea"/>
              </a:rP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岳川能源">
  <a:themeElements>
    <a:clrScheme name="岳川能源">
      <a:dk1>
        <a:srgbClr val="1A1A1A"/>
      </a:dk1>
      <a:lt1>
        <a:srgbClr val="FFFFFF"/>
      </a:lt1>
      <a:dk2>
        <a:srgbClr val="0F2747"/>
      </a:dk2>
      <a:lt2>
        <a:srgbClr val="EDF2F7"/>
      </a:lt2>
      <a:accent1>
        <a:srgbClr val="0B5CAD"/>
      </a:accent1>
      <a:accent2>
        <a:srgbClr val="00A19A"/>
      </a:accent2>
      <a:accent3>
        <a:srgbClr val="F5A623"/>
      </a:accent3>
      <a:accent4>
        <a:srgbClr val="5B6B7F"/>
      </a:accent4>
      <a:accent5>
        <a:srgbClr val="8CC63F"/>
      </a:accent5>
      <a:accent6>
        <a:srgbClr val="E4572E"/>
      </a:accent6>
      <a:hlink>
        <a:srgbClr val="0B5CAD"/>
      </a:hlink>
      <a:folHlink>
        <a:srgbClr val="5B6B7F"/>
      </a:folHlink>
    </a:clrScheme>
    <a:fontScheme name="岳川能源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