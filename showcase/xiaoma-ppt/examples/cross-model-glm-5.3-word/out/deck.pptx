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AUM（亿元）</c:v>
                </c:pt>
              </c:strCache>
            </c:strRef>
          </c:tx>
          <c:spPr>
            <a:solidFill>
              <a:srgbClr val="0B1F3A"/>
            </a:solidFill>
            <a:ln>
              <a:noFill/>
            </a:ln>
          </c:spPr>
          <c:dPt>
            <c:idx val="0"/>
            <c:spPr>
              <a:solidFill>
                <a:srgbClr val="919AA6"/>
              </a:solidFill>
            </c:spPr>
          </c:dPt>
          <c:dPt>
            <c:idx val="1"/>
            <c:spPr>
              <a:solidFill>
                <a:srgbClr val="919AA6"/>
              </a:solidFill>
            </c:spPr>
          </c:dPt>
          <c:dPt>
            <c:idx val="2"/>
            <c:spPr>
              <a:solidFill>
                <a:srgbClr val="919AA6"/>
              </a:solidFill>
            </c:spPr>
          </c:dPt>
          <c:dPt>
            <c:idx val="3"/>
            <c:spPr>
              <a:solidFill>
                <a:srgbClr val="0B1F3A"/>
              </a:solidFill>
            </c:spPr>
          </c:dPt>
          <c:cat>
            <c:strRef>
              <c:f>Sheet1!$A$2:$A$5</c:f>
              <c:strCache>
                <c:ptCount val="4"/>
                <c:pt idx="0">
                  <c:v>2025Q3</c:v>
                </c:pt>
                <c:pt idx="1">
                  <c:v>2025Q4</c:v>
                </c:pt>
                <c:pt idx="2">
                  <c:v>2026Q1</c:v>
                </c:pt>
                <c:pt idx="3">
                  <c:v>2026Q2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1092</c:v>
                </c:pt>
                <c:pt idx="1">
                  <c:v>1153</c:v>
                </c:pt>
                <c:pt idx="2">
                  <c:v>1198</c:v>
                </c:pt>
                <c:pt idx="3">
                  <c:v>1240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500" b="1">
                  <a:solidFill>
                    <a:srgbClr val="1B24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2E4"/>
            </a:solidFill>
          </a:ln>
        </c:spPr>
        <c:txPr>
          <a:bodyPr/>
          <a:lstStyle/>
          <a:p>
            <a:pPr>
              <a:defRPr sz="1400">
                <a:solidFill>
                  <a:srgbClr val="444B5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82878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444B58"/>
          </a:solidFill>
          <a:latin typeface="微软雅黑"/>
          <a:ea typeface="微软雅黑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睿信资本 2026 年上半年私行客户经营总结。财富管理部，2026 年 7 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上半年私行客户数和资产规模保持增长，客户结构继续向高净值集中，但新客获取成本上升，部分存量客户资产出现外流。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私行客户数 1.86 万户，较年初增长 9%</a:t>
            </a:r>
          </a:p>
          <a:p>
            <a:r>
              <a:t>· 管理资产 AUM 1,240 亿元，较年初增长 7.5%</a:t>
            </a:r>
          </a:p>
          <a:p>
            <a:r>
              <a:t>· 户均资产 667 万元</a:t>
            </a:r>
          </a:p>
          <a:p>
            <a:r>
              <a:t>· 客户满意度 92 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季度｜AUM（亿元）</a:t>
            </a:r>
          </a:p>
          <a:p>
            <a:r>
              <a:t>2025Q3｜1,092</a:t>
            </a:r>
          </a:p>
          <a:p>
            <a:r>
              <a:t>2025Q4｜1,153</a:t>
            </a:r>
          </a:p>
          <a:p>
            <a:r>
              <a:t>2026Q1｜1,198</a:t>
            </a:r>
          </a:p>
          <a:p>
            <a:r>
              <a:t>2026Q2｜1,240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过去：按产品条线考核，客户经理推什么卖什么</a:t>
            </a:r>
          </a:p>
          <a:p>
            <a:r>
              <a:t>现在：按客户资产配置达标率考核，先做诊断再给方案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资产诊断：梳理客户全部资产和负债</a:t>
            </a:r>
          </a:p>
          <a:p>
            <a:r>
              <a:t>2. 配置建议：给出目标配置比例</a:t>
            </a:r>
          </a:p>
          <a:p>
            <a:r>
              <a:t>3. 方案执行：分批落地，控制节奏</a:t>
            </a:r>
          </a:p>
          <a:p>
            <a:r>
              <a:t>4. 定期检视：每季度复盘一次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引流：与 3 家头部律所、会计所建立转介合作</a:t>
            </a:r>
          </a:p>
          <a:p>
            <a:r>
              <a:t>· 留存：存量客户季度检视覆盖率提升到 80%</a:t>
            </a:r>
          </a:p>
          <a:p>
            <a:r>
              <a:t>· 队伍：新增持证投顾 25 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客户要的不是产品，是一个靠得住的人。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n-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6327648"/>
            <a:ext cx="11094415" cy="10972"/>
          </a:xfrm>
          <a:prstGeom prst="rect">
            <a:avLst/>
          </a:prstGeom>
          <a:solidFill>
            <a:srgbClr val="D9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睿信资本 · 内部资料 · 请勿外传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fin-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85216"/>
            <a:ext cx="237744" cy="237744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"/>
          <p:cNvSpPr txBox="1"/>
          <p:nvPr/>
        </p:nvSpPr>
        <p:spPr>
          <a:xfrm>
            <a:off x="1042416" y="512063"/>
            <a:ext cx="2377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思源宋体"/>
                <a:ea typeface="思源宋体"/>
              </a:rPr>
              <a:t>睿信资本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331720"/>
            <a:ext cx="822960" cy="45720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90928"/>
            <a:ext cx="7772400" cy="1566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思源宋体"/>
                <a:ea typeface="思源宋体"/>
              </a:rPr>
              <a:t>2026 年上半年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思源宋体"/>
                <a:ea typeface="思源宋体"/>
              </a:rPr>
              <a:t>私行客户经营总结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EB8CA"/>
                </a:solidFill>
                <a:latin typeface="微软雅黑"/>
                <a:ea typeface="微软雅黑"/>
              </a:rPr>
              <a:t>汇报人：财富管理部　｜　2026 年 7 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思源宋体"/>
                <a:ea typeface="思源宋体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5468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C9A45C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51560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C9A45C"/>
                </a:solidFill>
                <a:latin typeface="思源宋体"/>
                <a:ea typeface="思源宋体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161288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B2433"/>
                </a:solidFill>
                <a:latin typeface="微软雅黑"/>
                <a:ea typeface="微软雅黑"/>
              </a:rPr>
              <a:t>上半年经营概况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54880" y="1856231"/>
            <a:ext cx="6583680" cy="0"/>
          </a:xfrm>
          <a:prstGeom prst="line">
            <a:avLst/>
          </a:prstGeom>
          <a:ln w="9525"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54880" y="2039112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C9A45C"/>
                </a:solidFill>
                <a:latin typeface="思源宋体"/>
                <a:ea typeface="思源宋体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14884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B2433"/>
                </a:solidFill>
                <a:latin typeface="微软雅黑"/>
                <a:ea typeface="微软雅黑"/>
              </a:rPr>
              <a:t>主要做法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54880" y="2843784"/>
            <a:ext cx="6583680" cy="0"/>
          </a:xfrm>
          <a:prstGeom prst="line">
            <a:avLst/>
          </a:prstGeom>
          <a:ln w="9525"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754880" y="3026664"/>
            <a:ext cx="914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C9A45C"/>
                </a:solidFill>
                <a:latin typeface="思源宋体"/>
                <a:ea typeface="思源宋体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136392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B2433"/>
                </a:solidFill>
                <a:latin typeface="微软雅黑"/>
                <a:ea typeface="微软雅黑"/>
              </a:rPr>
              <a:t>下半年计划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54880" y="3831336"/>
            <a:ext cx="6583680" cy="0"/>
          </a:xfrm>
          <a:prstGeom prst="line">
            <a:avLst/>
          </a:prstGeom>
          <a:ln w="9525">
            <a:solidFill>
              <a:srgbClr val="E3E7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85216"/>
            <a:ext cx="237744" cy="237744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"/>
          <p:cNvSpPr txBox="1"/>
          <p:nvPr/>
        </p:nvSpPr>
        <p:spPr>
          <a:xfrm>
            <a:off x="1042416" y="512063"/>
            <a:ext cx="2377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思源宋体"/>
                <a:ea typeface="思源宋体"/>
              </a:rPr>
              <a:t>睿信资本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91056"/>
            <a:ext cx="2743200" cy="17007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600" b="1">
                <a:solidFill>
                  <a:srgbClr val="C9A45C"/>
                </a:solidFill>
                <a:latin typeface="思源宋体"/>
                <a:ea typeface="思源宋体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29000"/>
            <a:ext cx="548640" cy="36576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思源宋体"/>
                <a:ea typeface="思源宋体"/>
              </a:rPr>
              <a:t>上半年经营概况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C9A45C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3" name="xm TextBox 2"/>
          <p:cNvSpPr txBox="1"/>
          <p:nvPr/>
        </p:nvSpPr>
        <p:spPr>
          <a:xfrm>
            <a:off x="594360" y="2837688"/>
            <a:ext cx="8412480" cy="140208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20000"/>
              </a:lnSpc>
            </a:pPr>
            <a:r>
              <a:rPr sz="3800" b="1">
                <a:solidFill>
                  <a:srgbClr val="FFFFFF"/>
                </a:solidFill>
                <a:latin typeface="思源宋体"/>
                <a:ea typeface="思源宋体"/>
                <a:cs typeface="思源宋体"/>
              </a:rPr>
              <a:t>私行客户数和资产规模保持增长，客户结构继续向高净值集中</a:t>
            </a:r>
          </a:p>
        </p:txBody>
      </p:sp>
      <p:cxnSp>
        <p:nvCxnSpPr>
          <p:cNvPr id="4" name="xm Connector 3"/>
          <p:cNvCxnSpPr/>
          <p:nvPr/>
        </p:nvCxnSpPr>
        <p:spPr>
          <a:xfrm>
            <a:off x="594360" y="4468368"/>
            <a:ext cx="731520" cy="0"/>
          </a:xfrm>
          <a:prstGeom prst="line">
            <a:avLst/>
          </a:prstGeom>
          <a:ln w="38100">
            <a:solidFill>
              <a:srgbClr val="C9A4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xm TextBox 4"/>
          <p:cNvSpPr txBox="1"/>
          <p:nvPr/>
        </p:nvSpPr>
        <p:spPr>
          <a:xfrm>
            <a:off x="594360" y="4696968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99A1AE"/>
                </a:solidFill>
                <a:latin typeface="微软雅黑"/>
                <a:ea typeface="微软雅黑"/>
                <a:cs typeface="微软雅黑"/>
              </a:rPr>
              <a:t>但新客获取成本上升，部分存量客户资产出现外流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C9A45C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思源宋体"/>
                <a:ea typeface="思源宋体"/>
              </a:rPr>
              <a:t>核心指标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457200"/>
            <a:ext cx="1463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RUIXIN CAPITAL</a:t>
            </a:r>
          </a:p>
        </p:txBody>
      </p:sp>
      <p:sp>
        <p:nvSpPr>
          <p:cNvPr id="6" name="xm TextBox 5"/>
          <p:cNvSpPr txBox="1"/>
          <p:nvPr/>
        </p:nvSpPr>
        <p:spPr>
          <a:xfrm>
            <a:off x="594360" y="3030093"/>
            <a:ext cx="2606040" cy="66675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1.86</a:t>
            </a:r>
            <a:r>
              <a:rPr sz="17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 万户</a:t>
            </a:r>
          </a:p>
        </p:txBody>
      </p:sp>
      <p:cxnSp>
        <p:nvCxnSpPr>
          <p:cNvPr id="7" name="xm Connector 6"/>
          <p:cNvCxnSpPr/>
          <p:nvPr/>
        </p:nvCxnSpPr>
        <p:spPr>
          <a:xfrm>
            <a:off x="594360" y="3834003"/>
            <a:ext cx="640080" cy="0"/>
          </a:xfrm>
          <a:prstGeom prst="line">
            <a:avLst/>
          </a:prstGeom>
          <a:ln w="3810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xm TextBox 7"/>
          <p:cNvSpPr txBox="1"/>
          <p:nvPr/>
        </p:nvSpPr>
        <p:spPr>
          <a:xfrm>
            <a:off x="594360" y="4016883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2433"/>
                </a:solidFill>
                <a:latin typeface="微软雅黑"/>
                <a:ea typeface="微软雅黑"/>
                <a:cs typeface="微软雅黑"/>
              </a:rPr>
              <a:t>私行客户数</a:t>
            </a:r>
          </a:p>
        </p:txBody>
      </p:sp>
      <p:sp>
        <p:nvSpPr>
          <p:cNvPr id="9" name="xm TextBox 8"/>
          <p:cNvSpPr txBox="1"/>
          <p:nvPr/>
        </p:nvSpPr>
        <p:spPr>
          <a:xfrm>
            <a:off x="594360" y="4474083"/>
            <a:ext cx="256032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2878F"/>
                </a:solidFill>
                <a:latin typeface="微软雅黑"/>
                <a:ea typeface="微软雅黑"/>
                <a:cs typeface="微软雅黑"/>
              </a:rPr>
              <a:t>较年初增长 9%</a:t>
            </a:r>
          </a:p>
        </p:txBody>
      </p:sp>
      <p:sp>
        <p:nvSpPr>
          <p:cNvPr id="10" name="xm TextBox 9"/>
          <p:cNvSpPr txBox="1"/>
          <p:nvPr/>
        </p:nvSpPr>
        <p:spPr>
          <a:xfrm>
            <a:off x="3611880" y="3030093"/>
            <a:ext cx="2331720" cy="66675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1,240</a:t>
            </a:r>
            <a:r>
              <a:rPr sz="17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 亿元</a:t>
            </a:r>
          </a:p>
        </p:txBody>
      </p:sp>
      <p:cxnSp>
        <p:nvCxnSpPr>
          <p:cNvPr id="11" name="xm Connector 10"/>
          <p:cNvCxnSpPr/>
          <p:nvPr/>
        </p:nvCxnSpPr>
        <p:spPr>
          <a:xfrm>
            <a:off x="3611880" y="3834003"/>
            <a:ext cx="640080" cy="0"/>
          </a:xfrm>
          <a:prstGeom prst="line">
            <a:avLst/>
          </a:prstGeom>
          <a:ln w="3810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xm TextBox 11"/>
          <p:cNvSpPr txBox="1"/>
          <p:nvPr/>
        </p:nvSpPr>
        <p:spPr>
          <a:xfrm>
            <a:off x="3611880" y="4016883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2433"/>
                </a:solidFill>
                <a:latin typeface="微软雅黑"/>
                <a:ea typeface="微软雅黑"/>
                <a:cs typeface="微软雅黑"/>
              </a:rPr>
              <a:t>管理资产 AUM</a:t>
            </a:r>
          </a:p>
        </p:txBody>
      </p:sp>
      <p:sp>
        <p:nvSpPr>
          <p:cNvPr id="13" name="xm TextBox 12"/>
          <p:cNvSpPr txBox="1"/>
          <p:nvPr/>
        </p:nvSpPr>
        <p:spPr>
          <a:xfrm>
            <a:off x="3611880" y="4474083"/>
            <a:ext cx="228600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2878F"/>
                </a:solidFill>
                <a:latin typeface="微软雅黑"/>
                <a:ea typeface="微软雅黑"/>
                <a:cs typeface="微软雅黑"/>
              </a:rPr>
              <a:t>较年初增长 7.5%</a:t>
            </a:r>
          </a:p>
        </p:txBody>
      </p:sp>
      <p:cxnSp>
        <p:nvCxnSpPr>
          <p:cNvPr id="14" name="xm Connector 13"/>
          <p:cNvCxnSpPr/>
          <p:nvPr/>
        </p:nvCxnSpPr>
        <p:spPr>
          <a:xfrm>
            <a:off x="3337560" y="3167253"/>
            <a:ext cx="0" cy="1611630"/>
          </a:xfrm>
          <a:prstGeom prst="line">
            <a:avLst/>
          </a:prstGeom>
          <a:ln w="9525">
            <a:solidFill>
              <a:srgbClr val="E0E2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xm TextBox 14"/>
          <p:cNvSpPr txBox="1"/>
          <p:nvPr/>
        </p:nvSpPr>
        <p:spPr>
          <a:xfrm>
            <a:off x="6355080" y="3030093"/>
            <a:ext cx="2331720" cy="66675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667</a:t>
            </a:r>
            <a:r>
              <a:rPr sz="17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 万元</a:t>
            </a:r>
          </a:p>
        </p:txBody>
      </p:sp>
      <p:cxnSp>
        <p:nvCxnSpPr>
          <p:cNvPr id="16" name="xm Connector 15"/>
          <p:cNvCxnSpPr/>
          <p:nvPr/>
        </p:nvCxnSpPr>
        <p:spPr>
          <a:xfrm>
            <a:off x="6355080" y="3834003"/>
            <a:ext cx="640080" cy="0"/>
          </a:xfrm>
          <a:prstGeom prst="line">
            <a:avLst/>
          </a:prstGeom>
          <a:ln w="3810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xm TextBox 16"/>
          <p:cNvSpPr txBox="1"/>
          <p:nvPr/>
        </p:nvSpPr>
        <p:spPr>
          <a:xfrm>
            <a:off x="6355080" y="4016883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2433"/>
                </a:solidFill>
                <a:latin typeface="微软雅黑"/>
                <a:ea typeface="微软雅黑"/>
                <a:cs typeface="微软雅黑"/>
              </a:rPr>
              <a:t>户均资产</a:t>
            </a:r>
          </a:p>
        </p:txBody>
      </p:sp>
      <p:cxnSp>
        <p:nvCxnSpPr>
          <p:cNvPr id="18" name="xm Connector 17"/>
          <p:cNvCxnSpPr/>
          <p:nvPr/>
        </p:nvCxnSpPr>
        <p:spPr>
          <a:xfrm>
            <a:off x="6080760" y="3167253"/>
            <a:ext cx="0" cy="1611630"/>
          </a:xfrm>
          <a:prstGeom prst="line">
            <a:avLst/>
          </a:prstGeom>
          <a:ln w="9525">
            <a:solidFill>
              <a:srgbClr val="E0E2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xm TextBox 18"/>
          <p:cNvSpPr txBox="1"/>
          <p:nvPr/>
        </p:nvSpPr>
        <p:spPr>
          <a:xfrm>
            <a:off x="9098280" y="3030093"/>
            <a:ext cx="2331720" cy="66675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92</a:t>
            </a:r>
            <a:r>
              <a:rPr sz="17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 分</a:t>
            </a:r>
          </a:p>
        </p:txBody>
      </p:sp>
      <p:cxnSp>
        <p:nvCxnSpPr>
          <p:cNvPr id="20" name="xm Connector 19"/>
          <p:cNvCxnSpPr/>
          <p:nvPr/>
        </p:nvCxnSpPr>
        <p:spPr>
          <a:xfrm>
            <a:off x="9098280" y="3834003"/>
            <a:ext cx="640080" cy="0"/>
          </a:xfrm>
          <a:prstGeom prst="line">
            <a:avLst/>
          </a:prstGeom>
          <a:ln w="3810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xm TextBox 20"/>
          <p:cNvSpPr txBox="1"/>
          <p:nvPr/>
        </p:nvSpPr>
        <p:spPr>
          <a:xfrm>
            <a:off x="9098280" y="4016883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B2433"/>
                </a:solidFill>
                <a:latin typeface="微软雅黑"/>
                <a:ea typeface="微软雅黑"/>
                <a:cs typeface="微软雅黑"/>
              </a:rPr>
              <a:t>客户满意度</a:t>
            </a:r>
          </a:p>
        </p:txBody>
      </p:sp>
      <p:cxnSp>
        <p:nvCxnSpPr>
          <p:cNvPr id="22" name="xm Connector 21"/>
          <p:cNvCxnSpPr/>
          <p:nvPr/>
        </p:nvCxnSpPr>
        <p:spPr>
          <a:xfrm>
            <a:off x="8823960" y="3167253"/>
            <a:ext cx="0" cy="1611630"/>
          </a:xfrm>
          <a:prstGeom prst="line">
            <a:avLst/>
          </a:prstGeom>
          <a:ln w="9525">
            <a:solidFill>
              <a:srgbClr val="E0E2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C9A45C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思源宋体"/>
                <a:ea typeface="思源宋体"/>
              </a:rPr>
              <a:t>季度 AUM 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457200"/>
            <a:ext cx="1463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RUIXIN CAPITAL</a:t>
            </a:r>
          </a:p>
        </p:txBody>
      </p:sp>
      <p:graphicFrame>
        <p:nvGraphicFramePr>
          <p:cNvPr id="6" name="xm Chart 5"/>
          <p:cNvGraphicFramePr>
            <a:graphicFrameLocks noGrp="1"/>
          </p:cNvGraphicFramePr>
          <p:nvPr/>
        </p:nvGraphicFramePr>
        <p:xfrm>
          <a:off x="594360" y="1618488"/>
          <a:ext cx="109728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85216"/>
            <a:ext cx="237744" cy="237744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"/>
          <p:cNvSpPr txBox="1"/>
          <p:nvPr/>
        </p:nvSpPr>
        <p:spPr>
          <a:xfrm>
            <a:off x="1042416" y="512063"/>
            <a:ext cx="2377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思源宋体"/>
                <a:ea typeface="思源宋体"/>
              </a:rPr>
              <a:t>睿信资本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91056"/>
            <a:ext cx="2743200" cy="17007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600" b="1">
                <a:solidFill>
                  <a:srgbClr val="C9A45C"/>
                </a:solidFill>
                <a:latin typeface="思源宋体"/>
                <a:ea typeface="思源宋体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29000"/>
            <a:ext cx="548640" cy="36576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思源宋体"/>
                <a:ea typeface="思源宋体"/>
              </a:rPr>
              <a:t>主要做法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C9A45C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思源宋体"/>
                <a:ea typeface="思源宋体"/>
              </a:rPr>
              <a:t>从卖产品到做配置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457200"/>
            <a:ext cx="1463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RUIXIN CAPITAL</a:t>
            </a:r>
          </a:p>
        </p:txBody>
      </p:sp>
      <p:sp>
        <p:nvSpPr>
          <p:cNvPr id="6" name="xm Rectangle 5"/>
          <p:cNvSpPr/>
          <p:nvPr/>
        </p:nvSpPr>
        <p:spPr>
          <a:xfrm>
            <a:off x="594360" y="2438705"/>
            <a:ext cx="5074920" cy="2931566"/>
          </a:xfrm>
          <a:prstGeom prst="rect">
            <a:avLst/>
          </a:prstGeom>
          <a:solidFill>
            <a:srgbClr val="F6F7F8"/>
          </a:solidFill>
          <a:ln w="9525">
            <a:solidFill>
              <a:srgbClr val="E0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xm Rectangle 6"/>
          <p:cNvSpPr/>
          <p:nvPr/>
        </p:nvSpPr>
        <p:spPr>
          <a:xfrm>
            <a:off x="594360" y="2438705"/>
            <a:ext cx="5074920" cy="1024128"/>
          </a:xfrm>
          <a:prstGeom prst="rect">
            <a:avLst/>
          </a:prstGeom>
          <a:solidFill>
            <a:srgbClr val="E3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2800" b="1">
                <a:solidFill>
                  <a:srgbClr val="1B2433"/>
                </a:solidFill>
                <a:latin typeface="微软雅黑"/>
                <a:ea typeface="微软雅黑"/>
                <a:cs typeface="微软雅黑"/>
              </a:rPr>
              <a:t>过去</a:t>
            </a:r>
          </a:p>
        </p:txBody>
      </p:sp>
      <p:pic>
        <p:nvPicPr>
          <p:cNvPr id="8" name="xm Picture 7" descr="circle-x-0B1F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700577"/>
            <a:ext cx="435254" cy="435254"/>
          </a:xfrm>
          <a:prstGeom prst="rect">
            <a:avLst/>
          </a:prstGeom>
        </p:spPr>
      </p:pic>
      <p:sp>
        <p:nvSpPr>
          <p:cNvPr id="9" name="xm TextBox 8"/>
          <p:cNvSpPr txBox="1"/>
          <p:nvPr/>
        </p:nvSpPr>
        <p:spPr>
          <a:xfrm>
            <a:off x="1441094" y="3645713"/>
            <a:ext cx="3953866" cy="7479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82878F"/>
                </a:solidFill>
                <a:latin typeface="微软雅黑"/>
                <a:ea typeface="微软雅黑"/>
                <a:cs typeface="微软雅黑"/>
              </a:rPr>
              <a:t>按产品条线考核</a:t>
            </a:r>
          </a:p>
        </p:txBody>
      </p:sp>
      <p:pic>
        <p:nvPicPr>
          <p:cNvPr id="10" name="xm Picture 9" descr="circle-x-0B1F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494276"/>
            <a:ext cx="435254" cy="435254"/>
          </a:xfrm>
          <a:prstGeom prst="rect">
            <a:avLst/>
          </a:prstGeom>
        </p:spPr>
      </p:pic>
      <p:sp>
        <p:nvSpPr>
          <p:cNvPr id="11" name="xm TextBox 10"/>
          <p:cNvSpPr txBox="1"/>
          <p:nvPr/>
        </p:nvSpPr>
        <p:spPr>
          <a:xfrm>
            <a:off x="1441094" y="4439412"/>
            <a:ext cx="3953866" cy="7479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82878F"/>
                </a:solidFill>
                <a:latin typeface="微软雅黑"/>
                <a:ea typeface="微软雅黑"/>
                <a:cs typeface="微软雅黑"/>
              </a:rPr>
              <a:t>客户经理推什么卖什么</a:t>
            </a:r>
          </a:p>
        </p:txBody>
      </p:sp>
      <p:sp>
        <p:nvSpPr>
          <p:cNvPr id="12" name="xm Rectangle 11"/>
          <p:cNvSpPr/>
          <p:nvPr/>
        </p:nvSpPr>
        <p:spPr>
          <a:xfrm>
            <a:off x="6492240" y="2438705"/>
            <a:ext cx="5074920" cy="2931566"/>
          </a:xfrm>
          <a:prstGeom prst="rect">
            <a:avLst/>
          </a:prstGeom>
          <a:solidFill>
            <a:srgbClr val="F6F7F8"/>
          </a:solidFill>
          <a:ln w="1905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xm Rectangle 12"/>
          <p:cNvSpPr/>
          <p:nvPr/>
        </p:nvSpPr>
        <p:spPr>
          <a:xfrm>
            <a:off x="6492240" y="2438705"/>
            <a:ext cx="5074920" cy="102412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</a:t>
            </a:r>
          </a:p>
        </p:txBody>
      </p:sp>
      <p:pic>
        <p:nvPicPr>
          <p:cNvPr id="14" name="xm Picture 13" descr="circle-check-0B1F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3700577"/>
            <a:ext cx="435254" cy="435254"/>
          </a:xfrm>
          <a:prstGeom prst="rect">
            <a:avLst/>
          </a:prstGeom>
        </p:spPr>
      </p:pic>
      <p:sp>
        <p:nvSpPr>
          <p:cNvPr id="15" name="xm TextBox 14"/>
          <p:cNvSpPr txBox="1"/>
          <p:nvPr/>
        </p:nvSpPr>
        <p:spPr>
          <a:xfrm>
            <a:off x="7338974" y="3645713"/>
            <a:ext cx="3953866" cy="7479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B2433"/>
                </a:solidFill>
                <a:latin typeface="微软雅黑"/>
                <a:ea typeface="微软雅黑"/>
                <a:cs typeface="微软雅黑"/>
              </a:rPr>
              <a:t>按客户资产配置达标率考核</a:t>
            </a:r>
          </a:p>
        </p:txBody>
      </p:sp>
      <p:pic>
        <p:nvPicPr>
          <p:cNvPr id="16" name="xm Picture 15" descr="circle-check-0B1F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4494276"/>
            <a:ext cx="435254" cy="435254"/>
          </a:xfrm>
          <a:prstGeom prst="rect">
            <a:avLst/>
          </a:prstGeom>
        </p:spPr>
      </p:pic>
      <p:sp>
        <p:nvSpPr>
          <p:cNvPr id="17" name="xm TextBox 16"/>
          <p:cNvSpPr txBox="1"/>
          <p:nvPr/>
        </p:nvSpPr>
        <p:spPr>
          <a:xfrm>
            <a:off x="7338974" y="4439412"/>
            <a:ext cx="3953866" cy="7479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B2433"/>
                </a:solidFill>
                <a:latin typeface="微软雅黑"/>
                <a:ea typeface="微软雅黑"/>
                <a:cs typeface="微软雅黑"/>
              </a:rPr>
              <a:t>先做诊断再给方案</a:t>
            </a:r>
          </a:p>
        </p:txBody>
      </p:sp>
      <p:sp>
        <p:nvSpPr>
          <p:cNvPr id="18" name="xm Oval 17"/>
          <p:cNvSpPr/>
          <p:nvPr/>
        </p:nvSpPr>
        <p:spPr>
          <a:xfrm>
            <a:off x="5733288" y="3557016"/>
            <a:ext cx="694944" cy="694944"/>
          </a:xfrm>
          <a:prstGeom prst="ellipse">
            <a:avLst/>
          </a:prstGeom>
          <a:solidFill>
            <a:srgbClr val="1B24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EFEFE"/>
                </a:solidFill>
                <a:latin typeface="微软雅黑"/>
                <a:ea typeface="微软雅黑"/>
                <a:cs typeface="微软雅黑"/>
              </a:rPr>
              <a:t>VS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C9A45C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思源宋体"/>
                <a:ea typeface="思源宋体"/>
              </a:rPr>
              <a:t>投顾服务流程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457200"/>
            <a:ext cx="1463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RUIXIN CAPITAL</a:t>
            </a:r>
          </a:p>
        </p:txBody>
      </p:sp>
      <p:cxnSp>
        <p:nvCxnSpPr>
          <p:cNvPr id="6" name="xm Connector 5"/>
          <p:cNvCxnSpPr/>
          <p:nvPr/>
        </p:nvCxnSpPr>
        <p:spPr>
          <a:xfrm>
            <a:off x="1863090" y="2796845"/>
            <a:ext cx="8435340" cy="0"/>
          </a:xfrm>
          <a:prstGeom prst="line">
            <a:avLst/>
          </a:prstGeom>
          <a:ln w="38100">
            <a:solidFill>
              <a:srgbClr val="9DA5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xm Oval 6"/>
          <p:cNvSpPr/>
          <p:nvPr/>
        </p:nvSpPr>
        <p:spPr>
          <a:xfrm>
            <a:off x="1415034" y="2348789"/>
            <a:ext cx="896112" cy="896112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xm Picture 7" descr="search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101" y="2563856"/>
            <a:ext cx="465978" cy="465978"/>
          </a:xfrm>
          <a:prstGeom prst="rect">
            <a:avLst/>
          </a:prstGeom>
        </p:spPr>
      </p:pic>
      <p:sp>
        <p:nvSpPr>
          <p:cNvPr id="9" name="xm Rectangle 8"/>
          <p:cNvSpPr/>
          <p:nvPr/>
        </p:nvSpPr>
        <p:spPr>
          <a:xfrm>
            <a:off x="594360" y="3564941"/>
            <a:ext cx="2537460" cy="1895246"/>
          </a:xfrm>
          <a:prstGeom prst="rect">
            <a:avLst/>
          </a:prstGeom>
          <a:solidFill>
            <a:srgbClr val="F6F7F8"/>
          </a:solidFill>
          <a:ln w="9525">
            <a:solidFill>
              <a:srgbClr val="E0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xm TextBox 9"/>
          <p:cNvSpPr txBox="1"/>
          <p:nvPr/>
        </p:nvSpPr>
        <p:spPr>
          <a:xfrm>
            <a:off x="875995" y="3846576"/>
            <a:ext cx="197419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1B2433"/>
                </a:solidFill>
                <a:latin typeface="微软雅黑"/>
                <a:ea typeface="微软雅黑"/>
                <a:cs typeface="微软雅黑"/>
              </a:rPr>
              <a:t>资产诊断</a:t>
            </a:r>
          </a:p>
        </p:txBody>
      </p:sp>
      <p:sp>
        <p:nvSpPr>
          <p:cNvPr id="11" name="xm TextBox 10"/>
          <p:cNvSpPr txBox="1"/>
          <p:nvPr/>
        </p:nvSpPr>
        <p:spPr>
          <a:xfrm>
            <a:off x="875995" y="4340352"/>
            <a:ext cx="1974190" cy="856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444B58"/>
                </a:solidFill>
                <a:latin typeface="微软雅黑"/>
                <a:ea typeface="微软雅黑"/>
                <a:cs typeface="微软雅黑"/>
              </a:rPr>
              <a:t>梳理客户全部资产和负债</a:t>
            </a:r>
          </a:p>
        </p:txBody>
      </p:sp>
      <p:sp>
        <p:nvSpPr>
          <p:cNvPr id="12" name="xm Oval 11"/>
          <p:cNvSpPr/>
          <p:nvPr/>
        </p:nvSpPr>
        <p:spPr>
          <a:xfrm>
            <a:off x="4226814" y="2348789"/>
            <a:ext cx="896112" cy="896112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xm Picture 12" descr="chart-pie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1881" y="2563856"/>
            <a:ext cx="465978" cy="465978"/>
          </a:xfrm>
          <a:prstGeom prst="rect">
            <a:avLst/>
          </a:prstGeom>
        </p:spPr>
      </p:pic>
      <p:sp>
        <p:nvSpPr>
          <p:cNvPr id="14" name="xm Rectangle 13"/>
          <p:cNvSpPr/>
          <p:nvPr/>
        </p:nvSpPr>
        <p:spPr>
          <a:xfrm>
            <a:off x="3406140" y="3564941"/>
            <a:ext cx="2537460" cy="1895246"/>
          </a:xfrm>
          <a:prstGeom prst="rect">
            <a:avLst/>
          </a:prstGeom>
          <a:solidFill>
            <a:srgbClr val="F6F7F8"/>
          </a:solidFill>
          <a:ln w="9525">
            <a:solidFill>
              <a:srgbClr val="E0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xm TextBox 14"/>
          <p:cNvSpPr txBox="1"/>
          <p:nvPr/>
        </p:nvSpPr>
        <p:spPr>
          <a:xfrm>
            <a:off x="3687775" y="3846576"/>
            <a:ext cx="197419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1B2433"/>
                </a:solidFill>
                <a:latin typeface="微软雅黑"/>
                <a:ea typeface="微软雅黑"/>
                <a:cs typeface="微软雅黑"/>
              </a:rPr>
              <a:t>配置建议</a:t>
            </a:r>
          </a:p>
        </p:txBody>
      </p:sp>
      <p:sp>
        <p:nvSpPr>
          <p:cNvPr id="16" name="xm TextBox 15"/>
          <p:cNvSpPr txBox="1"/>
          <p:nvPr/>
        </p:nvSpPr>
        <p:spPr>
          <a:xfrm>
            <a:off x="3687775" y="4340352"/>
            <a:ext cx="1974190" cy="856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444B58"/>
                </a:solidFill>
                <a:latin typeface="微软雅黑"/>
                <a:ea typeface="微软雅黑"/>
                <a:cs typeface="微软雅黑"/>
              </a:rPr>
              <a:t>给出目标配置比例</a:t>
            </a:r>
          </a:p>
        </p:txBody>
      </p:sp>
      <p:sp>
        <p:nvSpPr>
          <p:cNvPr id="17" name="xm Oval 16"/>
          <p:cNvSpPr/>
          <p:nvPr/>
        </p:nvSpPr>
        <p:spPr>
          <a:xfrm>
            <a:off x="7038594" y="2348789"/>
            <a:ext cx="896112" cy="896112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xm Picture 17" descr="workflow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3661" y="2563856"/>
            <a:ext cx="465978" cy="465978"/>
          </a:xfrm>
          <a:prstGeom prst="rect">
            <a:avLst/>
          </a:prstGeom>
        </p:spPr>
      </p:pic>
      <p:sp>
        <p:nvSpPr>
          <p:cNvPr id="19" name="xm Rectangle 18"/>
          <p:cNvSpPr/>
          <p:nvPr/>
        </p:nvSpPr>
        <p:spPr>
          <a:xfrm>
            <a:off x="6217920" y="3564941"/>
            <a:ext cx="2537460" cy="1895246"/>
          </a:xfrm>
          <a:prstGeom prst="rect">
            <a:avLst/>
          </a:prstGeom>
          <a:solidFill>
            <a:srgbClr val="F6F7F8"/>
          </a:solidFill>
          <a:ln w="9525">
            <a:solidFill>
              <a:srgbClr val="E0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xm TextBox 19"/>
          <p:cNvSpPr txBox="1"/>
          <p:nvPr/>
        </p:nvSpPr>
        <p:spPr>
          <a:xfrm>
            <a:off x="6499555" y="3846576"/>
            <a:ext cx="197419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1B2433"/>
                </a:solidFill>
                <a:latin typeface="微软雅黑"/>
                <a:ea typeface="微软雅黑"/>
                <a:cs typeface="微软雅黑"/>
              </a:rPr>
              <a:t>方案执行</a:t>
            </a:r>
          </a:p>
        </p:txBody>
      </p:sp>
      <p:sp>
        <p:nvSpPr>
          <p:cNvPr id="21" name="xm TextBox 20"/>
          <p:cNvSpPr txBox="1"/>
          <p:nvPr/>
        </p:nvSpPr>
        <p:spPr>
          <a:xfrm>
            <a:off x="6499555" y="4340352"/>
            <a:ext cx="1974190" cy="856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444B58"/>
                </a:solidFill>
                <a:latin typeface="微软雅黑"/>
                <a:ea typeface="微软雅黑"/>
                <a:cs typeface="微软雅黑"/>
              </a:rPr>
              <a:t>分批落地，控制节奏</a:t>
            </a:r>
          </a:p>
        </p:txBody>
      </p:sp>
      <p:sp>
        <p:nvSpPr>
          <p:cNvPr id="22" name="xm Oval 21"/>
          <p:cNvSpPr/>
          <p:nvPr/>
        </p:nvSpPr>
        <p:spPr>
          <a:xfrm>
            <a:off x="9850374" y="2348789"/>
            <a:ext cx="896112" cy="896112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xm Picture 22" descr="refresh-cw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5441" y="2563856"/>
            <a:ext cx="465978" cy="465978"/>
          </a:xfrm>
          <a:prstGeom prst="rect">
            <a:avLst/>
          </a:prstGeom>
        </p:spPr>
      </p:pic>
      <p:sp>
        <p:nvSpPr>
          <p:cNvPr id="24" name="xm Rectangle 23"/>
          <p:cNvSpPr/>
          <p:nvPr/>
        </p:nvSpPr>
        <p:spPr>
          <a:xfrm>
            <a:off x="9029700" y="3564941"/>
            <a:ext cx="2537460" cy="1895246"/>
          </a:xfrm>
          <a:prstGeom prst="rect">
            <a:avLst/>
          </a:prstGeom>
          <a:solidFill>
            <a:srgbClr val="F6F7F8"/>
          </a:solidFill>
          <a:ln w="9525">
            <a:solidFill>
              <a:srgbClr val="E0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xm TextBox 24"/>
          <p:cNvSpPr txBox="1"/>
          <p:nvPr/>
        </p:nvSpPr>
        <p:spPr>
          <a:xfrm>
            <a:off x="9311335" y="3846576"/>
            <a:ext cx="197419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1B2433"/>
                </a:solidFill>
                <a:latin typeface="微软雅黑"/>
                <a:ea typeface="微软雅黑"/>
                <a:cs typeface="微软雅黑"/>
              </a:rPr>
              <a:t>定期检视</a:t>
            </a:r>
          </a:p>
        </p:txBody>
      </p:sp>
      <p:sp>
        <p:nvSpPr>
          <p:cNvPr id="26" name="xm TextBox 25"/>
          <p:cNvSpPr txBox="1"/>
          <p:nvPr/>
        </p:nvSpPr>
        <p:spPr>
          <a:xfrm>
            <a:off x="9311335" y="4340352"/>
            <a:ext cx="1974190" cy="856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444B58"/>
                </a:solidFill>
                <a:latin typeface="微软雅黑"/>
                <a:ea typeface="微软雅黑"/>
                <a:cs typeface="微软雅黑"/>
              </a:rPr>
              <a:t>每季度复盘一次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85216"/>
            <a:ext cx="237744" cy="237744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"/>
          <p:cNvSpPr txBox="1"/>
          <p:nvPr/>
        </p:nvSpPr>
        <p:spPr>
          <a:xfrm>
            <a:off x="1042416" y="512063"/>
            <a:ext cx="2377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思源宋体"/>
                <a:ea typeface="思源宋体"/>
              </a:rPr>
              <a:t>睿信资本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91056"/>
            <a:ext cx="2743200" cy="17007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600" b="1">
                <a:solidFill>
                  <a:srgbClr val="C9A45C"/>
                </a:solidFill>
                <a:latin typeface="思源宋体"/>
                <a:ea typeface="思源宋体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29000"/>
            <a:ext cx="548640" cy="36576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思源宋体"/>
                <a:ea typeface="思源宋体"/>
              </a:rPr>
              <a:t>下半年计划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C9A45C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思源宋体"/>
                <a:ea typeface="思源宋体"/>
              </a:rPr>
              <a:t>下半年计划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457200"/>
            <a:ext cx="14630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RUIXIN CAPITAL</a:t>
            </a:r>
          </a:p>
        </p:txBody>
      </p:sp>
      <p:sp>
        <p:nvSpPr>
          <p:cNvPr id="6" name="xm TextBox 5"/>
          <p:cNvSpPr txBox="1"/>
          <p:nvPr/>
        </p:nvSpPr>
        <p:spPr>
          <a:xfrm>
            <a:off x="594360" y="2425700"/>
            <a:ext cx="3520440" cy="1397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88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3</a:t>
            </a:r>
            <a:r>
              <a:rPr sz="35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 家</a:t>
            </a:r>
          </a:p>
        </p:txBody>
      </p:sp>
      <p:cxnSp>
        <p:nvCxnSpPr>
          <p:cNvPr id="7" name="xm Connector 6"/>
          <p:cNvCxnSpPr/>
          <p:nvPr/>
        </p:nvCxnSpPr>
        <p:spPr>
          <a:xfrm>
            <a:off x="594360" y="3959860"/>
            <a:ext cx="640080" cy="0"/>
          </a:xfrm>
          <a:prstGeom prst="line">
            <a:avLst/>
          </a:prstGeom>
          <a:ln w="3810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xm TextBox 7"/>
          <p:cNvSpPr txBox="1"/>
          <p:nvPr/>
        </p:nvSpPr>
        <p:spPr>
          <a:xfrm>
            <a:off x="594360" y="4142740"/>
            <a:ext cx="347472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1B2433"/>
                </a:solidFill>
                <a:latin typeface="微软雅黑"/>
                <a:ea typeface="微软雅黑"/>
                <a:cs typeface="微软雅黑"/>
              </a:rPr>
              <a:t>引流</a:t>
            </a:r>
          </a:p>
        </p:txBody>
      </p:sp>
      <p:sp>
        <p:nvSpPr>
          <p:cNvPr id="9" name="xm TextBox 8"/>
          <p:cNvSpPr txBox="1"/>
          <p:nvPr/>
        </p:nvSpPr>
        <p:spPr>
          <a:xfrm>
            <a:off x="594360" y="4737100"/>
            <a:ext cx="3474720" cy="6461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82878F"/>
                </a:solidFill>
                <a:latin typeface="微软雅黑"/>
                <a:ea typeface="微软雅黑"/>
                <a:cs typeface="微软雅黑"/>
              </a:rPr>
              <a:t>头部律所、会计所建立转介合作</a:t>
            </a:r>
          </a:p>
        </p:txBody>
      </p:sp>
      <p:sp>
        <p:nvSpPr>
          <p:cNvPr id="10" name="xm TextBox 9"/>
          <p:cNvSpPr txBox="1"/>
          <p:nvPr/>
        </p:nvSpPr>
        <p:spPr>
          <a:xfrm>
            <a:off x="4526280" y="2425700"/>
            <a:ext cx="3246120" cy="1397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88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80</a:t>
            </a:r>
            <a:r>
              <a:rPr sz="35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 %</a:t>
            </a:r>
          </a:p>
        </p:txBody>
      </p:sp>
      <p:cxnSp>
        <p:nvCxnSpPr>
          <p:cNvPr id="11" name="xm Connector 10"/>
          <p:cNvCxnSpPr/>
          <p:nvPr/>
        </p:nvCxnSpPr>
        <p:spPr>
          <a:xfrm>
            <a:off x="4526280" y="3959860"/>
            <a:ext cx="640080" cy="0"/>
          </a:xfrm>
          <a:prstGeom prst="line">
            <a:avLst/>
          </a:prstGeom>
          <a:ln w="3810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xm TextBox 11"/>
          <p:cNvSpPr txBox="1"/>
          <p:nvPr/>
        </p:nvSpPr>
        <p:spPr>
          <a:xfrm>
            <a:off x="4526280" y="414274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1B2433"/>
                </a:solidFill>
                <a:latin typeface="微软雅黑"/>
                <a:ea typeface="微软雅黑"/>
                <a:cs typeface="微软雅黑"/>
              </a:rPr>
              <a:t>留存</a:t>
            </a:r>
          </a:p>
        </p:txBody>
      </p:sp>
      <p:sp>
        <p:nvSpPr>
          <p:cNvPr id="13" name="xm TextBox 12"/>
          <p:cNvSpPr txBox="1"/>
          <p:nvPr/>
        </p:nvSpPr>
        <p:spPr>
          <a:xfrm>
            <a:off x="4526280" y="4737100"/>
            <a:ext cx="3200400" cy="6461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82878F"/>
                </a:solidFill>
                <a:latin typeface="微软雅黑"/>
                <a:ea typeface="微软雅黑"/>
                <a:cs typeface="微软雅黑"/>
              </a:rPr>
              <a:t>存量客户季度检视覆盖率</a:t>
            </a:r>
          </a:p>
        </p:txBody>
      </p:sp>
      <p:cxnSp>
        <p:nvCxnSpPr>
          <p:cNvPr id="14" name="xm Connector 13"/>
          <p:cNvCxnSpPr/>
          <p:nvPr/>
        </p:nvCxnSpPr>
        <p:spPr>
          <a:xfrm>
            <a:off x="4251960" y="2562860"/>
            <a:ext cx="0" cy="2820416"/>
          </a:xfrm>
          <a:prstGeom prst="line">
            <a:avLst/>
          </a:prstGeom>
          <a:ln w="9525">
            <a:solidFill>
              <a:srgbClr val="E0E2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xm TextBox 14"/>
          <p:cNvSpPr txBox="1"/>
          <p:nvPr/>
        </p:nvSpPr>
        <p:spPr>
          <a:xfrm>
            <a:off x="8183880" y="2425700"/>
            <a:ext cx="3246120" cy="1397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88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25</a:t>
            </a:r>
            <a:r>
              <a:rPr sz="3500" b="1">
                <a:solidFill>
                  <a:srgbClr val="0B1F3A"/>
                </a:solidFill>
                <a:latin typeface="微软雅黑"/>
                <a:ea typeface="微软雅黑"/>
                <a:cs typeface="微软雅黑"/>
              </a:rPr>
              <a:t> 人</a:t>
            </a:r>
          </a:p>
        </p:txBody>
      </p:sp>
      <p:cxnSp>
        <p:nvCxnSpPr>
          <p:cNvPr id="16" name="xm Connector 15"/>
          <p:cNvCxnSpPr/>
          <p:nvPr/>
        </p:nvCxnSpPr>
        <p:spPr>
          <a:xfrm>
            <a:off x="8183880" y="3959860"/>
            <a:ext cx="640080" cy="0"/>
          </a:xfrm>
          <a:prstGeom prst="line">
            <a:avLst/>
          </a:prstGeom>
          <a:ln w="3810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xm TextBox 16"/>
          <p:cNvSpPr txBox="1"/>
          <p:nvPr/>
        </p:nvSpPr>
        <p:spPr>
          <a:xfrm>
            <a:off x="8183880" y="414274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1B2433"/>
                </a:solidFill>
                <a:latin typeface="微软雅黑"/>
                <a:ea typeface="微软雅黑"/>
                <a:cs typeface="微软雅黑"/>
              </a:rPr>
              <a:t>队伍</a:t>
            </a:r>
          </a:p>
        </p:txBody>
      </p:sp>
      <p:sp>
        <p:nvSpPr>
          <p:cNvPr id="18" name="xm TextBox 17"/>
          <p:cNvSpPr txBox="1"/>
          <p:nvPr/>
        </p:nvSpPr>
        <p:spPr>
          <a:xfrm>
            <a:off x="8183880" y="4737100"/>
            <a:ext cx="3200400" cy="6461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82878F"/>
                </a:solidFill>
                <a:latin typeface="微软雅黑"/>
                <a:ea typeface="微软雅黑"/>
                <a:cs typeface="微软雅黑"/>
              </a:rPr>
              <a:t>新增持证投顾</a:t>
            </a:r>
          </a:p>
        </p:txBody>
      </p:sp>
      <p:cxnSp>
        <p:nvCxnSpPr>
          <p:cNvPr id="19" name="xm Connector 18"/>
          <p:cNvCxnSpPr/>
          <p:nvPr/>
        </p:nvCxnSpPr>
        <p:spPr>
          <a:xfrm>
            <a:off x="7909560" y="2562860"/>
            <a:ext cx="0" cy="2820416"/>
          </a:xfrm>
          <a:prstGeom prst="line">
            <a:avLst/>
          </a:prstGeom>
          <a:ln w="9525">
            <a:solidFill>
              <a:srgbClr val="E0E2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C9A45C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3" name="xm TextBox 2"/>
          <p:cNvSpPr txBox="1"/>
          <p:nvPr/>
        </p:nvSpPr>
        <p:spPr>
          <a:xfrm>
            <a:off x="594360" y="2624328"/>
            <a:ext cx="109728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8000" b="1">
                <a:solidFill>
                  <a:srgbClr val="C9A45C"/>
                </a:solidFill>
                <a:latin typeface="思源宋体"/>
                <a:ea typeface="思源宋体"/>
                <a:cs typeface="思源宋体"/>
              </a:rPr>
              <a:t>“</a:t>
            </a:r>
          </a:p>
        </p:txBody>
      </p:sp>
      <p:sp>
        <p:nvSpPr>
          <p:cNvPr id="4" name="xm TextBox 3"/>
          <p:cNvSpPr txBox="1"/>
          <p:nvPr/>
        </p:nvSpPr>
        <p:spPr>
          <a:xfrm>
            <a:off x="777240" y="3675888"/>
            <a:ext cx="8046720" cy="1097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思源宋体"/>
                <a:ea typeface="思源宋体"/>
                <a:cs typeface="思源宋体"/>
              </a:rPr>
              <a:t>客户要的不是产品，是一个靠得住的人。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85216"/>
            <a:ext cx="237744" cy="237744"/>
          </a:xfrm>
          <a:prstGeom prst="rect">
            <a:avLst/>
          </a:prstGeom>
          <a:solidFill>
            <a:srgbClr val="C9A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"/>
          <p:cNvSpPr txBox="1"/>
          <p:nvPr/>
        </p:nvSpPr>
        <p:spPr>
          <a:xfrm>
            <a:off x="1042416" y="512063"/>
            <a:ext cx="237744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思源宋体"/>
                <a:ea typeface="思源宋体"/>
              </a:rPr>
              <a:t>睿信资本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315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思源宋体"/>
                <a:ea typeface="思源宋体"/>
              </a:rP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7315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C9A45C"/>
                </a:solidFill>
                <a:latin typeface="微软雅黑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EB8CA"/>
                </a:solidFill>
                <a:latin typeface="微软雅黑"/>
                <a:ea typeface="微软雅黑"/>
              </a:rPr>
              <a:t>睿信资本 · 让每一份资产都被认真对待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