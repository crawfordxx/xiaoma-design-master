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接待游客（万人次）</c:v>
                </c:pt>
              </c:strCache>
            </c:strRef>
          </c:tx>
          <c:spPr>
            <a:solidFill>
              <a:srgbClr val="2F7D6D"/>
            </a:solidFill>
            <a:ln>
              <a:noFill/>
            </a:ln>
          </c:spPr>
          <c:dPt>
            <c:idx val="0"/>
            <c:spPr>
              <a:solidFill>
                <a:srgbClr val="99BAAD"/>
              </a:solidFill>
            </c:spPr>
          </c:dPt>
          <c:dPt>
            <c:idx val="1"/>
            <c:spPr>
              <a:solidFill>
                <a:srgbClr val="99BAAD"/>
              </a:solidFill>
            </c:spPr>
          </c:dPt>
          <c:dPt>
            <c:idx val="2"/>
            <c:spPr>
              <a:solidFill>
                <a:srgbClr val="99BAAD"/>
              </a:solidFill>
            </c:spPr>
          </c:dPt>
          <c:dPt>
            <c:idx val="3"/>
            <c:spPr>
              <a:solidFill>
                <a:srgbClr val="99BAAD"/>
              </a:solidFill>
            </c:spPr>
          </c:dPt>
          <c:dPt>
            <c:idx val="4"/>
            <c:spPr>
              <a:solidFill>
                <a:srgbClr val="2F7D6D"/>
              </a:solidFill>
            </c:spPr>
          </c:dPt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420.0</c:v>
                </c:pt>
                <c:pt idx="1">
                  <c:v>610.0</c:v>
                </c:pt>
                <c:pt idx="2">
                  <c:v>780.0</c:v>
                </c:pt>
                <c:pt idx="3">
                  <c:v>910.0</c:v>
                </c:pt>
                <c:pt idx="4">
                  <c:v>1050.0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3C9"/>
            </a:solidFill>
          </a:ln>
        </c:spPr>
        <c:txPr>
          <a:bodyPr/>
          <a:lstStyle/>
          <a:p>
            <a:pPr>
              <a:defRPr sz="1200">
                <a:solidFill>
                  <a:srgbClr val="51515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7272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15151"/>
          </a:solidFill>
          <a:latin typeface="思源宋体"/>
          <a:ea typeface="思源宋体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2F7D6D"/>
              </a:solidFill>
              <a:ln>
                <a:solidFill>
                  <a:srgbClr val="F0ECE1"/>
                </a:solidFill>
              </a:ln>
            </c:spPr>
          </c:dPt>
          <c:dPt>
            <c:idx val="1"/>
            <c:spPr>
              <a:solidFill>
                <a:srgbClr val="C2412D"/>
              </a:solidFill>
              <a:ln>
                <a:solidFill>
                  <a:srgbClr val="F0ECE1"/>
                </a:solidFill>
              </a:ln>
            </c:spPr>
          </c:dPt>
          <c:dPt>
            <c:idx val="2"/>
            <c:spPr>
              <a:solidFill>
                <a:srgbClr val="90B4A7"/>
              </a:solidFill>
              <a:ln>
                <a:solidFill>
                  <a:srgbClr val="F0ECE1"/>
                </a:solidFill>
              </a:ln>
            </c:spPr>
          </c:dPt>
          <c:dPt>
            <c:idx val="3"/>
            <c:spPr>
              <a:solidFill>
                <a:srgbClr val="D99687"/>
              </a:solidFill>
              <a:ln>
                <a:solidFill>
                  <a:srgbClr val="F0ECE1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省内</c:v>
                </c:pt>
                <c:pt idx="1">
                  <c:v>长三角</c:v>
                </c:pt>
                <c:pt idx="2">
                  <c:v>其他省份</c:v>
                </c:pt>
                <c:pt idx="3">
                  <c:v>境外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58.0</c:v>
                </c:pt>
                <c:pt idx="1">
                  <c:v>27.0</c:v>
                </c:pt>
                <c:pt idx="2">
                  <c:v>12.0</c:v>
                </c:pt>
                <c:pt idx="3">
                  <c:v>3.0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400">
              <a:solidFill>
                <a:srgbClr val="515151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15151"/>
          </a:solidFill>
          <a:latin typeface="思源宋体"/>
          <a:ea typeface="思源宋体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森林覆盖率 78%</a:t>
            </a:r>
          </a:p>
          <a:p>
            <a:r>
              <a:t>· 距省会高铁 1 小时</a:t>
            </a:r>
          </a:p>
          <a:p>
            <a:r>
              <a:t>· 国家 4A 级以上景区 9 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年份｜接待游客（万人次）</a:t>
            </a:r>
          </a:p>
          <a:p>
            <a:r>
              <a:t>2022｜420</a:t>
            </a:r>
          </a:p>
          <a:p>
            <a:r>
              <a:t>2023｜610</a:t>
            </a:r>
          </a:p>
          <a:p>
            <a:r>
              <a:t>2024｜780</a:t>
            </a:r>
          </a:p>
          <a:p>
            <a:r>
              <a:t>2025｜910</a:t>
            </a:r>
          </a:p>
          <a:p>
            <a:r>
              <a:t>2026｜1050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春 · 采茶季：上千亩高山茶园，跟着茶农上山采茶、学做手工茶</a:t>
            </a:r>
          </a:p>
          <a:p>
            <a:r>
              <a:t>· 夏 · 溯溪季：云栖峡谷 12 公里溪流，避暑漂流和亲子戏水</a:t>
            </a:r>
          </a:p>
          <a:p>
            <a:r>
              <a:t>· 秋 · 古村季：十三座明清古村落，晒秋、打糍粑、看社戏</a:t>
            </a:r>
          </a:p>
          <a:p>
            <a:r>
              <a:t>· 冬 · 温泉季：山间温泉配雪景，夜宿森林民宿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第一天上午：云栖古镇慢逛，品尝手工茶点</a:t>
            </a:r>
          </a:p>
          <a:p>
            <a:r>
              <a:t>2. 第一天下午：竹海步道徒步，登观云台看日落</a:t>
            </a:r>
          </a:p>
          <a:p>
            <a:r>
              <a:t>3. 第二天上午：古村落晒秋体验，午餐吃农家宴</a:t>
            </a:r>
          </a:p>
          <a:p>
            <a:r>
              <a:t>4. 第二天下午：峡谷溯溪或温泉放松，返程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客源地｜占比</a:t>
            </a:r>
          </a:p>
          <a:p>
            <a:r>
              <a:t>省内｜58%</a:t>
            </a:r>
          </a:p>
          <a:p>
            <a:r>
              <a:t>长三角｜27%</a:t>
            </a:r>
          </a:p>
          <a:p>
            <a:r>
              <a:t>其他省份｜12%</a:t>
            </a:r>
          </a:p>
          <a:p>
            <a:r>
              <a:t>境外｜3%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线路共建：旅行社、研学机构联合开发主题线路</a:t>
            </a:r>
          </a:p>
          <a:p>
            <a:r>
              <a:t>· 品牌联名：茶叶、竹编等非遗产品联名开发</a:t>
            </a:r>
          </a:p>
          <a:p>
            <a:r>
              <a:t>· 活动承办：音乐节、马拉松、写生季等大型活动场地支持</a:t>
            </a:r>
          </a:p>
          <a:p>
            <a:r>
              <a:t>· 政策扶持：新开业文旅项目三年税收与租金优惠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山水为媒，与你相约云栖。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6400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42127"/>
            <a:ext cx="566928" cy="340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云栖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894877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2B2B2B"/>
                </a:solidFill>
                <a:latin typeface="思源宋体"/>
                <a:ea typeface="思源宋体"/>
              </a:rPr>
              <a:t>云栖四季 · 2027 文旅推介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F7D6D"/>
                </a:solidFill>
                <a:latin typeface="思源宋体"/>
                <a:ea typeface="思源宋体"/>
              </a:rPr>
              <a:t>云栖文旅集团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B2B2B"/>
                </a:solidFill>
                <a:latin typeface="思源宋体"/>
                <a:ea typeface="思源宋体"/>
              </a:rPr>
              <a:t>目　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74980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832103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9552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认识云栖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03580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四季玩法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27608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游客从哪里来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43800" y="2194560"/>
            <a:ext cx="0" cy="2286000"/>
          </a:xfrm>
          <a:prstGeom prst="line">
            <a:avLst/>
          </a:prstGeom>
          <a:ln w="12700">
            <a:solidFill>
              <a:srgbClr val="C9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516368" y="2194560"/>
            <a:ext cx="54864" cy="640080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194560"/>
            <a:ext cx="146304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2F7D6D"/>
                </a:solidFill>
                <a:latin typeface="思源宋体"/>
                <a:ea typeface="思源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017520"/>
            <a:ext cx="1828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B2B2B"/>
                </a:solidFill>
                <a:latin typeface="思源宋体"/>
                <a:ea typeface="思源宋体"/>
              </a:rPr>
              <a:t>合作机会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0" b="1">
                <a:solidFill>
                  <a:srgbClr val="F3E3C3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宋体"/>
                <a:ea typeface="思源宋体"/>
              </a:rPr>
              <a:t>认识云栖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669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6056"/>
            <a:ext cx="384048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思源宋体"/>
                <a:ea typeface="思源宋体"/>
              </a:rPr>
              <a:t>一座藏在山水里的县城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61872"/>
            <a:ext cx="1280160" cy="73152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577"/>
                </a:solidFill>
                <a:latin typeface="微软雅黑"/>
                <a:ea typeface="微软雅黑"/>
              </a:rPr>
              <a:t>云栖文旅 · YUNQI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143000" y="1916684"/>
            <a:ext cx="315468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78</a:t>
            </a:r>
            <a:r>
              <a:rPr sz="35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 %</a:t>
            </a:r>
          </a:p>
        </p:txBody>
      </p:sp>
      <p:cxnSp>
        <p:nvCxnSpPr>
          <p:cNvPr id="11" name="xm Connector 10"/>
          <p:cNvCxnSpPr/>
          <p:nvPr/>
        </p:nvCxnSpPr>
        <p:spPr>
          <a:xfrm>
            <a:off x="1143000" y="3450844"/>
            <a:ext cx="640080" cy="0"/>
          </a:xfrm>
          <a:prstGeom prst="line">
            <a:avLst/>
          </a:prstGeom>
          <a:ln w="38100">
            <a:solidFill>
              <a:srgbClr val="2F7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xm TextBox 11"/>
          <p:cNvSpPr txBox="1"/>
          <p:nvPr/>
        </p:nvSpPr>
        <p:spPr>
          <a:xfrm>
            <a:off x="1143000" y="3633724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森林覆盖率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4709160" y="1916684"/>
            <a:ext cx="288036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1</a:t>
            </a:r>
            <a:r>
              <a:rPr sz="35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 小时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4709160" y="3450844"/>
            <a:ext cx="640080" cy="0"/>
          </a:xfrm>
          <a:prstGeom prst="line">
            <a:avLst/>
          </a:prstGeom>
          <a:ln w="38100">
            <a:solidFill>
              <a:srgbClr val="2F7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TextBox 14"/>
          <p:cNvSpPr txBox="1"/>
          <p:nvPr/>
        </p:nvSpPr>
        <p:spPr>
          <a:xfrm>
            <a:off x="4709160" y="36337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距省会高铁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4434840" y="2053844"/>
            <a:ext cx="0" cy="2174240"/>
          </a:xfrm>
          <a:prstGeom prst="line">
            <a:avLst/>
          </a:prstGeom>
          <a:ln w="9525">
            <a:solidFill>
              <a:srgbClr val="D6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8001000" y="1916684"/>
            <a:ext cx="288036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9</a:t>
            </a:r>
            <a:r>
              <a:rPr sz="35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 处</a:t>
            </a:r>
          </a:p>
        </p:txBody>
      </p:sp>
      <p:cxnSp>
        <p:nvCxnSpPr>
          <p:cNvPr id="18" name="xm Connector 17"/>
          <p:cNvCxnSpPr/>
          <p:nvPr/>
        </p:nvCxnSpPr>
        <p:spPr>
          <a:xfrm>
            <a:off x="8001000" y="3450844"/>
            <a:ext cx="640080" cy="0"/>
          </a:xfrm>
          <a:prstGeom prst="line">
            <a:avLst/>
          </a:prstGeom>
          <a:ln w="38100">
            <a:solidFill>
              <a:srgbClr val="2F7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xm TextBox 18"/>
          <p:cNvSpPr txBox="1"/>
          <p:nvPr/>
        </p:nvSpPr>
        <p:spPr>
          <a:xfrm>
            <a:off x="8001000" y="36337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国家 4A 级以上景区</a:t>
            </a:r>
          </a:p>
        </p:txBody>
      </p:sp>
      <p:cxnSp>
        <p:nvCxnSpPr>
          <p:cNvPr id="20" name="xm Connector 19"/>
          <p:cNvCxnSpPr/>
          <p:nvPr/>
        </p:nvCxnSpPr>
        <p:spPr>
          <a:xfrm>
            <a:off x="7726680" y="2053844"/>
            <a:ext cx="0" cy="2174240"/>
          </a:xfrm>
          <a:prstGeom prst="line">
            <a:avLst/>
          </a:prstGeom>
          <a:ln w="9525">
            <a:solidFill>
              <a:srgbClr val="D6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669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6056"/>
            <a:ext cx="384048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思源宋体"/>
                <a:ea typeface="思源宋体"/>
              </a:rPr>
              <a:t>游客量持续增长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61872"/>
            <a:ext cx="1280160" cy="73152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577"/>
                </a:solidFill>
                <a:latin typeface="微软雅黑"/>
                <a:ea typeface="微软雅黑"/>
              </a:rPr>
              <a:t>云栖文旅 · YUNQI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143000" y="432511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27272"/>
                </a:solidFill>
                <a:latin typeface="思源宋体"/>
                <a:ea typeface="思源宋体"/>
                <a:cs typeface="思源宋体"/>
              </a:rPr>
              <a:t>示例数据 · 单位：万人次</a:t>
            </a:r>
          </a:p>
        </p:txBody>
      </p:sp>
      <p:graphicFrame>
        <p:nvGraphicFramePr>
          <p:cNvPr id="11" name="xm Chart 10"/>
          <p:cNvGraphicFramePr>
            <a:graphicFrameLocks noGrp="1"/>
          </p:cNvGraphicFramePr>
          <p:nvPr/>
        </p:nvGraphicFramePr>
        <p:xfrm>
          <a:off x="1143000" y="1563624"/>
          <a:ext cx="6517843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xm Rectangle 11"/>
          <p:cNvSpPr/>
          <p:nvPr/>
        </p:nvSpPr>
        <p:spPr>
          <a:xfrm>
            <a:off x="8026603" y="1563624"/>
            <a:ext cx="2991917" cy="2651760"/>
          </a:xfrm>
          <a:prstGeom prst="rect">
            <a:avLst/>
          </a:prstGeom>
          <a:solidFill>
            <a:srgbClr val="DFE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TextBox 12"/>
          <p:cNvSpPr txBox="1"/>
          <p:nvPr/>
        </p:nvSpPr>
        <p:spPr>
          <a:xfrm>
            <a:off x="8346643" y="1883664"/>
            <a:ext cx="235183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2.5</a:t>
            </a:r>
            <a:r>
              <a:rPr sz="18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 倍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8346643" y="2843784"/>
            <a:ext cx="2351837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四年增长（420 → 1,050 万人次）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0" b="1">
                <a:solidFill>
                  <a:srgbClr val="F3E3C3"/>
                </a:solidFill>
                <a:latin typeface="思源宋体"/>
                <a:ea typeface="思源宋体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宋体"/>
                <a:ea typeface="思源宋体"/>
              </a:rPr>
              <a:t>四季玩法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669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6056"/>
            <a:ext cx="384048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思源宋体"/>
                <a:ea typeface="思源宋体"/>
              </a:rPr>
              <a:t>春夏秋冬，各有各的好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61872"/>
            <a:ext cx="1280160" cy="73152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577"/>
                </a:solidFill>
                <a:latin typeface="微软雅黑"/>
                <a:ea typeface="微软雅黑"/>
              </a:rPr>
              <a:t>云栖文旅 · YUNQI</a:t>
            </a:r>
          </a:p>
        </p:txBody>
      </p:sp>
      <p:sp>
        <p:nvSpPr>
          <p:cNvPr id="10" name="xm Rectangle 9"/>
          <p:cNvSpPr/>
          <p:nvPr/>
        </p:nvSpPr>
        <p:spPr>
          <a:xfrm>
            <a:off x="1143000" y="1842767"/>
            <a:ext cx="2263140" cy="245923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03200" dist="38100" dir="5400000" algn="t" rotWithShape="0">
              <a:srgbClr val="183E3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xm Rectangle 10"/>
          <p:cNvSpPr/>
          <p:nvPr/>
        </p:nvSpPr>
        <p:spPr>
          <a:xfrm>
            <a:off x="1143000" y="1842767"/>
            <a:ext cx="2263140" cy="64008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TextBox 11"/>
          <p:cNvSpPr txBox="1"/>
          <p:nvPr/>
        </p:nvSpPr>
        <p:spPr>
          <a:xfrm>
            <a:off x="1433532" y="2133299"/>
            <a:ext cx="1097280" cy="4842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01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1433532" y="2617519"/>
            <a:ext cx="1682075" cy="3453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春 · 采茶季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1433532" y="3072643"/>
            <a:ext cx="1682075" cy="10259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上千亩高山茶园，跟着茶农上山采茶、学做手工茶</a:t>
            </a:r>
          </a:p>
        </p:txBody>
      </p:sp>
      <p:sp>
        <p:nvSpPr>
          <p:cNvPr id="15" name="xm Rectangle 14"/>
          <p:cNvSpPr/>
          <p:nvPr/>
        </p:nvSpPr>
        <p:spPr>
          <a:xfrm>
            <a:off x="3680460" y="1842767"/>
            <a:ext cx="2263140" cy="245923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03200" dist="38100" dir="5400000" algn="t" rotWithShape="0">
              <a:srgbClr val="183E3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Rectangle 15"/>
          <p:cNvSpPr/>
          <p:nvPr/>
        </p:nvSpPr>
        <p:spPr>
          <a:xfrm>
            <a:off x="3680460" y="1842767"/>
            <a:ext cx="2263140" cy="64008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TextBox 16"/>
          <p:cNvSpPr txBox="1"/>
          <p:nvPr/>
        </p:nvSpPr>
        <p:spPr>
          <a:xfrm>
            <a:off x="3970992" y="2133299"/>
            <a:ext cx="1097280" cy="4842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02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3970992" y="2617519"/>
            <a:ext cx="1682075" cy="3453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夏 · 溯溪季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3970992" y="3072643"/>
            <a:ext cx="1682075" cy="10259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云栖峡谷 12 公里溪流，避暑漂流和亲子戏水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6217920" y="1842767"/>
            <a:ext cx="2263140" cy="245923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03200" dist="38100" dir="5400000" algn="t" rotWithShape="0">
              <a:srgbClr val="183E3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Rectangle 20"/>
          <p:cNvSpPr/>
          <p:nvPr/>
        </p:nvSpPr>
        <p:spPr>
          <a:xfrm>
            <a:off x="6217920" y="1842767"/>
            <a:ext cx="2263140" cy="64008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TextBox 21"/>
          <p:cNvSpPr txBox="1"/>
          <p:nvPr/>
        </p:nvSpPr>
        <p:spPr>
          <a:xfrm>
            <a:off x="6508452" y="2133299"/>
            <a:ext cx="1097280" cy="4842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03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6508452" y="2617519"/>
            <a:ext cx="1682075" cy="3453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秋 · 古村季</a:t>
            </a:r>
          </a:p>
        </p:txBody>
      </p:sp>
      <p:sp>
        <p:nvSpPr>
          <p:cNvPr id="24" name="xm TextBox 23"/>
          <p:cNvSpPr txBox="1"/>
          <p:nvPr/>
        </p:nvSpPr>
        <p:spPr>
          <a:xfrm>
            <a:off x="6508452" y="3072643"/>
            <a:ext cx="1682075" cy="10259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十三座明清古村落，晒秋、打糍粑、看社戏</a:t>
            </a:r>
          </a:p>
        </p:txBody>
      </p:sp>
      <p:sp>
        <p:nvSpPr>
          <p:cNvPr id="25" name="xm Rectangle 24"/>
          <p:cNvSpPr/>
          <p:nvPr/>
        </p:nvSpPr>
        <p:spPr>
          <a:xfrm>
            <a:off x="8755380" y="1842767"/>
            <a:ext cx="2263140" cy="245923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03200" dist="38100" dir="5400000" algn="t" rotWithShape="0">
              <a:srgbClr val="183E3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xm Rectangle 25"/>
          <p:cNvSpPr/>
          <p:nvPr/>
        </p:nvSpPr>
        <p:spPr>
          <a:xfrm>
            <a:off x="8755380" y="1842767"/>
            <a:ext cx="2263140" cy="64008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xm TextBox 26"/>
          <p:cNvSpPr txBox="1"/>
          <p:nvPr/>
        </p:nvSpPr>
        <p:spPr>
          <a:xfrm>
            <a:off x="9045912" y="2133299"/>
            <a:ext cx="1097280" cy="4842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04</a:t>
            </a:r>
          </a:p>
        </p:txBody>
      </p:sp>
      <p:sp>
        <p:nvSpPr>
          <p:cNvPr id="28" name="xm TextBox 27"/>
          <p:cNvSpPr txBox="1"/>
          <p:nvPr/>
        </p:nvSpPr>
        <p:spPr>
          <a:xfrm>
            <a:off x="9045912" y="2617519"/>
            <a:ext cx="1682075" cy="3453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冬 · 温泉季</a:t>
            </a:r>
          </a:p>
        </p:txBody>
      </p:sp>
      <p:sp>
        <p:nvSpPr>
          <p:cNvPr id="29" name="xm TextBox 28"/>
          <p:cNvSpPr txBox="1"/>
          <p:nvPr/>
        </p:nvSpPr>
        <p:spPr>
          <a:xfrm>
            <a:off x="9045912" y="3072643"/>
            <a:ext cx="1682075" cy="102598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山间温泉配雪景，夜宿森林民宿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669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6056"/>
            <a:ext cx="384048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思源宋体"/>
                <a:ea typeface="思源宋体"/>
              </a:rPr>
              <a:t>一条经典两日游线路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61872"/>
            <a:ext cx="1280160" cy="73152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577"/>
                </a:solidFill>
                <a:latin typeface="微软雅黑"/>
                <a:ea typeface="微软雅黑"/>
              </a:rPr>
              <a:t>云栖文旅 · YUNQI</a:t>
            </a:r>
          </a:p>
        </p:txBody>
      </p:sp>
      <p:cxnSp>
        <p:nvCxnSpPr>
          <p:cNvPr id="10" name="xm Connector 9"/>
          <p:cNvCxnSpPr/>
          <p:nvPr/>
        </p:nvCxnSpPr>
        <p:spPr>
          <a:xfrm>
            <a:off x="1143000" y="2857038"/>
            <a:ext cx="9875520" cy="0"/>
          </a:xfrm>
          <a:prstGeom prst="line">
            <a:avLst/>
          </a:prstGeom>
          <a:ln w="38100">
            <a:solidFill>
              <a:srgbClr val="A3C0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xm Oval 10"/>
          <p:cNvSpPr/>
          <p:nvPr/>
        </p:nvSpPr>
        <p:spPr>
          <a:xfrm>
            <a:off x="1143000" y="2719878"/>
            <a:ext cx="274320" cy="274320"/>
          </a:xfrm>
          <a:prstGeom prst="ellipse">
            <a:avLst/>
          </a:prstGeom>
          <a:solidFill>
            <a:srgbClr val="F0ECE1"/>
          </a:solidFill>
          <a:ln w="12700">
            <a:solidFill>
              <a:srgbClr val="2F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TextBox 11"/>
          <p:cNvSpPr txBox="1"/>
          <p:nvPr/>
        </p:nvSpPr>
        <p:spPr>
          <a:xfrm>
            <a:off x="1143000" y="1892023"/>
            <a:ext cx="2286000" cy="82785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第一天上午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1143000" y="3222798"/>
            <a:ext cx="2194560" cy="7080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云栖古镇慢逛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1143000" y="3976522"/>
            <a:ext cx="2194560" cy="3676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品尝手工茶点</a:t>
            </a:r>
          </a:p>
        </p:txBody>
      </p:sp>
      <p:sp>
        <p:nvSpPr>
          <p:cNvPr id="15" name="xm Oval 14"/>
          <p:cNvSpPr/>
          <p:nvPr/>
        </p:nvSpPr>
        <p:spPr>
          <a:xfrm>
            <a:off x="3611880" y="2719878"/>
            <a:ext cx="274320" cy="274320"/>
          </a:xfrm>
          <a:prstGeom prst="ellipse">
            <a:avLst/>
          </a:prstGeom>
          <a:solidFill>
            <a:srgbClr val="F0ECE1"/>
          </a:solidFill>
          <a:ln w="12700">
            <a:solidFill>
              <a:srgbClr val="2F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3611880" y="1892023"/>
            <a:ext cx="2286000" cy="82785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第一天下午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3611880" y="3222798"/>
            <a:ext cx="2194560" cy="7080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竹海步道徒步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3611880" y="3976522"/>
            <a:ext cx="2194560" cy="3676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登观云台看日落</a:t>
            </a:r>
          </a:p>
        </p:txBody>
      </p:sp>
      <p:sp>
        <p:nvSpPr>
          <p:cNvPr id="19" name="xm Oval 18"/>
          <p:cNvSpPr/>
          <p:nvPr/>
        </p:nvSpPr>
        <p:spPr>
          <a:xfrm>
            <a:off x="6080760" y="2719878"/>
            <a:ext cx="274320" cy="274320"/>
          </a:xfrm>
          <a:prstGeom prst="ellipse">
            <a:avLst/>
          </a:prstGeom>
          <a:solidFill>
            <a:srgbClr val="F0ECE1"/>
          </a:solidFill>
          <a:ln w="12700">
            <a:solidFill>
              <a:srgbClr val="2F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xm TextBox 19"/>
          <p:cNvSpPr txBox="1"/>
          <p:nvPr/>
        </p:nvSpPr>
        <p:spPr>
          <a:xfrm>
            <a:off x="6080760" y="1892023"/>
            <a:ext cx="2286000" cy="82785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第二天上午</a:t>
            </a:r>
          </a:p>
        </p:txBody>
      </p:sp>
      <p:sp>
        <p:nvSpPr>
          <p:cNvPr id="21" name="xm TextBox 20"/>
          <p:cNvSpPr txBox="1"/>
          <p:nvPr/>
        </p:nvSpPr>
        <p:spPr>
          <a:xfrm>
            <a:off x="6080760" y="3222798"/>
            <a:ext cx="2194560" cy="7080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古村落晒秋体验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6080760" y="3976522"/>
            <a:ext cx="2194560" cy="3676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午餐吃农家宴</a:t>
            </a:r>
          </a:p>
        </p:txBody>
      </p:sp>
      <p:sp>
        <p:nvSpPr>
          <p:cNvPr id="23" name="xm Oval 22"/>
          <p:cNvSpPr/>
          <p:nvPr/>
        </p:nvSpPr>
        <p:spPr>
          <a:xfrm>
            <a:off x="8549640" y="2719878"/>
            <a:ext cx="274320" cy="274320"/>
          </a:xfrm>
          <a:prstGeom prst="ellipse">
            <a:avLst/>
          </a:prstGeom>
          <a:solidFill>
            <a:srgbClr val="2F7D6D"/>
          </a:solidFill>
          <a:ln w="12700">
            <a:solidFill>
              <a:srgbClr val="2F7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xm TextBox 23"/>
          <p:cNvSpPr txBox="1"/>
          <p:nvPr/>
        </p:nvSpPr>
        <p:spPr>
          <a:xfrm>
            <a:off x="8549640" y="1892023"/>
            <a:ext cx="2286000" cy="82785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9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第二天下午</a:t>
            </a:r>
          </a:p>
        </p:txBody>
      </p:sp>
      <p:sp>
        <p:nvSpPr>
          <p:cNvPr id="25" name="xm TextBox 24"/>
          <p:cNvSpPr txBox="1"/>
          <p:nvPr/>
        </p:nvSpPr>
        <p:spPr>
          <a:xfrm>
            <a:off x="8549640" y="3222798"/>
            <a:ext cx="2194560" cy="7080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峡谷溯溪或温泉放松</a:t>
            </a:r>
          </a:p>
        </p:txBody>
      </p:sp>
      <p:sp>
        <p:nvSpPr>
          <p:cNvPr id="26" name="xm TextBox 25"/>
          <p:cNvSpPr txBox="1"/>
          <p:nvPr/>
        </p:nvSpPr>
        <p:spPr>
          <a:xfrm>
            <a:off x="8549640" y="3976522"/>
            <a:ext cx="2194560" cy="3676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返程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0" b="1">
                <a:solidFill>
                  <a:srgbClr val="F3E3C3"/>
                </a:solidFill>
                <a:latin typeface="思源宋体"/>
                <a:ea typeface="思源宋体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宋体"/>
                <a:ea typeface="思源宋体"/>
              </a:rPr>
              <a:t>游客从哪里来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669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6056"/>
            <a:ext cx="384048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思源宋体"/>
                <a:ea typeface="思源宋体"/>
              </a:rPr>
              <a:t>客源结构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61872"/>
            <a:ext cx="1280160" cy="73152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577"/>
                </a:solidFill>
                <a:latin typeface="微软雅黑"/>
                <a:ea typeface="微软雅黑"/>
              </a:rPr>
              <a:t>云栖文旅 · YUNQI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143000" y="432511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27272"/>
                </a:solidFill>
                <a:latin typeface="思源宋体"/>
                <a:ea typeface="思源宋体"/>
                <a:cs typeface="思源宋体"/>
              </a:rPr>
              <a:t>示例数据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1143000" y="1563624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长三角游客占比 27%，是增长最快的客源地</a:t>
            </a:r>
          </a:p>
        </p:txBody>
      </p:sp>
      <p:graphicFrame>
        <p:nvGraphicFramePr>
          <p:cNvPr id="12" name="xm Chart 11"/>
          <p:cNvGraphicFramePr>
            <a:graphicFrameLocks noGrp="1"/>
          </p:cNvGraphicFramePr>
          <p:nvPr/>
        </p:nvGraphicFramePr>
        <p:xfrm>
          <a:off x="4256532" y="2295144"/>
          <a:ext cx="3648456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371600"/>
            <a:ext cx="2743200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0" b="1">
                <a:solidFill>
                  <a:srgbClr val="F3E3C3"/>
                </a:solidFill>
                <a:latin typeface="思源宋体"/>
                <a:ea typeface="思源宋体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宋体"/>
                <a:ea typeface="思源宋体"/>
              </a:rPr>
              <a:t>合作机会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669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6056"/>
            <a:ext cx="384048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思源宋体"/>
                <a:ea typeface="思源宋体"/>
              </a:rPr>
              <a:t>我们为合作伙伴提供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61872"/>
            <a:ext cx="1280160" cy="73152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577"/>
                </a:solidFill>
                <a:latin typeface="微软雅黑"/>
                <a:ea typeface="微软雅黑"/>
              </a:rPr>
              <a:t>云栖文旅 · YUNQI</a:t>
            </a:r>
          </a:p>
        </p:txBody>
      </p:sp>
      <p:sp>
        <p:nvSpPr>
          <p:cNvPr id="10" name="xm Rectangle 9"/>
          <p:cNvSpPr/>
          <p:nvPr/>
        </p:nvSpPr>
        <p:spPr>
          <a:xfrm>
            <a:off x="1143000" y="1757934"/>
            <a:ext cx="2263140" cy="262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03200" dist="38100" dir="5400000" algn="t" rotWithShape="0">
              <a:srgbClr val="183E3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xm Rectangle 10"/>
          <p:cNvSpPr/>
          <p:nvPr/>
        </p:nvSpPr>
        <p:spPr>
          <a:xfrm>
            <a:off x="1143000" y="1757934"/>
            <a:ext cx="2263140" cy="64008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Oval 11"/>
          <p:cNvSpPr/>
          <p:nvPr/>
        </p:nvSpPr>
        <p:spPr>
          <a:xfrm>
            <a:off x="1417320" y="2032254"/>
            <a:ext cx="566928" cy="566928"/>
          </a:xfrm>
          <a:prstGeom prst="ellipse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xm Picture 12" descr="map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383" y="2168317"/>
            <a:ext cx="294803" cy="294803"/>
          </a:xfrm>
          <a:prstGeom prst="rect">
            <a:avLst/>
          </a:prstGeom>
        </p:spPr>
      </p:pic>
      <p:sp>
        <p:nvSpPr>
          <p:cNvPr id="14" name="xm TextBox 13"/>
          <p:cNvSpPr txBox="1"/>
          <p:nvPr/>
        </p:nvSpPr>
        <p:spPr>
          <a:xfrm>
            <a:off x="1417320" y="2782062"/>
            <a:ext cx="17145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线路共建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1417320" y="3220974"/>
            <a:ext cx="1714500" cy="9738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旅行社、研学机构联合开发主题线路</a:t>
            </a:r>
          </a:p>
        </p:txBody>
      </p:sp>
      <p:sp>
        <p:nvSpPr>
          <p:cNvPr id="16" name="xm Rectangle 15"/>
          <p:cNvSpPr/>
          <p:nvPr/>
        </p:nvSpPr>
        <p:spPr>
          <a:xfrm>
            <a:off x="3680460" y="1757934"/>
            <a:ext cx="2263140" cy="262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03200" dist="38100" dir="5400000" algn="t" rotWithShape="0">
              <a:srgbClr val="183E3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Rectangle 16"/>
          <p:cNvSpPr/>
          <p:nvPr/>
        </p:nvSpPr>
        <p:spPr>
          <a:xfrm>
            <a:off x="3680460" y="1757934"/>
            <a:ext cx="2263140" cy="64008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Oval 17"/>
          <p:cNvSpPr/>
          <p:nvPr/>
        </p:nvSpPr>
        <p:spPr>
          <a:xfrm>
            <a:off x="3954780" y="2032254"/>
            <a:ext cx="566928" cy="566928"/>
          </a:xfrm>
          <a:prstGeom prst="ellipse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xm Picture 18" descr="packag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843" y="2168317"/>
            <a:ext cx="294803" cy="294803"/>
          </a:xfrm>
          <a:prstGeom prst="rect">
            <a:avLst/>
          </a:prstGeom>
        </p:spPr>
      </p:pic>
      <p:sp>
        <p:nvSpPr>
          <p:cNvPr id="20" name="xm TextBox 19"/>
          <p:cNvSpPr txBox="1"/>
          <p:nvPr/>
        </p:nvSpPr>
        <p:spPr>
          <a:xfrm>
            <a:off x="3954780" y="2782062"/>
            <a:ext cx="17145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品牌联名</a:t>
            </a:r>
          </a:p>
        </p:txBody>
      </p:sp>
      <p:sp>
        <p:nvSpPr>
          <p:cNvPr id="21" name="xm TextBox 20"/>
          <p:cNvSpPr txBox="1"/>
          <p:nvPr/>
        </p:nvSpPr>
        <p:spPr>
          <a:xfrm>
            <a:off x="3954780" y="3220974"/>
            <a:ext cx="1714500" cy="9738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茶叶、竹编等非遗产品联名开发</a:t>
            </a:r>
          </a:p>
        </p:txBody>
      </p:sp>
      <p:sp>
        <p:nvSpPr>
          <p:cNvPr id="22" name="xm Rectangle 21"/>
          <p:cNvSpPr/>
          <p:nvPr/>
        </p:nvSpPr>
        <p:spPr>
          <a:xfrm>
            <a:off x="6217920" y="1757934"/>
            <a:ext cx="2263140" cy="262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03200" dist="38100" dir="5400000" algn="t" rotWithShape="0">
              <a:srgbClr val="183E3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xm Rectangle 22"/>
          <p:cNvSpPr/>
          <p:nvPr/>
        </p:nvSpPr>
        <p:spPr>
          <a:xfrm>
            <a:off x="6217920" y="1757934"/>
            <a:ext cx="2263140" cy="64008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xm Oval 23"/>
          <p:cNvSpPr/>
          <p:nvPr/>
        </p:nvSpPr>
        <p:spPr>
          <a:xfrm>
            <a:off x="6492240" y="2032254"/>
            <a:ext cx="566928" cy="566928"/>
          </a:xfrm>
          <a:prstGeom prst="ellipse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xm Picture 24" descr="calendar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303" y="2168317"/>
            <a:ext cx="294803" cy="294803"/>
          </a:xfrm>
          <a:prstGeom prst="rect">
            <a:avLst/>
          </a:prstGeom>
        </p:spPr>
      </p:pic>
      <p:sp>
        <p:nvSpPr>
          <p:cNvPr id="26" name="xm TextBox 25"/>
          <p:cNvSpPr txBox="1"/>
          <p:nvPr/>
        </p:nvSpPr>
        <p:spPr>
          <a:xfrm>
            <a:off x="6492240" y="2782062"/>
            <a:ext cx="17145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活动承办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6492240" y="3220974"/>
            <a:ext cx="1714500" cy="9738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音乐节、马拉松、写生季等大型活动场地支持</a:t>
            </a:r>
          </a:p>
        </p:txBody>
      </p:sp>
      <p:sp>
        <p:nvSpPr>
          <p:cNvPr id="28" name="xm Rectangle 27"/>
          <p:cNvSpPr/>
          <p:nvPr/>
        </p:nvSpPr>
        <p:spPr>
          <a:xfrm>
            <a:off x="8755380" y="1757934"/>
            <a:ext cx="2263140" cy="262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03200" dist="38100" dir="5400000" algn="t" rotWithShape="0">
              <a:srgbClr val="183E36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xm Rectangle 28"/>
          <p:cNvSpPr/>
          <p:nvPr/>
        </p:nvSpPr>
        <p:spPr>
          <a:xfrm>
            <a:off x="8755380" y="1757934"/>
            <a:ext cx="2263140" cy="64008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xm Oval 29"/>
          <p:cNvSpPr/>
          <p:nvPr/>
        </p:nvSpPr>
        <p:spPr>
          <a:xfrm>
            <a:off x="9029700" y="2032254"/>
            <a:ext cx="566928" cy="566928"/>
          </a:xfrm>
          <a:prstGeom prst="ellipse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xm Picture 30" descr="scale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5763" y="2168317"/>
            <a:ext cx="294803" cy="294803"/>
          </a:xfrm>
          <a:prstGeom prst="rect">
            <a:avLst/>
          </a:prstGeom>
        </p:spPr>
      </p:pic>
      <p:sp>
        <p:nvSpPr>
          <p:cNvPr id="32" name="xm TextBox 31"/>
          <p:cNvSpPr txBox="1"/>
          <p:nvPr/>
        </p:nvSpPr>
        <p:spPr>
          <a:xfrm>
            <a:off x="9029700" y="2782062"/>
            <a:ext cx="17145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政策扶持</a:t>
            </a:r>
          </a:p>
        </p:txBody>
      </p:sp>
      <p:sp>
        <p:nvSpPr>
          <p:cNvPr id="33" name="xm TextBox 32"/>
          <p:cNvSpPr txBox="1"/>
          <p:nvPr/>
        </p:nvSpPr>
        <p:spPr>
          <a:xfrm>
            <a:off x="9029700" y="3220974"/>
            <a:ext cx="1714500" cy="9738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15151"/>
                </a:solidFill>
                <a:latin typeface="思源宋体"/>
                <a:ea typeface="思源宋体"/>
                <a:cs typeface="思源宋体"/>
              </a:rPr>
              <a:t>新开业文旅项目三年税收与租金优惠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66928"/>
            <a:ext cx="384048" cy="38404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6056"/>
            <a:ext cx="384048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B2B2B"/>
                </a:solidFill>
                <a:latin typeface="思源宋体"/>
                <a:ea typeface="思源宋体"/>
              </a:rPr>
              <a:t>合作机会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61872"/>
            <a:ext cx="1280160" cy="73152"/>
          </a:xfrm>
          <a:prstGeom prst="rect">
            <a:avLst/>
          </a:prstGeom>
          <a:solidFill>
            <a:srgbClr val="2F7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0" y="6400800"/>
            <a:ext cx="20116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C8577"/>
                </a:solidFill>
                <a:latin typeface="微软雅黑"/>
                <a:ea typeface="微软雅黑"/>
              </a:rPr>
              <a:t>云栖文旅 · YUNQI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508760" y="1655064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2F7D6D"/>
                </a:solidFill>
                <a:latin typeface="思源宋体"/>
                <a:ea typeface="思源宋体"/>
                <a:cs typeface="思源宋体"/>
              </a:rPr>
              <a:t>“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1691640" y="2706624"/>
            <a:ext cx="877824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2B2B2B"/>
                </a:solidFill>
                <a:latin typeface="思源宋体"/>
                <a:ea typeface="思源宋体"/>
                <a:cs typeface="思源宋体"/>
              </a:rPr>
              <a:t>山水为媒，与你相约云栖。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ur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6400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42127"/>
            <a:ext cx="566928" cy="3401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思源宋体"/>
                <a:ea typeface="思源宋体"/>
              </a:rPr>
              <a:t>云栖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B2B2B"/>
                </a:solidFill>
                <a:latin typeface="思源宋体"/>
                <a:ea typeface="思源宋体"/>
              </a:rPr>
              <a:t>山水相逢　后会有期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F7D6D"/>
                </a:solidFill>
                <a:latin typeface="思源宋体"/>
                <a:ea typeface="思源宋体"/>
              </a:rPr>
              <a:t>欢迎来云栖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