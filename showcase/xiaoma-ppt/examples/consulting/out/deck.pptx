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71" r:id="rId22"/>
    <p:sldId id="272" r:id="rId23"/>
    <p:sldId id="273" r:id="rId24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notesMaster" Target="notesMasters/notesMaster1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底座</c:v>
                </c:pt>
              </c:strCache>
            </c:strRef>
          </c:tx>
          <c:spPr>
            <a:noFill/>
          </c:spPr>
          <c:cat>
            <c:strRef>
              <c:f>Sheet1!$A$2:$A$7</c:f>
              <c:strCache>
                <c:ptCount val="6"/>
                <c:pt idx="0">
                  <c:v>起点</c:v>
                </c:pt>
                <c:pt idx="1">
                  <c:v>因素一</c:v>
                </c:pt>
                <c:pt idx="2">
                  <c:v>因素二</c:v>
                </c:pt>
                <c:pt idx="3">
                  <c:v>因素三</c:v>
                </c:pt>
                <c:pt idx="4">
                  <c:v>因素四</c:v>
                </c:pt>
                <c:pt idx="5">
                  <c:v>终点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100</c:v>
                </c:pt>
                <c:pt idx="2">
                  <c:v>130</c:v>
                </c:pt>
                <c:pt idx="3">
                  <c:v>110</c:v>
                </c:pt>
                <c:pt idx="4">
                  <c:v>125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数值</c:v>
                </c:pt>
              </c:strCache>
            </c:strRef>
          </c:tx>
          <c:spPr>
            <a:solidFill>
              <a:schemeClr val="accent1"/>
            </a:solidFill>
          </c:spPr>
          <c:cat>
            <c:strRef>
              <c:f>Sheet1!$A$2:$A$7</c:f>
              <c:strCache>
                <c:ptCount val="6"/>
                <c:pt idx="0">
                  <c:v>起点</c:v>
                </c:pt>
                <c:pt idx="1">
                  <c:v>因素一</c:v>
                </c:pt>
                <c:pt idx="2">
                  <c:v>因素二</c:v>
                </c:pt>
                <c:pt idx="3">
                  <c:v>因素三</c:v>
                </c:pt>
                <c:pt idx="4">
                  <c:v>因素四</c:v>
                </c:pt>
                <c:pt idx="5">
                  <c:v>终点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30</c:v>
                </c:pt>
                <c:pt idx="2">
                  <c:v>-20</c:v>
                </c:pt>
                <c:pt idx="3">
                  <c:v>15</c:v>
                </c:pt>
                <c:pt idx="4">
                  <c:v>20</c:v>
                </c:pt>
                <c:pt idx="5">
                  <c:v>145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新增装机（GWh）</c:v>
                </c:pt>
              </c:strCache>
            </c:strRef>
          </c:tx>
          <c:spPr>
            <a:solidFill>
              <a:srgbClr val="13315C"/>
            </a:solidFill>
            <a:ln>
              <a:noFill/>
            </a:ln>
          </c:spPr>
          <c:dPt>
            <c:idx val="0"/>
            <c:spPr>
              <a:solidFill>
                <a:srgbClr val="95A2B6"/>
              </a:solidFill>
            </c:spPr>
          </c:dPt>
          <c:dPt>
            <c:idx val="1"/>
            <c:spPr>
              <a:solidFill>
                <a:srgbClr val="95A2B6"/>
              </a:solidFill>
            </c:spPr>
          </c:dPt>
          <c:dPt>
            <c:idx val="2"/>
            <c:spPr>
              <a:solidFill>
                <a:srgbClr val="95A2B6"/>
              </a:solidFill>
            </c:spPr>
          </c:dPt>
          <c:dPt>
            <c:idx val="3"/>
            <c:spPr>
              <a:solidFill>
                <a:srgbClr val="13315C"/>
              </a:solidFill>
            </c:spPr>
          </c:dPt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9.8</c:v>
                </c:pt>
                <c:pt idx="2">
                  <c:v>17.5</c:v>
                </c:pt>
                <c:pt idx="3">
                  <c:v>26.0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500" b="1">
                  <a:solidFill>
                    <a:srgbClr val="1F2937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2E3E5"/>
            </a:solidFill>
          </a:ln>
        </c:spPr>
        <c:txPr>
          <a:bodyPr/>
          <a:lstStyle/>
          <a:p>
            <a:pPr>
              <a:defRPr sz="1400">
                <a:solidFill>
                  <a:srgbClr val="47505B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numFmt formatCode="#,##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solidFill>
                  <a:srgbClr val="848991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7505B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市场份额（%）</c:v>
                </c:pt>
              </c:strCache>
            </c:strRef>
          </c:tx>
          <c:dPt>
            <c:idx val="0"/>
            <c:spPr>
              <a:solidFill>
                <a:srgbClr val="13315C"/>
              </a:solidFill>
              <a:ln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1F8A70"/>
              </a:solidFill>
              <a:ln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8998AE"/>
              </a:solidFill>
              <a:ln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8FC4B8"/>
              </a:solidFill>
              <a:ln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848991"/>
              </a:solidFill>
              <a:ln>
                <a:solidFill>
                  <a:srgbClr val="FFFFFF"/>
                </a:solidFill>
              </a:ln>
            </c:spPr>
          </c:dPt>
          <c:dPt>
            <c:idx val="5"/>
            <c:spPr>
              <a:solidFill>
                <a:srgbClr val="192D4A"/>
              </a:solidFill>
              <a:ln>
                <a:solidFill>
                  <a:srgbClr val="FFFFFF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企业 A</c:v>
                </c:pt>
                <c:pt idx="1">
                  <c:v>企业 B</c:v>
                </c:pt>
                <c:pt idx="2">
                  <c:v>企业 C</c:v>
                </c:pt>
                <c:pt idx="3">
                  <c:v>企业 D</c:v>
                </c:pt>
                <c:pt idx="4">
                  <c:v>企业 E</c:v>
                </c:pt>
                <c:pt idx="5">
                  <c:v>其他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16.0</c:v>
                </c:pt>
                <c:pt idx="1">
                  <c:v>13.0</c:v>
                </c:pt>
                <c:pt idx="2">
                  <c:v>9.0</c:v>
                </c:pt>
                <c:pt idx="3">
                  <c:v>8.0</c:v>
                </c:pt>
                <c:pt idx="4">
                  <c:v>6.0</c:v>
                </c:pt>
                <c:pt idx="5">
                  <c:v>48.0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5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  <c:txPr>
        <a:bodyPr/>
        <a:lstStyle/>
        <a:p>
          <a:pPr>
            <a:defRPr sz="1600">
              <a:solidFill>
                <a:srgbClr val="47505B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47505B"/>
          </a:solidFill>
          <a:latin typeface="微软雅黑"/>
          <a:ea typeface="微软雅黑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年份｜新增装机（GWh）</a:t>
            </a:r>
          </a:p>
          <a:p>
            <a:r>
              <a:t>2023｜4.2</a:t>
            </a:r>
          </a:p>
          <a:p>
            <a:r>
              <a:t>2024｜9.8</a:t>
            </a:r>
          </a:p>
          <a:p>
            <a:r>
              <a:t>2025｜17.5</a:t>
            </a:r>
          </a:p>
          <a:p>
            <a:r>
              <a:t>2026｜26.0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峰谷价差：23 个省份价差超过 0.7 元/千瓦时</a:t>
            </a:r>
          </a:p>
          <a:p>
            <a:r>
              <a:t>· 电芯降价：储能电芯价格两年下降 58%</a:t>
            </a:r>
          </a:p>
          <a:p>
            <a:r>
              <a:t>· 政策支持：17 个省份出台工商业储能补贴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企业｜市场份额（%）</a:t>
            </a:r>
          </a:p>
          <a:p>
            <a:r>
              <a:t>企业 A｜16</a:t>
            </a:r>
          </a:p>
          <a:p>
            <a:r>
              <a:t>企业 B｜13</a:t>
            </a:r>
          </a:p>
          <a:p>
            <a:r>
              <a:t>企业 C｜9</a:t>
            </a:r>
          </a:p>
          <a:p>
            <a:r>
              <a:t>企业 D｜8</a:t>
            </a:r>
          </a:p>
          <a:p>
            <a:r>
              <a:t>企业 E｜6</a:t>
            </a:r>
          </a:p>
          <a:p>
            <a:r>
              <a:t>其他｜48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· 制造：自有电池包产线，成本低于行业 8%</a:t>
            </a:r>
          </a:p>
          <a:p>
            <a:r>
              <a:t>· 客户：已服务 1,200 家制造业客户</a:t>
            </a:r>
          </a:p>
          <a:p>
            <a:r>
              <a:t>· 短板：缺少电力交易和运维团队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0–6 个月：在长三角 3 个园区做示范项目</a:t>
            </a:r>
          </a:p>
          <a:p>
            <a:r>
              <a:t>2. 6–12 个月：组建电力交易和运维团队</a:t>
            </a:r>
          </a:p>
          <a:p>
            <a:r>
              <a:t>3. 12–18 个月：复制到 50 家存量客户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先把自己工厂的储能做好，就是最好的样板间。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sulting-skyli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0"/>
            <a:ext cx="70710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3611880"/>
            <a:ext cx="731520" cy="45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consulting-logo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1828800" cy="4424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737360"/>
            <a:ext cx="4114800" cy="1737360"/>
          </a:xfrm>
        </p:spPr>
        <p:txBody>
          <a:bodyPr anchor="b"/>
          <a:lstStyle>
            <a:lvl1pPr algn="l">
              <a:defRPr sz="30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t>单击此处添加报告标题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3840480"/>
            <a:ext cx="4114800" cy="822960"/>
          </a:xfrm>
        </p:spPr>
        <p:txBody>
          <a:bodyPr/>
          <a:lstStyle>
            <a:lvl1pPr algn="l" marL="0" indent="0">
              <a:buNone/>
              <a:defRPr sz="1400">
                <a:solidFill>
                  <a:srgbClr val="C9D4E3"/>
                </a:solidFill>
              </a:defRPr>
            </a:lvl1pPr>
          </a:lstStyle>
          <a:p>
            <a:r>
              <a:t>单击此处添加副标题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8778240" cy="868680"/>
          </a:xfrm>
        </p:spPr>
        <p:txBody>
          <a:bodyPr anchor="b"/>
          <a:lstStyle>
            <a:lvl1pPr algn="l">
              <a:defRPr/>
            </a:lvl1pPr>
          </a:lstStyle>
          <a:p>
            <a:r>
              <a:t>行动标题：用一句完整的话写出本页结论，不超过两行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带要点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49640" y="1600200"/>
            <a:ext cx="3136392" cy="45262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549640" y="1600200"/>
            <a:ext cx="3136392" cy="548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778240" y="17830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chemeClr val="tx2"/>
                </a:solidFill>
                <a:latin typeface="+mn-lt"/>
                <a:ea typeface="+mn-ea"/>
              </a:rPr>
              <a:t>要点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8778240" cy="868680"/>
          </a:xfrm>
        </p:spPr>
        <p:txBody>
          <a:bodyPr anchor="b"/>
          <a:lstStyle>
            <a:lvl1pPr algn="l">
              <a:defRPr/>
            </a:lvl1pPr>
          </a:lstStyle>
          <a:p>
            <a:r>
              <a:t>行动标题：用一句完整的话写出本页结论，不超过两行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1600200"/>
            <a:ext cx="7772400" cy="4480560"/>
          </a:xfrm>
        </p:spPr>
        <p:txBody>
          <a:bodyPr/>
          <a:lstStyle>
            <a:lvl1pPr>
              <a:defRPr/>
            </a:lvl1pPr>
          </a:lstStyle>
          <a:p>
            <a:r>
              <a:t>单击此处编辑正文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8778240" cy="868680"/>
          </a:xfrm>
        </p:spPr>
        <p:txBody>
          <a:bodyPr anchor="b"/>
          <a:lstStyle>
            <a:lvl1pPr algn="l">
              <a:defRPr/>
            </a:lvl1pPr>
          </a:lstStyle>
          <a:p>
            <a:r>
              <a:t>行动标题：用一句完整的话写出本页结论，不超过两行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8778240" cy="868680"/>
          </a:xfrm>
        </p:spPr>
        <p:txBody>
          <a:bodyPr anchor="b"/>
          <a:lstStyle>
            <a:lvl1pPr algn="l">
              <a:defRPr/>
            </a:lvl1pPr>
          </a:lstStyle>
          <a:p>
            <a:r>
              <a:t>议程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371600"/>
            <a:ext cx="11183112" cy="1097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6400800"/>
            <a:ext cx="11183112" cy="7315"/>
          </a:xfrm>
          <a:prstGeom prst="rect">
            <a:avLst/>
          </a:prstGeom>
          <a:solidFill>
            <a:srgbClr val="C8C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5669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411480"/>
            <a:ext cx="8778240" cy="8686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1600200"/>
            <a:ext cx="11155680" cy="448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2920" y="6473952"/>
            <a:ext cx="45720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5680" y="6473952"/>
            <a:ext cx="54864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4"/>
    <p:sldLayoutId id="2147483654" r:id="rId6"/>
    <p:sldLayoutId id="2147483655" r:id="rId7"/>
    <p:sldLayoutId id="2147483656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2200" kern="1200" b="0">
          <a:solidFill>
            <a:schemeClr val="tx2"/>
          </a:solidFill>
          <a:latin typeface="+mj-lt"/>
          <a:ea typeface="+mj-e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accent4"/>
          </a:solidFill>
          <a:latin typeface="+mn-lt"/>
          <a:ea typeface="+mn-ea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737360"/>
            <a:ext cx="4206240" cy="1737360"/>
          </a:xfrm>
        </p:spPr>
        <p:txBody>
          <a:bodyPr/>
          <a:lstStyle/>
          <a:p>
            <a:r>
              <a:t>中国工商业储能市场研究与进入策略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为华铸智造准备的讨论文件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7607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C9D4E3"/>
                </a:solidFill>
                <a:latin typeface="+mn-lt"/>
                <a:ea typeface="+mn-ea"/>
              </a:rPr>
              <a:t>2026 年 10 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08076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8DA2BF"/>
                </a:solidFill>
                <a:latin typeface="+mn-lt"/>
                <a:ea typeface="+mn-ea"/>
              </a:rPr>
              <a:t>讨论稿 · 严格保密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议程列表"/>
          <p:cNvSpPr txBox="1"/>
          <p:nvPr/>
        </p:nvSpPr>
        <p:spPr>
          <a:xfrm>
            <a:off x="1463040" y="178308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chemeClr val="tx2"/>
                </a:solidFill>
                <a:latin typeface="+mn-lt"/>
                <a:ea typeface="+mn-ea"/>
              </a:rPr>
              <a:t>1　　市场概览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tx2"/>
                </a:solidFill>
                <a:latin typeface="+mn-lt"/>
                <a:ea typeface="+mn-ea"/>
              </a:rPr>
              <a:t>2　　竞争格局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tx2"/>
                </a:solidFill>
                <a:latin typeface="+mn-lt"/>
                <a:ea typeface="+mn-ea"/>
              </a:rPr>
              <a:t>3　　能力评估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tx2"/>
                </a:solidFill>
                <a:latin typeface="+mn-lt"/>
                <a:ea typeface="+mn-ea"/>
              </a:rPr>
              <a:t>4　　实施建议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3</a:t>
            </a:fld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议程列表"/>
          <p:cNvSpPr txBox="1"/>
          <p:nvPr/>
        </p:nvSpPr>
        <p:spPr>
          <a:xfrm>
            <a:off x="1463040" y="178308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1">
                <a:solidFill>
                  <a:schemeClr val="tx2"/>
                </a:solidFill>
                <a:latin typeface="+mn-lt"/>
                <a:ea typeface="+mn-ea"/>
              </a:rPr>
              <a:t>1　　市场概览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2　　竞争格局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3　　能力评估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4　　实施建议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1990344"/>
            <a:ext cx="73152" cy="384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4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装机三年增长 6 倍，规模持续扩大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6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9518904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10</a:t>
            </a:fld>
          </a:p>
        </p:txBody>
      </p:sp>
      <p:sp>
        <p:nvSpPr>
          <p:cNvPr id="38" name="xm TextBox 37"/>
          <p:cNvSpPr txBox="1"/>
          <p:nvPr/>
        </p:nvSpPr>
        <p:spPr>
          <a:xfrm>
            <a:off x="548640" y="591616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48991"/>
                </a:solidFill>
                <a:latin typeface="微软雅黑"/>
                <a:ea typeface="微软雅黑"/>
                <a:cs typeface="微软雅黑"/>
              </a:rPr>
              <a:t>资料来源：示例数据；衡策咨询分析</a:t>
            </a:r>
          </a:p>
        </p:txBody>
      </p:sp>
      <p:graphicFrame>
        <p:nvGraphicFramePr>
          <p:cNvPr id="39" name="xm Chart 38"/>
          <p:cNvGraphicFramePr>
            <a:graphicFrameLocks noGrp="1"/>
          </p:cNvGraphicFramePr>
          <p:nvPr/>
        </p:nvGraphicFramePr>
        <p:xfrm>
          <a:off x="548640" y="1508760"/>
          <a:ext cx="110642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三个因素推动需求快速释放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9518904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9</a:t>
            </a:fld>
          </a:p>
        </p:txBody>
      </p:sp>
      <p:sp>
        <p:nvSpPr>
          <p:cNvPr id="52" name="xm TextBox 51"/>
          <p:cNvSpPr txBox="1"/>
          <p:nvPr/>
        </p:nvSpPr>
        <p:spPr>
          <a:xfrm>
            <a:off x="548640" y="564184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48991"/>
                </a:solidFill>
                <a:latin typeface="微软雅黑"/>
                <a:ea typeface="微软雅黑"/>
                <a:cs typeface="微软雅黑"/>
              </a:rPr>
              <a:t>资料来源：示例数据；衡策咨询分析</a:t>
            </a:r>
          </a:p>
        </p:txBody>
      </p:sp>
      <p:sp>
        <p:nvSpPr>
          <p:cNvPr id="53" name="xm TextBox 52"/>
          <p:cNvSpPr txBox="1"/>
          <p:nvPr/>
        </p:nvSpPr>
        <p:spPr>
          <a:xfrm>
            <a:off x="548640" y="2180336"/>
            <a:ext cx="355092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23</a:t>
            </a:r>
            <a:r>
              <a:rPr sz="3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 个</a:t>
            </a:r>
          </a:p>
        </p:txBody>
      </p:sp>
      <p:cxnSp>
        <p:nvCxnSpPr>
          <p:cNvPr id="54" name="xm Connector 53"/>
          <p:cNvCxnSpPr/>
          <p:nvPr/>
        </p:nvCxnSpPr>
        <p:spPr>
          <a:xfrm>
            <a:off x="548640" y="3714496"/>
            <a:ext cx="640080" cy="0"/>
          </a:xfrm>
          <a:prstGeom prst="line">
            <a:avLst/>
          </a:prstGeom>
          <a:ln w="38100">
            <a:solidFill>
              <a:srgbClr val="133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xm TextBox 54"/>
          <p:cNvSpPr txBox="1"/>
          <p:nvPr/>
        </p:nvSpPr>
        <p:spPr>
          <a:xfrm>
            <a:off x="548640" y="3897376"/>
            <a:ext cx="350520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峰谷价差</a:t>
            </a:r>
          </a:p>
        </p:txBody>
      </p:sp>
      <p:sp>
        <p:nvSpPr>
          <p:cNvPr id="56" name="xm TextBox 55"/>
          <p:cNvSpPr txBox="1"/>
          <p:nvPr/>
        </p:nvSpPr>
        <p:spPr>
          <a:xfrm>
            <a:off x="548640" y="4491736"/>
            <a:ext cx="3505200" cy="3688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48991"/>
                </a:solidFill>
                <a:latin typeface="微软雅黑"/>
                <a:ea typeface="微软雅黑"/>
                <a:cs typeface="微软雅黑"/>
              </a:rPr>
              <a:t>省份价差超过 0.7 元/千瓦时</a:t>
            </a:r>
          </a:p>
        </p:txBody>
      </p:sp>
      <p:sp>
        <p:nvSpPr>
          <p:cNvPr id="57" name="xm TextBox 56"/>
          <p:cNvSpPr txBox="1"/>
          <p:nvPr/>
        </p:nvSpPr>
        <p:spPr>
          <a:xfrm>
            <a:off x="4511040" y="2180336"/>
            <a:ext cx="327660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58</a:t>
            </a:r>
            <a:r>
              <a:rPr sz="3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cxnSp>
        <p:nvCxnSpPr>
          <p:cNvPr id="58" name="xm Connector 57"/>
          <p:cNvCxnSpPr/>
          <p:nvPr/>
        </p:nvCxnSpPr>
        <p:spPr>
          <a:xfrm>
            <a:off x="4511040" y="3714496"/>
            <a:ext cx="640080" cy="0"/>
          </a:xfrm>
          <a:prstGeom prst="line">
            <a:avLst/>
          </a:prstGeom>
          <a:ln w="38100">
            <a:solidFill>
              <a:srgbClr val="133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xm TextBox 58"/>
          <p:cNvSpPr txBox="1"/>
          <p:nvPr/>
        </p:nvSpPr>
        <p:spPr>
          <a:xfrm>
            <a:off x="4511040" y="3897376"/>
            <a:ext cx="32308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电芯降价</a:t>
            </a:r>
          </a:p>
        </p:txBody>
      </p:sp>
      <p:cxnSp>
        <p:nvCxnSpPr>
          <p:cNvPr id="60" name="xm Connector 59"/>
          <p:cNvCxnSpPr/>
          <p:nvPr/>
        </p:nvCxnSpPr>
        <p:spPr>
          <a:xfrm>
            <a:off x="4236720" y="2317496"/>
            <a:ext cx="0" cy="2543048"/>
          </a:xfrm>
          <a:prstGeom prst="line">
            <a:avLst/>
          </a:prstGeom>
          <a:ln w="9525">
            <a:solidFill>
              <a:srgbClr val="E2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xm TextBox 60"/>
          <p:cNvSpPr txBox="1"/>
          <p:nvPr/>
        </p:nvSpPr>
        <p:spPr>
          <a:xfrm>
            <a:off x="8199120" y="2180336"/>
            <a:ext cx="3276600" cy="13970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lnSpc>
                <a:spcPct val="115000"/>
              </a:lnSpc>
            </a:pPr>
            <a:r>
              <a:rPr sz="88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17</a:t>
            </a:r>
            <a:r>
              <a:rPr sz="3500" b="1">
                <a:solidFill>
                  <a:srgbClr val="13315C"/>
                </a:solidFill>
                <a:latin typeface="微软雅黑"/>
                <a:ea typeface="微软雅黑"/>
                <a:cs typeface="微软雅黑"/>
              </a:rPr>
              <a:t> 个</a:t>
            </a:r>
          </a:p>
        </p:txBody>
      </p:sp>
      <p:cxnSp>
        <p:nvCxnSpPr>
          <p:cNvPr id="62" name="xm Connector 61"/>
          <p:cNvCxnSpPr/>
          <p:nvPr/>
        </p:nvCxnSpPr>
        <p:spPr>
          <a:xfrm>
            <a:off x="8199120" y="3714496"/>
            <a:ext cx="640080" cy="0"/>
          </a:xfrm>
          <a:prstGeom prst="line">
            <a:avLst/>
          </a:prstGeom>
          <a:ln w="38100">
            <a:solidFill>
              <a:srgbClr val="1331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xm TextBox 62"/>
          <p:cNvSpPr txBox="1"/>
          <p:nvPr/>
        </p:nvSpPr>
        <p:spPr>
          <a:xfrm>
            <a:off x="8199120" y="3897376"/>
            <a:ext cx="3230880" cy="594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政策支持</a:t>
            </a:r>
          </a:p>
        </p:txBody>
      </p:sp>
      <p:sp>
        <p:nvSpPr>
          <p:cNvPr id="64" name="xm TextBox 63"/>
          <p:cNvSpPr txBox="1"/>
          <p:nvPr/>
        </p:nvSpPr>
        <p:spPr>
          <a:xfrm>
            <a:off x="8199120" y="4491736"/>
            <a:ext cx="3230880" cy="3688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848991"/>
                </a:solidFill>
                <a:latin typeface="微软雅黑"/>
                <a:ea typeface="微软雅黑"/>
                <a:cs typeface="微软雅黑"/>
              </a:rPr>
              <a:t>省份出台工商业储能补贴</a:t>
            </a:r>
          </a:p>
        </p:txBody>
      </p:sp>
      <p:cxnSp>
        <p:nvCxnSpPr>
          <p:cNvPr id="65" name="xm Connector 64"/>
          <p:cNvCxnSpPr/>
          <p:nvPr/>
        </p:nvCxnSpPr>
        <p:spPr>
          <a:xfrm>
            <a:off x="7924800" y="2317496"/>
            <a:ext cx="0" cy="2543048"/>
          </a:xfrm>
          <a:prstGeom prst="line">
            <a:avLst/>
          </a:prstGeom>
          <a:ln w="9525">
            <a:solidFill>
              <a:srgbClr val="E2E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议程列表"/>
          <p:cNvSpPr txBox="1"/>
          <p:nvPr/>
        </p:nvSpPr>
        <p:spPr>
          <a:xfrm>
            <a:off x="1463040" y="178308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1　　市场概览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chemeClr val="tx2"/>
                </a:solidFill>
                <a:latin typeface="+mn-lt"/>
                <a:ea typeface="+mn-ea"/>
              </a:rPr>
              <a:t>2　　竞争格局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3　　能力评估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4　　实施建议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2523744"/>
            <a:ext cx="73152" cy="384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4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前五名企业合计占据 52% 份额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6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85831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10</a:t>
            </a:fld>
          </a:p>
        </p:txBody>
      </p:sp>
      <p:sp>
        <p:nvSpPr>
          <p:cNvPr id="38" name="xm TextBox 37"/>
          <p:cNvSpPr txBox="1"/>
          <p:nvPr/>
        </p:nvSpPr>
        <p:spPr>
          <a:xfrm>
            <a:off x="548640" y="591616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48991"/>
                </a:solidFill>
                <a:latin typeface="微软雅黑"/>
                <a:ea typeface="微软雅黑"/>
                <a:cs typeface="微软雅黑"/>
              </a:rPr>
              <a:t>资料来源：示例数据；衡策咨询分析</a:t>
            </a:r>
          </a:p>
        </p:txBody>
      </p:sp>
      <p:graphicFrame>
        <p:nvGraphicFramePr>
          <p:cNvPr id="39" name="xm Chart 38"/>
          <p:cNvGraphicFramePr>
            <a:graphicFrameLocks noGrp="1"/>
          </p:cNvGraphicFramePr>
          <p:nvPr/>
        </p:nvGraphicFramePr>
        <p:xfrm>
          <a:off x="1997964" y="1508760"/>
          <a:ext cx="8165592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竞争正在从拼价格转向拼运营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85832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7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8</a:t>
            </a:fld>
          </a:p>
        </p:txBody>
      </p:sp>
      <p:sp>
        <p:nvSpPr>
          <p:cNvPr id="13" name="xm TextBox 12"/>
          <p:cNvSpPr txBox="1"/>
          <p:nvPr/>
        </p:nvSpPr>
        <p:spPr>
          <a:xfrm>
            <a:off x="548640" y="5669280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48991"/>
                </a:solidFill>
                <a:latin typeface="微软雅黑"/>
                <a:ea typeface="微软雅黑"/>
                <a:cs typeface="微软雅黑"/>
              </a:rPr>
              <a:t>资料来源：示例数据；衡策咨询分析</a:t>
            </a:r>
          </a:p>
        </p:txBody>
      </p:sp>
      <p:sp>
        <p:nvSpPr>
          <p:cNvPr id="14" name="xm Rectangle 13"/>
          <p:cNvSpPr/>
          <p:nvPr/>
        </p:nvSpPr>
        <p:spPr>
          <a:xfrm>
            <a:off x="548640" y="2264969"/>
            <a:ext cx="5120640" cy="2931566"/>
          </a:xfrm>
          <a:prstGeom prst="rect">
            <a:avLst/>
          </a:prstGeom>
          <a:solidFill>
            <a:srgbClr val="F7F8F9"/>
          </a:solidFill>
          <a:ln w="9525">
            <a:solidFill>
              <a:srgbClr val="E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xm Rectangle 14"/>
          <p:cNvSpPr/>
          <p:nvPr/>
        </p:nvSpPr>
        <p:spPr>
          <a:xfrm>
            <a:off x="548640" y="2264969"/>
            <a:ext cx="5120640" cy="1024128"/>
          </a:xfrm>
          <a:prstGeom prst="rect">
            <a:avLst/>
          </a:prstGeom>
          <a:solidFill>
            <a:srgbClr val="E5E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过去的做法</a:t>
            </a:r>
          </a:p>
        </p:txBody>
      </p:sp>
      <p:pic>
        <p:nvPicPr>
          <p:cNvPr id="16" name="xm Picture 15" descr="circle-x-1331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6841"/>
            <a:ext cx="435254" cy="435254"/>
          </a:xfrm>
          <a:prstGeom prst="rect">
            <a:avLst/>
          </a:prstGeom>
        </p:spPr>
      </p:pic>
      <p:sp>
        <p:nvSpPr>
          <p:cNvPr id="17" name="xm TextBox 16"/>
          <p:cNvSpPr txBox="1"/>
          <p:nvPr/>
        </p:nvSpPr>
        <p:spPr>
          <a:xfrm>
            <a:off x="1395374" y="3471977"/>
            <a:ext cx="399958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848991"/>
                </a:solidFill>
                <a:latin typeface="微软雅黑"/>
                <a:ea typeface="微软雅黑"/>
                <a:cs typeface="微软雅黑"/>
              </a:rPr>
              <a:t>比设备单价</a:t>
            </a:r>
          </a:p>
        </p:txBody>
      </p:sp>
      <p:pic>
        <p:nvPicPr>
          <p:cNvPr id="18" name="xm Picture 17" descr="circle-x-13315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20540"/>
            <a:ext cx="435254" cy="435254"/>
          </a:xfrm>
          <a:prstGeom prst="rect">
            <a:avLst/>
          </a:prstGeom>
        </p:spPr>
      </p:pic>
      <p:sp>
        <p:nvSpPr>
          <p:cNvPr id="19" name="xm TextBox 18"/>
          <p:cNvSpPr txBox="1"/>
          <p:nvPr/>
        </p:nvSpPr>
        <p:spPr>
          <a:xfrm>
            <a:off x="1395374" y="4265676"/>
            <a:ext cx="399958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848991"/>
                </a:solidFill>
                <a:latin typeface="微软雅黑"/>
                <a:ea typeface="微软雅黑"/>
                <a:cs typeface="微软雅黑"/>
              </a:rPr>
              <a:t>一次性卖设备</a:t>
            </a:r>
          </a:p>
        </p:txBody>
      </p:sp>
      <p:sp>
        <p:nvSpPr>
          <p:cNvPr id="20" name="xm Rectangle 19"/>
          <p:cNvSpPr/>
          <p:nvPr/>
        </p:nvSpPr>
        <p:spPr>
          <a:xfrm>
            <a:off x="6492240" y="2264969"/>
            <a:ext cx="5120640" cy="2931566"/>
          </a:xfrm>
          <a:prstGeom prst="rect">
            <a:avLst/>
          </a:prstGeom>
          <a:solidFill>
            <a:srgbClr val="F7F8F9"/>
          </a:solidFill>
          <a:ln w="19050">
            <a:solidFill>
              <a:srgbClr val="133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xm Rectangle 20"/>
          <p:cNvSpPr/>
          <p:nvPr/>
        </p:nvSpPr>
        <p:spPr>
          <a:xfrm>
            <a:off x="6492240" y="2264969"/>
            <a:ext cx="5120640" cy="1024128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现在的做法</a:t>
            </a:r>
          </a:p>
        </p:txBody>
      </p:sp>
      <p:pic>
        <p:nvPicPr>
          <p:cNvPr id="22" name="xm Picture 21" descr="circle-check-1331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526841"/>
            <a:ext cx="435254" cy="435254"/>
          </a:xfrm>
          <a:prstGeom prst="rect">
            <a:avLst/>
          </a:prstGeom>
        </p:spPr>
      </p:pic>
      <p:sp>
        <p:nvSpPr>
          <p:cNvPr id="23" name="xm TextBox 22"/>
          <p:cNvSpPr txBox="1"/>
          <p:nvPr/>
        </p:nvSpPr>
        <p:spPr>
          <a:xfrm>
            <a:off x="7338974" y="3471977"/>
            <a:ext cx="399958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比全周期收益</a:t>
            </a:r>
          </a:p>
        </p:txBody>
      </p:sp>
      <p:pic>
        <p:nvPicPr>
          <p:cNvPr id="24" name="xm Picture 23" descr="circle-check-13315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4320540"/>
            <a:ext cx="435254" cy="435254"/>
          </a:xfrm>
          <a:prstGeom prst="rect">
            <a:avLst/>
          </a:prstGeom>
        </p:spPr>
      </p:pic>
      <p:sp>
        <p:nvSpPr>
          <p:cNvPr id="25" name="xm TextBox 24"/>
          <p:cNvSpPr txBox="1"/>
          <p:nvPr/>
        </p:nvSpPr>
        <p:spPr>
          <a:xfrm>
            <a:off x="7338974" y="4265676"/>
            <a:ext cx="3999586" cy="7479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设备加运营服务</a:t>
            </a:r>
          </a:p>
        </p:txBody>
      </p:sp>
      <p:sp>
        <p:nvSpPr>
          <p:cNvPr id="26" name="xm Oval 25"/>
          <p:cNvSpPr/>
          <p:nvPr/>
        </p:nvSpPr>
        <p:spPr>
          <a:xfrm>
            <a:off x="5733288" y="3383280"/>
            <a:ext cx="694944" cy="694944"/>
          </a:xfrm>
          <a:prstGeom prst="ellipse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VS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议程列表"/>
          <p:cNvSpPr txBox="1"/>
          <p:nvPr/>
        </p:nvSpPr>
        <p:spPr>
          <a:xfrm>
            <a:off x="1463040" y="178308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1　　市场概览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2　　竞争格局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chemeClr val="tx2"/>
                </a:solidFill>
                <a:latin typeface="+mn-lt"/>
                <a:ea typeface="+mn-ea"/>
              </a:rPr>
              <a:t>3　　能力评估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4　　实施建议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3057144"/>
            <a:ext cx="73152" cy="384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4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华铸的优势集中在制造和客户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6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52760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10</a:t>
            </a:fld>
          </a:p>
        </p:txBody>
      </p:sp>
      <p:sp>
        <p:nvSpPr>
          <p:cNvPr id="38" name="xm TextBox 37"/>
          <p:cNvSpPr txBox="1"/>
          <p:nvPr/>
        </p:nvSpPr>
        <p:spPr>
          <a:xfrm>
            <a:off x="548640" y="5916168"/>
            <a:ext cx="110642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48991"/>
                </a:solidFill>
                <a:latin typeface="微软雅黑"/>
                <a:ea typeface="微软雅黑"/>
                <a:cs typeface="微软雅黑"/>
              </a:rPr>
              <a:t>资料来源：示例数据；衡策咨询分析</a:t>
            </a:r>
          </a:p>
        </p:txBody>
      </p:sp>
      <p:sp>
        <p:nvSpPr>
          <p:cNvPr id="39" name="xm Rectangle 38"/>
          <p:cNvSpPr/>
          <p:nvPr/>
        </p:nvSpPr>
        <p:spPr>
          <a:xfrm>
            <a:off x="548640" y="2091842"/>
            <a:ext cx="3505200" cy="3131515"/>
          </a:xfrm>
          <a:prstGeom prst="rect">
            <a:avLst/>
          </a:prstGeom>
          <a:solidFill>
            <a:srgbClr val="F7F8F9"/>
          </a:solidFill>
          <a:ln w="9525">
            <a:solidFill>
              <a:srgbClr val="E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xm Rectangle 39"/>
          <p:cNvSpPr/>
          <p:nvPr/>
        </p:nvSpPr>
        <p:spPr>
          <a:xfrm>
            <a:off x="548640" y="2091842"/>
            <a:ext cx="3505200" cy="64008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xm Oval 40"/>
          <p:cNvSpPr/>
          <p:nvPr/>
        </p:nvSpPr>
        <p:spPr>
          <a:xfrm>
            <a:off x="932688" y="2475890"/>
            <a:ext cx="793699" cy="793699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xm Picture 41" descr="coins-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76" y="2666378"/>
            <a:ext cx="412724" cy="412724"/>
          </a:xfrm>
          <a:prstGeom prst="rect">
            <a:avLst/>
          </a:prstGeom>
        </p:spPr>
      </p:pic>
      <p:sp>
        <p:nvSpPr>
          <p:cNvPr id="43" name="xm TextBox 42"/>
          <p:cNvSpPr txBox="1"/>
          <p:nvPr/>
        </p:nvSpPr>
        <p:spPr>
          <a:xfrm>
            <a:off x="932688" y="3452470"/>
            <a:ext cx="27371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制造</a:t>
            </a:r>
          </a:p>
        </p:txBody>
      </p:sp>
      <p:sp>
        <p:nvSpPr>
          <p:cNvPr id="44" name="xm TextBox 43"/>
          <p:cNvSpPr txBox="1"/>
          <p:nvPr/>
        </p:nvSpPr>
        <p:spPr>
          <a:xfrm>
            <a:off x="932688" y="4001110"/>
            <a:ext cx="273710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7505B"/>
                </a:solidFill>
                <a:latin typeface="微软雅黑"/>
                <a:ea typeface="微软雅黑"/>
                <a:cs typeface="微软雅黑"/>
              </a:rPr>
              <a:t>自有电池包产线，成本低于行业 8%</a:t>
            </a:r>
          </a:p>
        </p:txBody>
      </p:sp>
      <p:sp>
        <p:nvSpPr>
          <p:cNvPr id="45" name="xm Rectangle 44"/>
          <p:cNvSpPr/>
          <p:nvPr/>
        </p:nvSpPr>
        <p:spPr>
          <a:xfrm>
            <a:off x="4328160" y="2091842"/>
            <a:ext cx="3505200" cy="3131515"/>
          </a:xfrm>
          <a:prstGeom prst="rect">
            <a:avLst/>
          </a:prstGeom>
          <a:solidFill>
            <a:srgbClr val="F7F8F9"/>
          </a:solidFill>
          <a:ln w="9525">
            <a:solidFill>
              <a:srgbClr val="E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xm Rectangle 45"/>
          <p:cNvSpPr/>
          <p:nvPr/>
        </p:nvSpPr>
        <p:spPr>
          <a:xfrm>
            <a:off x="4328160" y="2091842"/>
            <a:ext cx="3505200" cy="64008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xm Oval 46"/>
          <p:cNvSpPr/>
          <p:nvPr/>
        </p:nvSpPr>
        <p:spPr>
          <a:xfrm>
            <a:off x="4712208" y="2475890"/>
            <a:ext cx="793699" cy="793699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8" name="xm Picture 47" descr="users-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696" y="2666378"/>
            <a:ext cx="412724" cy="412724"/>
          </a:xfrm>
          <a:prstGeom prst="rect">
            <a:avLst/>
          </a:prstGeom>
        </p:spPr>
      </p:pic>
      <p:sp>
        <p:nvSpPr>
          <p:cNvPr id="49" name="xm TextBox 48"/>
          <p:cNvSpPr txBox="1"/>
          <p:nvPr/>
        </p:nvSpPr>
        <p:spPr>
          <a:xfrm>
            <a:off x="4712208" y="3452470"/>
            <a:ext cx="27371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客户</a:t>
            </a:r>
          </a:p>
        </p:txBody>
      </p:sp>
      <p:sp>
        <p:nvSpPr>
          <p:cNvPr id="50" name="xm TextBox 49"/>
          <p:cNvSpPr txBox="1"/>
          <p:nvPr/>
        </p:nvSpPr>
        <p:spPr>
          <a:xfrm>
            <a:off x="4712208" y="4001110"/>
            <a:ext cx="273710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7505B"/>
                </a:solidFill>
                <a:latin typeface="微软雅黑"/>
                <a:ea typeface="微软雅黑"/>
                <a:cs typeface="微软雅黑"/>
              </a:rPr>
              <a:t>已服务 1,200 家制造业客户</a:t>
            </a:r>
          </a:p>
        </p:txBody>
      </p:sp>
      <p:sp>
        <p:nvSpPr>
          <p:cNvPr id="51" name="xm Rectangle 50"/>
          <p:cNvSpPr/>
          <p:nvPr/>
        </p:nvSpPr>
        <p:spPr>
          <a:xfrm>
            <a:off x="8107680" y="2091842"/>
            <a:ext cx="3505200" cy="3131515"/>
          </a:xfrm>
          <a:prstGeom prst="rect">
            <a:avLst/>
          </a:prstGeom>
          <a:solidFill>
            <a:srgbClr val="F7F8F9"/>
          </a:solidFill>
          <a:ln w="9525">
            <a:solidFill>
              <a:srgbClr val="E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xm Rectangle 51"/>
          <p:cNvSpPr/>
          <p:nvPr/>
        </p:nvSpPr>
        <p:spPr>
          <a:xfrm>
            <a:off x="8107680" y="2091842"/>
            <a:ext cx="3505200" cy="64008"/>
          </a:xfrm>
          <a:prstGeom prst="rect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xm Oval 52"/>
          <p:cNvSpPr/>
          <p:nvPr/>
        </p:nvSpPr>
        <p:spPr>
          <a:xfrm>
            <a:off x="8491728" y="2475890"/>
            <a:ext cx="793699" cy="793699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xm Picture 53" descr="users-round-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2216" y="2666378"/>
            <a:ext cx="412724" cy="412724"/>
          </a:xfrm>
          <a:prstGeom prst="rect">
            <a:avLst/>
          </a:prstGeom>
        </p:spPr>
      </p:pic>
      <p:sp>
        <p:nvSpPr>
          <p:cNvPr id="55" name="xm TextBox 54"/>
          <p:cNvSpPr txBox="1"/>
          <p:nvPr/>
        </p:nvSpPr>
        <p:spPr>
          <a:xfrm>
            <a:off x="8491728" y="3452470"/>
            <a:ext cx="2737104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2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短板</a:t>
            </a:r>
          </a:p>
        </p:txBody>
      </p:sp>
      <p:sp>
        <p:nvSpPr>
          <p:cNvPr id="56" name="xm TextBox 55"/>
          <p:cNvSpPr txBox="1"/>
          <p:nvPr/>
        </p:nvSpPr>
        <p:spPr>
          <a:xfrm>
            <a:off x="8491728" y="4001110"/>
            <a:ext cx="2737104" cy="95341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47505B"/>
                </a:solidFill>
                <a:latin typeface="微软雅黑"/>
                <a:ea typeface="微软雅黑"/>
                <a:cs typeface="微软雅黑"/>
              </a:rPr>
              <a:t>缺少电力交易和运维团队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议程</a:t>
            </a:r>
          </a:p>
        </p:txBody>
      </p:sp>
      <p:sp>
        <p:nvSpPr>
          <p:cNvPr id="3" name="议程列表"/>
          <p:cNvSpPr txBox="1"/>
          <p:nvPr/>
        </p:nvSpPr>
        <p:spPr>
          <a:xfrm>
            <a:off x="1463040" y="1783080"/>
            <a:ext cx="7772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1　　市场概览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2　　竞争格局</a:t>
            </a:r>
          </a:p>
          <a:p>
            <a:pPr>
              <a:spcAft>
                <a:spcPts val="1800"/>
              </a:spcAft>
            </a:pPr>
            <a:r>
              <a:rPr sz="2000" b="0">
                <a:solidFill>
                  <a:schemeClr val="accent4"/>
                </a:solidFill>
                <a:latin typeface="+mn-lt"/>
                <a:ea typeface="+mn-ea"/>
              </a:rPr>
              <a:t>3　　能力评估</a:t>
            </a:r>
          </a:p>
          <a:p>
            <a:pPr>
              <a:spcAft>
                <a:spcPts val="1800"/>
              </a:spcAft>
            </a:pPr>
            <a:r>
              <a:rPr sz="2000" b="1">
                <a:solidFill>
                  <a:schemeClr val="tx2"/>
                </a:solidFill>
                <a:latin typeface="+mn-lt"/>
                <a:ea typeface="+mn-ea"/>
              </a:rPr>
              <a:t>4　　实施建议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3590544"/>
            <a:ext cx="73152" cy="384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4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分三步进入，18 个月盈亏平衡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19689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7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7</a:t>
            </a:fld>
          </a:p>
        </p:txBody>
      </p:sp>
      <p:cxnSp>
        <p:nvCxnSpPr>
          <p:cNvPr id="23" name="xm Connector 22"/>
          <p:cNvCxnSpPr/>
          <p:nvPr/>
        </p:nvCxnSpPr>
        <p:spPr>
          <a:xfrm>
            <a:off x="2301240" y="2595677"/>
            <a:ext cx="7559040" cy="0"/>
          </a:xfrm>
          <a:prstGeom prst="line">
            <a:avLst/>
          </a:prstGeom>
          <a:ln w="38100">
            <a:solidFill>
              <a:srgbClr val="A1A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xm Oval 23"/>
          <p:cNvSpPr/>
          <p:nvPr/>
        </p:nvSpPr>
        <p:spPr>
          <a:xfrm>
            <a:off x="1853184" y="2147621"/>
            <a:ext cx="896112" cy="896112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5" name="xm Rectangle 24"/>
          <p:cNvSpPr/>
          <p:nvPr/>
        </p:nvSpPr>
        <p:spPr>
          <a:xfrm>
            <a:off x="548640" y="3363773"/>
            <a:ext cx="3505200" cy="1895246"/>
          </a:xfrm>
          <a:prstGeom prst="rect">
            <a:avLst/>
          </a:prstGeom>
          <a:solidFill>
            <a:srgbClr val="F7F8F9"/>
          </a:solidFill>
          <a:ln w="9525">
            <a:solidFill>
              <a:srgbClr val="E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xm TextBox 25"/>
          <p:cNvSpPr txBox="1"/>
          <p:nvPr/>
        </p:nvSpPr>
        <p:spPr>
          <a:xfrm>
            <a:off x="830275" y="3645408"/>
            <a:ext cx="29419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0–6 个月</a:t>
            </a:r>
          </a:p>
        </p:txBody>
      </p:sp>
      <p:sp>
        <p:nvSpPr>
          <p:cNvPr id="27" name="xm TextBox 26"/>
          <p:cNvSpPr txBox="1"/>
          <p:nvPr/>
        </p:nvSpPr>
        <p:spPr>
          <a:xfrm>
            <a:off x="830275" y="4139184"/>
            <a:ext cx="2941930" cy="856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7505B"/>
                </a:solidFill>
                <a:latin typeface="微软雅黑"/>
                <a:ea typeface="微软雅黑"/>
                <a:cs typeface="微软雅黑"/>
              </a:rPr>
              <a:t>在长三角 3 个园区做示范项目</a:t>
            </a:r>
          </a:p>
        </p:txBody>
      </p:sp>
      <p:sp>
        <p:nvSpPr>
          <p:cNvPr id="28" name="xm Oval 27"/>
          <p:cNvSpPr/>
          <p:nvPr/>
        </p:nvSpPr>
        <p:spPr>
          <a:xfrm>
            <a:off x="5632704" y="2147621"/>
            <a:ext cx="896112" cy="896112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xm Rectangle 28"/>
          <p:cNvSpPr/>
          <p:nvPr/>
        </p:nvSpPr>
        <p:spPr>
          <a:xfrm>
            <a:off x="4328160" y="3363773"/>
            <a:ext cx="3505200" cy="1895246"/>
          </a:xfrm>
          <a:prstGeom prst="rect">
            <a:avLst/>
          </a:prstGeom>
          <a:solidFill>
            <a:srgbClr val="F7F8F9"/>
          </a:solidFill>
          <a:ln w="9525">
            <a:solidFill>
              <a:srgbClr val="E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xm TextBox 29"/>
          <p:cNvSpPr txBox="1"/>
          <p:nvPr/>
        </p:nvSpPr>
        <p:spPr>
          <a:xfrm>
            <a:off x="4609795" y="3645408"/>
            <a:ext cx="29419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6–12 个月</a:t>
            </a:r>
          </a:p>
        </p:txBody>
      </p:sp>
      <p:sp>
        <p:nvSpPr>
          <p:cNvPr id="31" name="xm TextBox 30"/>
          <p:cNvSpPr txBox="1"/>
          <p:nvPr/>
        </p:nvSpPr>
        <p:spPr>
          <a:xfrm>
            <a:off x="4609795" y="4139184"/>
            <a:ext cx="2941930" cy="856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7505B"/>
                </a:solidFill>
                <a:latin typeface="微软雅黑"/>
                <a:ea typeface="微软雅黑"/>
                <a:cs typeface="微软雅黑"/>
              </a:rPr>
              <a:t>组建电力交易和运维团队</a:t>
            </a:r>
          </a:p>
        </p:txBody>
      </p:sp>
      <p:sp>
        <p:nvSpPr>
          <p:cNvPr id="32" name="xm Oval 31"/>
          <p:cNvSpPr/>
          <p:nvPr/>
        </p:nvSpPr>
        <p:spPr>
          <a:xfrm>
            <a:off x="9412224" y="2147621"/>
            <a:ext cx="896112" cy="896112"/>
          </a:xfrm>
          <a:prstGeom prst="ellipse">
            <a:avLst/>
          </a:prstGeom>
          <a:solidFill>
            <a:srgbClr val="133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3" name="xm Rectangle 32"/>
          <p:cNvSpPr/>
          <p:nvPr/>
        </p:nvSpPr>
        <p:spPr>
          <a:xfrm>
            <a:off x="8107680" y="3363773"/>
            <a:ext cx="3505200" cy="1895246"/>
          </a:xfrm>
          <a:prstGeom prst="rect">
            <a:avLst/>
          </a:prstGeom>
          <a:solidFill>
            <a:srgbClr val="F7F8F9"/>
          </a:solidFill>
          <a:ln w="9525">
            <a:solidFill>
              <a:srgbClr val="E2E3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xm TextBox 33"/>
          <p:cNvSpPr txBox="1"/>
          <p:nvPr/>
        </p:nvSpPr>
        <p:spPr>
          <a:xfrm>
            <a:off x="8389315" y="3645408"/>
            <a:ext cx="2941930" cy="4297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15000"/>
              </a:lnSpc>
            </a:pPr>
            <a:r>
              <a:rPr sz="2500" b="1">
                <a:solidFill>
                  <a:srgbClr val="1F2937"/>
                </a:solidFill>
                <a:latin typeface="微软雅黑"/>
                <a:ea typeface="微软雅黑"/>
                <a:cs typeface="微软雅黑"/>
              </a:rPr>
              <a:t>12–18 个月</a:t>
            </a:r>
          </a:p>
        </p:txBody>
      </p:sp>
      <p:sp>
        <p:nvSpPr>
          <p:cNvPr id="35" name="xm TextBox 34"/>
          <p:cNvSpPr txBox="1"/>
          <p:nvPr/>
        </p:nvSpPr>
        <p:spPr>
          <a:xfrm>
            <a:off x="8389315" y="4139184"/>
            <a:ext cx="2941930" cy="856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5000"/>
              </a:lnSpc>
            </a:pPr>
            <a:r>
              <a:rPr sz="2000" b="0">
                <a:solidFill>
                  <a:srgbClr val="47505B"/>
                </a:solidFill>
                <a:latin typeface="微软雅黑"/>
                <a:ea typeface="微软雅黑"/>
                <a:cs typeface="微软雅黑"/>
              </a:rPr>
              <a:t>复制到 50 家存量客户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实施建议</a:t>
            </a:r>
          </a:p>
        </p:txBody>
      </p:sp>
      <p:sp>
        <p:nvSpPr>
          <p:cNvPr id="3" name="进度 市场概览"/>
          <p:cNvSpPr txBox="1"/>
          <p:nvPr/>
        </p:nvSpPr>
        <p:spPr>
          <a:xfrm>
            <a:off x="9464040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市场概览</a:t>
            </a:r>
          </a:p>
        </p:txBody>
      </p:sp>
      <p:sp>
        <p:nvSpPr>
          <p:cNvPr id="4" name="进度 竞争格局"/>
          <p:cNvSpPr txBox="1"/>
          <p:nvPr/>
        </p:nvSpPr>
        <p:spPr>
          <a:xfrm>
            <a:off x="10030967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竞争格局</a:t>
            </a:r>
          </a:p>
        </p:txBody>
      </p:sp>
      <p:sp>
        <p:nvSpPr>
          <p:cNvPr id="5" name="进度 能力评估"/>
          <p:cNvSpPr txBox="1"/>
          <p:nvPr/>
        </p:nvSpPr>
        <p:spPr>
          <a:xfrm>
            <a:off x="10597896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0">
                <a:solidFill>
                  <a:schemeClr val="accent4"/>
                </a:solidFill>
                <a:latin typeface="+mn-lt"/>
                <a:ea typeface="+mn-ea"/>
              </a:rPr>
              <a:t>能力评估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19688" y="438912"/>
            <a:ext cx="45720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进度 实施建议"/>
          <p:cNvSpPr txBox="1"/>
          <p:nvPr/>
        </p:nvSpPr>
        <p:spPr>
          <a:xfrm>
            <a:off x="11164824" y="201168"/>
            <a:ext cx="566928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700" b="1">
                <a:solidFill>
                  <a:schemeClr val="tx2"/>
                </a:solidFill>
                <a:latin typeface="+mn-lt"/>
                <a:ea typeface="+mn-ea"/>
              </a:rPr>
              <a:t>实施建议</a:t>
            </a:r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4"/>
                </a:solidFill>
              </a:defRPr>
            </a:lvl1pPr>
          </a:lstStyle>
          <a:p>
            <a:r>
              <a:t>衡策咨询　|　严格保密，仅供客户内部使用</a:t>
            </a:r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accent4"/>
                </a:solidFill>
              </a:defRPr>
            </a:lvl1pPr>
          </a:lstStyle>
          <a:p>
            <a:fld id="{B6F15528-21DE-4FAA-801E-634DDDAF4B2B}" type="slidenum">
              <a:t>9</a:t>
            </a:fld>
          </a:p>
        </p:txBody>
      </p:sp>
      <p:sp>
        <p:nvSpPr>
          <p:cNvPr id="52" name="xm TextBox 51"/>
          <p:cNvSpPr txBox="1"/>
          <p:nvPr/>
        </p:nvSpPr>
        <p:spPr>
          <a:xfrm>
            <a:off x="1508760" y="2169160"/>
            <a:ext cx="10972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13315C"/>
                </a:solidFill>
                <a:latin typeface="华文中宋"/>
                <a:ea typeface="华文中宋"/>
                <a:cs typeface="华文中宋"/>
              </a:rPr>
              <a:t>“</a:t>
            </a:r>
          </a:p>
        </p:txBody>
      </p:sp>
      <p:sp>
        <p:nvSpPr>
          <p:cNvPr id="53" name="xm TextBox 52"/>
          <p:cNvSpPr txBox="1"/>
          <p:nvPr/>
        </p:nvSpPr>
        <p:spPr>
          <a:xfrm>
            <a:off x="1691640" y="3220720"/>
            <a:ext cx="8778240" cy="13309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1F2937"/>
                </a:solidFill>
                <a:latin typeface="华文中宋"/>
                <a:ea typeface="华文中宋"/>
                <a:cs typeface="华文中宋"/>
              </a:rPr>
              <a:t>先把自己工厂的储能做好，就是最好的样板间。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chemeClr val="dk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sulting-logo-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31520"/>
            <a:ext cx="2377440" cy="5751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C9D4E3"/>
                </a:solidFill>
                <a:latin typeface="+mn-lt"/>
                <a:ea typeface="+mn-ea"/>
              </a:rPr>
              <a:t>北京　|　上海　|　深圳　|　香港　|　新加坡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84632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8DA2BF"/>
                </a:solidFill>
                <a:latin typeface="+mn-lt"/>
                <a:ea typeface="+mn-ea"/>
              </a:rPr>
              <a:t>本报告仅供委托方内部参考使用，未经衡策咨询书面许可，不得向任何第三方披露、引用或转载。报告中的分析与结论基于委托方提供的资料及公开信息，衡策咨询不对其完整性与准确性作出保证，亦不承担因使用本报告而产生的任何责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衡策咨询">
  <a:themeElements>
    <a:clrScheme name="衡策咨询">
      <a:dk1>
        <a:srgbClr val="1F2937"/>
      </a:dk1>
      <a:lt1>
        <a:srgbClr val="FFFFFF"/>
      </a:lt1>
      <a:dk2>
        <a:srgbClr val="0B2545"/>
      </a:dk2>
      <a:lt2>
        <a:srgbClr val="F2F4F7"/>
      </a:lt2>
      <a:accent1>
        <a:srgbClr val="13315C"/>
      </a:accent1>
      <a:accent2>
        <a:srgbClr val="1F8A70"/>
      </a:accent2>
      <a:accent3>
        <a:srgbClr val="E09F3E"/>
      </a:accent3>
      <a:accent4>
        <a:srgbClr val="8D99AE"/>
      </a:accent4>
      <a:accent5>
        <a:srgbClr val="5DA9E9"/>
      </a:accent5>
      <a:accent6>
        <a:srgbClr val="C0392B"/>
      </a:accent6>
      <a:hlink>
        <a:srgbClr val="13315C"/>
      </a:hlink>
      <a:folHlink>
        <a:srgbClr val="8D99AE"/>
      </a:folHlink>
    </a:clrScheme>
    <a:fontScheme name="衡策咨询">
      <a:majorFont>
        <a:latin typeface="Georgia"/>
        <a:ea typeface="华文中宋"/>
        <a:cs typeface=""/>
        <a:font script="Jpan" typeface="ＭＳ Ｐゴシック"/>
        <a:font script="Hang" typeface="맑은 고딕"/>
        <a:font script="Hans" typeface="华文中宋"/>
        <a:font script="Hant" typeface="华文中宋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软雅黑"/>
        <a:cs typeface=""/>
        <a:font script="Jpan" typeface="ＭＳ Ｐゴシック"/>
        <a:font script="Hang" typeface="맑은 고딕"/>
        <a:font script="Hans" typeface="微软雅黑"/>
        <a:font script="Hant" typeface="微软雅黑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