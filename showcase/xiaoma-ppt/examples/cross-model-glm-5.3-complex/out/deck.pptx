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发现隐患（项）</c:v>
                </c:pt>
              </c:strCache>
            </c:strRef>
          </c:tx>
          <c:spPr>
            <a:ln w="34925">
              <a:solidFill>
                <a:srgbClr val="0B5CAD"/>
              </a:solidFill>
            </a:ln>
          </c:spPr>
          <c:marker>
            <c:spPr>
              <a:solidFill>
                <a:srgbClr val="0B5CAD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7 月</c:v>
                </c:pt>
                <c:pt idx="1">
                  <c:v>8 月</c:v>
                </c:pt>
                <c:pt idx="2">
                  <c:v>9 月</c:v>
                </c:pt>
                <c:pt idx="3">
                  <c:v>10 月</c:v>
                </c:pt>
                <c:pt idx="4">
                  <c:v>11 月</c:v>
                </c:pt>
                <c:pt idx="5">
                  <c:v>12 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412</c:v>
                </c:pt>
                <c:pt idx="1">
                  <c:v>386</c:v>
                </c:pt>
                <c:pt idx="2">
                  <c:v>351</c:v>
                </c:pt>
                <c:pt idx="3">
                  <c:v>298</c:v>
                </c:pt>
                <c:pt idx="4">
                  <c:v>263</c:v>
                </c:pt>
                <c:pt idx="5">
                  <c:v>240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1A1A1A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1E1E1"/>
            </a:solidFill>
          </a:ln>
        </c:spPr>
        <c:txPr>
          <a:bodyPr/>
          <a:lstStyle/>
          <a:p>
            <a:pPr>
              <a:defRPr sz="1200">
                <a:solidFill>
                  <a:srgbClr val="434343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72.2"/>
          <c:min val="33.599999999999994"/>
        </c:scaling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18181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434343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岳川能源 2026 年安全生产工作总结。安全监察部，2026 年 12 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全年未发生人身伤亡和较大设备事故，安全生产连续天数达到 3,650 天，创集团历史最好水平。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人身伤亡事故 0 起；一般设备事故 3 起，同比下降 57%；隐患整改率 98.6%；安全培训覆盖 4.2 万人次。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隐患排查月度数量：7 月 412 项、8 月 386 项、9 月 351 项、10 月 298 项、11 月 263 项、12 月 240 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四项专项行动：1. 春季安全大检查：覆盖全部 86 座场站；2. 防汛防台专项：完成 23 处低洼站点改造；3. 有限空间作业治理：上线作业审批系统；4. 承包商安全管理：清退不合格队伍 12 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过去的做法：靠人工巡检、纸质工作票、事后追责。现在的做法：无人机和机器人巡检、电子工作票全流程留痕、事前风险预警。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 年安全工作重点：1. 一季度：完成全集团安全风险分级评估；2. 二季度：新能源场站视频监控全覆盖；3. 三季度：开展第二轮承包商资质复核；4. 四季度：建成安全生产数字化平台。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安全是 1，其他都是后面的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ergy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6583679" cy="5143500"/>
          </a:xfrm>
          <a:prstGeom prst="rect">
            <a:avLst/>
          </a:prstGeom>
          <a:gradFill rotWithShape="1">
            <a:gsLst>
              <a:gs pos="0">
                <a:srgbClr val="081834">
                  <a:alpha val="92000"/>
                </a:srgbClr>
              </a:gs>
              <a:gs pos="70000">
                <a:srgbClr val="081834">
                  <a:alpha val="55000"/>
                </a:srgbClr>
              </a:gs>
              <a:gs pos="100000">
                <a:srgbClr val="081834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nergy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463040" cy="4180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2697480"/>
            <a:ext cx="822960" cy="45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00200"/>
            <a:ext cx="5852160" cy="1005840"/>
          </a:xfrm>
        </p:spPr>
        <p:txBody>
          <a:bodyPr anchor="b"/>
          <a:lstStyle>
            <a:lvl1pPr algn="l">
              <a:defRPr sz="32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880360"/>
            <a:ext cx="5486400" cy="731520"/>
          </a:xfrm>
        </p:spPr>
        <p:txBody>
          <a:bodyPr/>
          <a:lstStyle>
            <a:lvl1pPr algn="l" marL="0" indent="0">
              <a:buNone/>
              <a:defRPr sz="140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t>单击此处添加副标题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</p:spPr>
        <p:txBody>
          <a:bodyPr anchor="ctr"/>
          <a:lstStyle>
            <a:lvl1pPr algn="l">
              <a:defRPr/>
            </a:lvl1pPr>
          </a:lstStyle>
          <a:p>
            <a:r>
              <a:t>单击此处添加标题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8680"/>
            <a:ext cx="8229600" cy="3749039"/>
          </a:xfrm>
        </p:spPr>
        <p:txBody>
          <a:bodyPr/>
          <a:lstStyle>
            <a:lvl1pPr>
              <a:defRPr/>
            </a:lvl1pPr>
          </a:lstStyle>
          <a:p>
            <a:r>
              <a:t>单击此处编辑正文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章节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nut 1"/>
          <p:cNvSpPr/>
          <p:nvPr/>
        </p:nvSpPr>
        <p:spPr>
          <a:xfrm>
            <a:off x="5760720" y="548640"/>
            <a:ext cx="4206240" cy="4206240"/>
          </a:xfrm>
          <a:prstGeom prst="donut">
            <a:avLst>
              <a:gd name="adj" fmla="val 12000"/>
            </a:avLst>
          </a:prstGeom>
          <a:solidFill>
            <a:srgbClr val="FFF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energy-logo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74320"/>
            <a:ext cx="1143000" cy="3265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2971800"/>
            <a:ext cx="640080" cy="45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148840"/>
            <a:ext cx="5943600" cy="777240"/>
          </a:xfrm>
        </p:spPr>
        <p:txBody>
          <a:bodyPr anchor="b"/>
          <a:lstStyle>
            <a:lvl1pPr algn="l">
              <a:defRPr sz="32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t>单击此处添加章节标题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51560"/>
            <a:ext cx="2743200" cy="1005840"/>
          </a:xfrm>
        </p:spPr>
        <p:txBody>
          <a:bodyPr anchor="b"/>
          <a:lstStyle>
            <a:lvl1pPr marL="0" indent="0">
              <a:buNone/>
              <a:defRPr sz="6000" b="1">
                <a:solidFill>
                  <a:schemeClr val="accent3"/>
                </a:solidFill>
                <a:latin typeface="+mj-lt"/>
                <a:ea typeface="+mj-ea"/>
              </a:defRPr>
            </a:lvl1pPr>
          </a:lstStyle>
          <a:p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</p:spPr>
        <p:txBody>
          <a:bodyPr anchor="ctr"/>
          <a:lstStyle>
            <a:lvl1pPr algn="l">
              <a:defRPr/>
            </a:lvl1pPr>
          </a:lstStyle>
          <a:p>
            <a:r>
              <a:t>单击此处添加标题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68680"/>
            <a:ext cx="3977639" cy="3749039"/>
          </a:xfrm>
        </p:spPr>
        <p:txBody>
          <a:bodyPr/>
          <a:lstStyle>
            <a:lvl1pPr>
              <a:defRPr/>
            </a:lvl1pPr>
          </a:lstStyle>
          <a:p>
            <a:r>
              <a:t>单击此处编辑正文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60" y="868680"/>
            <a:ext cx="3977639" cy="3749039"/>
          </a:xfrm>
        </p:spPr>
        <p:txBody>
          <a:bodyPr/>
          <a:lstStyle>
            <a:lvl1pPr>
              <a:defRPr/>
            </a:lvl1pPr>
          </a:lstStyle>
          <a:p>
            <a:r>
              <a:t>单击此处编辑正文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</p:spPr>
        <p:txBody>
          <a:bodyPr anchor="ctr"/>
          <a:lstStyle>
            <a:lvl1pPr algn="l">
              <a:defRPr/>
            </a:lvl1pPr>
          </a:lstStyle>
          <a:p>
            <a:r>
              <a:t>单击此处添加标题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</p:spPr>
        <p:txBody>
          <a:bodyPr anchor="ctr"/>
          <a:lstStyle>
            <a:lvl1pPr algn="l">
              <a:defRPr/>
            </a:lvl1pPr>
          </a:lstStyle>
          <a:p>
            <a:r>
              <a:t>单击此处添加标题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868680"/>
            <a:ext cx="3931920" cy="3749039"/>
          </a:xfrm>
        </p:spPr>
        <p:txBody>
          <a:bodyPr/>
          <a:lstStyle>
            <a:lvl1pPr>
              <a:defRPr/>
            </a:lvl1pPr>
          </a:lstStyle>
          <a:p>
            <a:r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63440" y="868680"/>
            <a:ext cx="4023360" cy="3749039"/>
          </a:xfrm>
        </p:spPr>
        <p:txBody>
          <a:bodyPr/>
          <a:lstStyle>
            <a:lvl1pPr>
              <a:defRPr sz="1400"/>
            </a:lvl1pPr>
          </a:lstStyle>
          <a:p>
            <a:r>
              <a:t>单击此处编辑正文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nergy-solar.jpg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0" y="0"/>
            <a:ext cx="310896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0" y="0"/>
            <a:ext cx="73152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3749039" y="502920"/>
            <a:ext cx="3657600" cy="640080"/>
          </a:xfrm>
        </p:spPr>
        <p:txBody>
          <a:bodyPr vert="horz"/>
          <a:lstStyle>
            <a:lvl1pPr algn="l">
              <a:defRPr sz="3000" b="1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nergy-wave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4960" y="3570732"/>
            <a:ext cx="3749039" cy="15677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100584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energy-log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3800" y="182880"/>
            <a:ext cx="1143000" cy="3265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68680"/>
            <a:ext cx="8229600" cy="3749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4818888"/>
            <a:ext cx="3657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  <p:sldLayoutId id="2147483657" r:id="rId9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 b="1">
          <a:solidFill>
            <a:schemeClr val="tx2"/>
          </a:solidFill>
          <a:latin typeface="+mj-lt"/>
          <a:ea typeface="+mj-e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accent4"/>
          </a:solidFill>
          <a:latin typeface="+mn-lt"/>
          <a:ea typeface="+mn-ea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岳川能源 2026 年安全生产工作总结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安全监察部　2026 年 12 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spc="300">
                <a:solidFill>
                  <a:srgbClr val="F5C77E"/>
                </a:solidFill>
                <a:latin typeface="+mj-lt"/>
                <a:ea typeface="+mj-ea"/>
              </a:rPr>
              <a:t>ANNUAL WORK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94760" y="9875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spc="200">
                <a:solidFill>
                  <a:schemeClr val="accent2"/>
                </a:solidFill>
                <a:latin typeface="+mj-lt"/>
                <a:ea typeface="+mj-ea"/>
              </a:rPr>
              <a:t>CONTENTS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794760" y="1417320"/>
            <a:ext cx="4526280" cy="484632"/>
            <a:chOff x="3794760" y="1417320"/>
            <a:chExt cx="4526280" cy="484632"/>
          </a:xfrm>
        </p:grpSpPr>
        <p:sp>
          <p:nvSpPr>
            <p:cNvPr id="4" name="Oval 3"/>
            <p:cNvSpPr/>
            <p:nvPr/>
          </p:nvSpPr>
          <p:spPr>
            <a:xfrm>
              <a:off x="3794760" y="1417320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" name="TextBox 4"/>
            <p:cNvSpPr txBox="1"/>
            <p:nvPr/>
          </p:nvSpPr>
          <p:spPr>
            <a:xfrm>
              <a:off x="3794760" y="1417320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389120" y="1417320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全年安全形势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389120" y="1892808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13" name="Group 12"/>
          <p:cNvGrpSpPr/>
          <p:nvPr/>
        </p:nvGrpSpPr>
        <p:grpSpPr>
          <a:xfrm>
            <a:off x="3794760" y="2075688"/>
            <a:ext cx="4526280" cy="484632"/>
            <a:chOff x="3794760" y="2075688"/>
            <a:chExt cx="4526280" cy="484632"/>
          </a:xfrm>
        </p:grpSpPr>
        <p:sp>
          <p:nvSpPr>
            <p:cNvPr id="9" name="Oval 8"/>
            <p:cNvSpPr/>
            <p:nvPr/>
          </p:nvSpPr>
          <p:spPr>
            <a:xfrm>
              <a:off x="3794760" y="2075688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" name="TextBox 9"/>
            <p:cNvSpPr txBox="1"/>
            <p:nvPr/>
          </p:nvSpPr>
          <p:spPr>
            <a:xfrm>
              <a:off x="3794760" y="2075688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89120" y="2075688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重点工作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89120" y="2551176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18" name="Group 17"/>
          <p:cNvGrpSpPr/>
          <p:nvPr/>
        </p:nvGrpSpPr>
        <p:grpSpPr>
          <a:xfrm>
            <a:off x="3794760" y="2734056"/>
            <a:ext cx="4526280" cy="484632"/>
            <a:chOff x="3794760" y="2734056"/>
            <a:chExt cx="4526280" cy="484632"/>
          </a:xfrm>
        </p:grpSpPr>
        <p:sp>
          <p:nvSpPr>
            <p:cNvPr id="14" name="Oval 13"/>
            <p:cNvSpPr/>
            <p:nvPr/>
          </p:nvSpPr>
          <p:spPr>
            <a:xfrm>
              <a:off x="3794760" y="2734056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5" name="TextBox 14"/>
            <p:cNvSpPr txBox="1"/>
            <p:nvPr/>
          </p:nvSpPr>
          <p:spPr>
            <a:xfrm>
              <a:off x="3794760" y="2734056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89120" y="2734056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问题与改进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389120" y="3209544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23" name="Group 22"/>
          <p:cNvGrpSpPr/>
          <p:nvPr/>
        </p:nvGrpSpPr>
        <p:grpSpPr>
          <a:xfrm>
            <a:off x="3794760" y="3392424"/>
            <a:ext cx="4526280" cy="484632"/>
            <a:chOff x="3794760" y="3392424"/>
            <a:chExt cx="4526280" cy="484632"/>
          </a:xfrm>
        </p:grpSpPr>
        <p:sp>
          <p:nvSpPr>
            <p:cNvPr id="19" name="Oval 18"/>
            <p:cNvSpPr/>
            <p:nvPr/>
          </p:nvSpPr>
          <p:spPr>
            <a:xfrm>
              <a:off x="3794760" y="3392424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0" name="TextBox 19"/>
            <p:cNvSpPr txBox="1"/>
            <p:nvPr/>
          </p:nvSpPr>
          <p:spPr>
            <a:xfrm>
              <a:off x="3794760" y="3392424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89120" y="3392424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2027 年安全工作重点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389120" y="3867912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全年安全形势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总体平稳，连续无事故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14400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安全形势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重点工作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问题改进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明年重点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sp>
        <p:nvSpPr>
          <p:cNvPr id="11" name="xm TextBox 10"/>
          <p:cNvSpPr txBox="1"/>
          <p:nvPr/>
        </p:nvSpPr>
        <p:spPr>
          <a:xfrm>
            <a:off x="1234440" y="954024"/>
            <a:ext cx="6766560" cy="14020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全年未发生人身伤亡和较大设备事故</a:t>
            </a:r>
          </a:p>
        </p:txBody>
      </p:sp>
      <p:cxnSp>
        <p:nvCxnSpPr>
          <p:cNvPr id="12" name="xm Connector 11"/>
          <p:cNvCxnSpPr/>
          <p:nvPr/>
        </p:nvCxnSpPr>
        <p:spPr>
          <a:xfrm>
            <a:off x="1234440" y="2584704"/>
            <a:ext cx="731520" cy="0"/>
          </a:xfrm>
          <a:prstGeom prst="line">
            <a:avLst/>
          </a:prstGeom>
          <a:ln w="381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xm TextBox 12"/>
          <p:cNvSpPr txBox="1"/>
          <p:nvPr/>
        </p:nvSpPr>
        <p:spPr>
          <a:xfrm>
            <a:off x="1234440" y="2813304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818181"/>
                </a:solidFill>
                <a:latin typeface="微软雅黑"/>
                <a:ea typeface="微软雅黑"/>
                <a:cs typeface="微软雅黑"/>
              </a:rPr>
              <a:t>安全生产连续天数 3,650 天，创集团历史最好水平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关键指标</a:t>
            </a:r>
          </a:p>
        </p:txBody>
      </p:sp>
      <p:sp>
        <p:nvSpPr>
          <p:cNvPr id="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10</a:t>
            </a:fld>
          </a:p>
        </p:txBody>
      </p:sp>
      <p:sp>
        <p:nvSpPr>
          <p:cNvPr id="33" name="xm TextBox 32"/>
          <p:cNvSpPr txBox="1"/>
          <p:nvPr/>
        </p:nvSpPr>
        <p:spPr>
          <a:xfrm>
            <a:off x="502920" y="1235964"/>
            <a:ext cx="1897380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19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 起</a:t>
            </a:r>
          </a:p>
        </p:txBody>
      </p:sp>
      <p:cxnSp>
        <p:nvCxnSpPr>
          <p:cNvPr id="34" name="xm Connector 33"/>
          <p:cNvCxnSpPr/>
          <p:nvPr/>
        </p:nvCxnSpPr>
        <p:spPr>
          <a:xfrm>
            <a:off x="502920" y="2135124"/>
            <a:ext cx="610362" cy="0"/>
          </a:xfrm>
          <a:prstGeom prst="line">
            <a:avLst/>
          </a:prstGeom>
          <a:ln w="381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xm TextBox 34"/>
          <p:cNvSpPr txBox="1"/>
          <p:nvPr/>
        </p:nvSpPr>
        <p:spPr>
          <a:xfrm>
            <a:off x="502920" y="2318004"/>
            <a:ext cx="18516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人身伤亡事故</a:t>
            </a:r>
          </a:p>
        </p:txBody>
      </p:sp>
      <p:sp>
        <p:nvSpPr>
          <p:cNvPr id="36" name="xm TextBox 35"/>
          <p:cNvSpPr txBox="1"/>
          <p:nvPr/>
        </p:nvSpPr>
        <p:spPr>
          <a:xfrm>
            <a:off x="2811780" y="1235964"/>
            <a:ext cx="1623060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19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 起</a:t>
            </a:r>
          </a:p>
        </p:txBody>
      </p:sp>
      <p:cxnSp>
        <p:nvCxnSpPr>
          <p:cNvPr id="37" name="xm Connector 36"/>
          <p:cNvCxnSpPr/>
          <p:nvPr/>
        </p:nvCxnSpPr>
        <p:spPr>
          <a:xfrm>
            <a:off x="2811780" y="2135124"/>
            <a:ext cx="610362" cy="0"/>
          </a:xfrm>
          <a:prstGeom prst="line">
            <a:avLst/>
          </a:prstGeom>
          <a:ln w="381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xm TextBox 37"/>
          <p:cNvSpPr txBox="1"/>
          <p:nvPr/>
        </p:nvSpPr>
        <p:spPr>
          <a:xfrm>
            <a:off x="2811780" y="2318004"/>
            <a:ext cx="15773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一般设备事故</a:t>
            </a:r>
          </a:p>
        </p:txBody>
      </p:sp>
      <p:sp>
        <p:nvSpPr>
          <p:cNvPr id="39" name="xm TextBox 38"/>
          <p:cNvSpPr txBox="1"/>
          <p:nvPr/>
        </p:nvSpPr>
        <p:spPr>
          <a:xfrm>
            <a:off x="2811780" y="2775204"/>
            <a:ext cx="157734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18181"/>
                </a:solidFill>
                <a:latin typeface="微软雅黑"/>
                <a:ea typeface="微软雅黑"/>
                <a:cs typeface="微软雅黑"/>
              </a:rPr>
              <a:t>同比下降 57%</a:t>
            </a:r>
          </a:p>
        </p:txBody>
      </p:sp>
      <p:cxnSp>
        <p:nvCxnSpPr>
          <p:cNvPr id="40" name="xm Connector 39"/>
          <p:cNvCxnSpPr/>
          <p:nvPr/>
        </p:nvCxnSpPr>
        <p:spPr>
          <a:xfrm>
            <a:off x="2537460" y="1373124"/>
            <a:ext cx="0" cy="170688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xm TextBox 40"/>
          <p:cNvSpPr txBox="1"/>
          <p:nvPr/>
        </p:nvSpPr>
        <p:spPr>
          <a:xfrm>
            <a:off x="4846320" y="1235964"/>
            <a:ext cx="1623060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98.6</a:t>
            </a:r>
            <a:r>
              <a:rPr sz="19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  <p:cxnSp>
        <p:nvCxnSpPr>
          <p:cNvPr id="42" name="xm Connector 41"/>
          <p:cNvCxnSpPr/>
          <p:nvPr/>
        </p:nvCxnSpPr>
        <p:spPr>
          <a:xfrm>
            <a:off x="4846320" y="2135124"/>
            <a:ext cx="610362" cy="0"/>
          </a:xfrm>
          <a:prstGeom prst="line">
            <a:avLst/>
          </a:prstGeom>
          <a:ln w="381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xm TextBox 42"/>
          <p:cNvSpPr txBox="1"/>
          <p:nvPr/>
        </p:nvSpPr>
        <p:spPr>
          <a:xfrm>
            <a:off x="4846320" y="2318004"/>
            <a:ext cx="15773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隐患整改率(%)</a:t>
            </a:r>
          </a:p>
        </p:txBody>
      </p:sp>
      <p:cxnSp>
        <p:nvCxnSpPr>
          <p:cNvPr id="44" name="xm Connector 43"/>
          <p:cNvCxnSpPr/>
          <p:nvPr/>
        </p:nvCxnSpPr>
        <p:spPr>
          <a:xfrm>
            <a:off x="4572000" y="1373124"/>
            <a:ext cx="0" cy="170688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xm TextBox 44"/>
          <p:cNvSpPr txBox="1"/>
          <p:nvPr/>
        </p:nvSpPr>
        <p:spPr>
          <a:xfrm>
            <a:off x="6880860" y="1235964"/>
            <a:ext cx="1623060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4.2</a:t>
            </a:r>
            <a:r>
              <a:rPr sz="19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 万</a:t>
            </a:r>
          </a:p>
        </p:txBody>
      </p:sp>
      <p:cxnSp>
        <p:nvCxnSpPr>
          <p:cNvPr id="46" name="xm Connector 45"/>
          <p:cNvCxnSpPr/>
          <p:nvPr/>
        </p:nvCxnSpPr>
        <p:spPr>
          <a:xfrm>
            <a:off x="6880860" y="2135124"/>
            <a:ext cx="610362" cy="0"/>
          </a:xfrm>
          <a:prstGeom prst="line">
            <a:avLst/>
          </a:prstGeom>
          <a:ln w="381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xm TextBox 46"/>
          <p:cNvSpPr txBox="1"/>
          <p:nvPr/>
        </p:nvSpPr>
        <p:spPr>
          <a:xfrm>
            <a:off x="6880860" y="2318004"/>
            <a:ext cx="15773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培训覆盖(人次)</a:t>
            </a:r>
          </a:p>
        </p:txBody>
      </p:sp>
      <p:cxnSp>
        <p:nvCxnSpPr>
          <p:cNvPr id="48" name="xm Connector 47"/>
          <p:cNvCxnSpPr/>
          <p:nvPr/>
        </p:nvCxnSpPr>
        <p:spPr>
          <a:xfrm>
            <a:off x="6606540" y="1373124"/>
            <a:ext cx="0" cy="170688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重点工作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下半年隐患数量逐月下降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481328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安全形势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重点工作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问题改进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明年重点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graphicFrame>
        <p:nvGraphicFramePr>
          <p:cNvPr id="11" name="xm Chart 10"/>
          <p:cNvGraphicFramePr>
            <a:graphicFrameLocks noGrp="1"/>
          </p:cNvGraphicFramePr>
          <p:nvPr/>
        </p:nvGraphicFramePr>
        <p:xfrm>
          <a:off x="1234440" y="832104"/>
          <a:ext cx="67665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四项专项行动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481328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安全形势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重点工作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问题改进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明年重点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cxnSp>
        <p:nvCxnSpPr>
          <p:cNvPr id="11" name="xm Connector 10"/>
          <p:cNvCxnSpPr/>
          <p:nvPr/>
        </p:nvCxnSpPr>
        <p:spPr>
          <a:xfrm>
            <a:off x="1977390" y="1152144"/>
            <a:ext cx="5280660" cy="0"/>
          </a:xfrm>
          <a:prstGeom prst="line">
            <a:avLst/>
          </a:prstGeom>
          <a:ln w="38100">
            <a:solidFill>
              <a:srgbClr val="9DB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xm Oval 11"/>
          <p:cNvSpPr/>
          <p:nvPr/>
        </p:nvSpPr>
        <p:spPr>
          <a:xfrm>
            <a:off x="1657350" y="832104"/>
            <a:ext cx="640080" cy="640080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xm Rectangle 12"/>
          <p:cNvSpPr/>
          <p:nvPr/>
        </p:nvSpPr>
        <p:spPr>
          <a:xfrm>
            <a:off x="1234440" y="1792224"/>
            <a:ext cx="1485900" cy="1691640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xm TextBox 13"/>
          <p:cNvSpPr txBox="1"/>
          <p:nvPr/>
        </p:nvSpPr>
        <p:spPr>
          <a:xfrm>
            <a:off x="1435608" y="1993392"/>
            <a:ext cx="1083564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春季安全大检查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1435608" y="2651760"/>
            <a:ext cx="1083564" cy="649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覆盖全部 86 座场站</a:t>
            </a:r>
          </a:p>
        </p:txBody>
      </p:sp>
      <p:sp>
        <p:nvSpPr>
          <p:cNvPr id="16" name="xm Oval 15"/>
          <p:cNvSpPr/>
          <p:nvPr/>
        </p:nvSpPr>
        <p:spPr>
          <a:xfrm>
            <a:off x="3417570" y="832104"/>
            <a:ext cx="640080" cy="640080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xm Rectangle 16"/>
          <p:cNvSpPr/>
          <p:nvPr/>
        </p:nvSpPr>
        <p:spPr>
          <a:xfrm>
            <a:off x="2994660" y="1792224"/>
            <a:ext cx="1485900" cy="1691640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xm TextBox 17"/>
          <p:cNvSpPr txBox="1"/>
          <p:nvPr/>
        </p:nvSpPr>
        <p:spPr>
          <a:xfrm>
            <a:off x="3195828" y="1993392"/>
            <a:ext cx="1083564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防汛防台专项</a:t>
            </a:r>
          </a:p>
        </p:txBody>
      </p:sp>
      <p:sp>
        <p:nvSpPr>
          <p:cNvPr id="19" name="xm TextBox 18"/>
          <p:cNvSpPr txBox="1"/>
          <p:nvPr/>
        </p:nvSpPr>
        <p:spPr>
          <a:xfrm>
            <a:off x="3195828" y="2651760"/>
            <a:ext cx="1083564" cy="649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完成 23 处低洼站点改造</a:t>
            </a:r>
          </a:p>
        </p:txBody>
      </p:sp>
      <p:sp>
        <p:nvSpPr>
          <p:cNvPr id="20" name="xm Oval 19"/>
          <p:cNvSpPr/>
          <p:nvPr/>
        </p:nvSpPr>
        <p:spPr>
          <a:xfrm>
            <a:off x="5177790" y="832104"/>
            <a:ext cx="640080" cy="640080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xm Rectangle 20"/>
          <p:cNvSpPr/>
          <p:nvPr/>
        </p:nvSpPr>
        <p:spPr>
          <a:xfrm>
            <a:off x="4754880" y="1792224"/>
            <a:ext cx="1485900" cy="1691640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xm TextBox 21"/>
          <p:cNvSpPr txBox="1"/>
          <p:nvPr/>
        </p:nvSpPr>
        <p:spPr>
          <a:xfrm>
            <a:off x="4956048" y="1993392"/>
            <a:ext cx="1083564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有限空间作业治理</a:t>
            </a:r>
          </a:p>
        </p:txBody>
      </p:sp>
      <p:sp>
        <p:nvSpPr>
          <p:cNvPr id="23" name="xm TextBox 22"/>
          <p:cNvSpPr txBox="1"/>
          <p:nvPr/>
        </p:nvSpPr>
        <p:spPr>
          <a:xfrm>
            <a:off x="4956048" y="2651760"/>
            <a:ext cx="1083564" cy="649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上线作业审批系统</a:t>
            </a:r>
          </a:p>
        </p:txBody>
      </p:sp>
      <p:sp>
        <p:nvSpPr>
          <p:cNvPr id="24" name="xm Oval 23"/>
          <p:cNvSpPr/>
          <p:nvPr/>
        </p:nvSpPr>
        <p:spPr>
          <a:xfrm>
            <a:off x="6938010" y="832104"/>
            <a:ext cx="640080" cy="640080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xm Rectangle 24"/>
          <p:cNvSpPr/>
          <p:nvPr/>
        </p:nvSpPr>
        <p:spPr>
          <a:xfrm>
            <a:off x="6515100" y="1792224"/>
            <a:ext cx="1485900" cy="1691640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xm TextBox 25"/>
          <p:cNvSpPr txBox="1"/>
          <p:nvPr/>
        </p:nvSpPr>
        <p:spPr>
          <a:xfrm>
            <a:off x="6716268" y="1993392"/>
            <a:ext cx="1083564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承包商安全管理</a:t>
            </a:r>
          </a:p>
        </p:txBody>
      </p:sp>
      <p:sp>
        <p:nvSpPr>
          <p:cNvPr id="27" name="xm TextBox 26"/>
          <p:cNvSpPr txBox="1"/>
          <p:nvPr/>
        </p:nvSpPr>
        <p:spPr>
          <a:xfrm>
            <a:off x="6716268" y="2651760"/>
            <a:ext cx="1083564" cy="649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清退不合格队伍 12 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问题与改进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从「人盯人」到「系统管」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2048256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安全形势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重点工作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问题改进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明年重点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sp>
        <p:nvSpPr>
          <p:cNvPr id="11" name="xm Rectangle 10"/>
          <p:cNvSpPr/>
          <p:nvPr/>
        </p:nvSpPr>
        <p:spPr>
          <a:xfrm>
            <a:off x="1234440" y="903427"/>
            <a:ext cx="2971800" cy="2509114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Rectangle 11"/>
          <p:cNvSpPr/>
          <p:nvPr/>
        </p:nvSpPr>
        <p:spPr>
          <a:xfrm>
            <a:off x="1234440" y="903427"/>
            <a:ext cx="2971800" cy="658368"/>
          </a:xfrm>
          <a:prstGeom prst="rect">
            <a:avLst/>
          </a:prstGeom>
          <a:solidFill>
            <a:srgbClr val="E3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过去的做法</a:t>
            </a:r>
          </a:p>
        </p:txBody>
      </p:sp>
      <p:pic>
        <p:nvPicPr>
          <p:cNvPr id="13" name="xm Picture 12" descr="circle-x-0B5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799539"/>
            <a:ext cx="279806" cy="279806"/>
          </a:xfrm>
          <a:prstGeom prst="rect">
            <a:avLst/>
          </a:prstGeom>
        </p:spPr>
      </p:pic>
      <p:sp>
        <p:nvSpPr>
          <p:cNvPr id="14" name="xm TextBox 13"/>
          <p:cNvSpPr txBox="1"/>
          <p:nvPr/>
        </p:nvSpPr>
        <p:spPr>
          <a:xfrm>
            <a:off x="1925726" y="1744675"/>
            <a:ext cx="2006194" cy="4645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818181"/>
                </a:solidFill>
                <a:latin typeface="微软雅黑"/>
                <a:ea typeface="微软雅黑"/>
                <a:cs typeface="微软雅黑"/>
              </a:rPr>
              <a:t>靠人工巡检</a:t>
            </a:r>
          </a:p>
        </p:txBody>
      </p:sp>
      <p:pic>
        <p:nvPicPr>
          <p:cNvPr id="15" name="xm Picture 14" descr="circle-x-0B5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309774"/>
            <a:ext cx="279806" cy="279806"/>
          </a:xfrm>
          <a:prstGeom prst="rect">
            <a:avLst/>
          </a:prstGeom>
        </p:spPr>
      </p:pic>
      <p:sp>
        <p:nvSpPr>
          <p:cNvPr id="16" name="xm TextBox 15"/>
          <p:cNvSpPr txBox="1"/>
          <p:nvPr/>
        </p:nvSpPr>
        <p:spPr>
          <a:xfrm>
            <a:off x="1925726" y="2254910"/>
            <a:ext cx="2006194" cy="4645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818181"/>
                </a:solidFill>
                <a:latin typeface="微软雅黑"/>
                <a:ea typeface="微软雅黑"/>
                <a:cs typeface="微软雅黑"/>
              </a:rPr>
              <a:t>纸质工作票</a:t>
            </a:r>
          </a:p>
        </p:txBody>
      </p:sp>
      <p:pic>
        <p:nvPicPr>
          <p:cNvPr id="17" name="xm Picture 16" descr="circle-x-0B5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820010"/>
            <a:ext cx="279806" cy="279806"/>
          </a:xfrm>
          <a:prstGeom prst="rect">
            <a:avLst/>
          </a:prstGeom>
        </p:spPr>
      </p:pic>
      <p:sp>
        <p:nvSpPr>
          <p:cNvPr id="18" name="xm TextBox 17"/>
          <p:cNvSpPr txBox="1"/>
          <p:nvPr/>
        </p:nvSpPr>
        <p:spPr>
          <a:xfrm>
            <a:off x="1925726" y="2765146"/>
            <a:ext cx="2006194" cy="4645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818181"/>
                </a:solidFill>
                <a:latin typeface="微软雅黑"/>
                <a:ea typeface="微软雅黑"/>
                <a:cs typeface="微软雅黑"/>
              </a:rPr>
              <a:t>事后追责</a:t>
            </a:r>
          </a:p>
        </p:txBody>
      </p:sp>
      <p:sp>
        <p:nvSpPr>
          <p:cNvPr id="19" name="xm Rectangle 18"/>
          <p:cNvSpPr/>
          <p:nvPr/>
        </p:nvSpPr>
        <p:spPr>
          <a:xfrm>
            <a:off x="5029200" y="903427"/>
            <a:ext cx="2971800" cy="2509114"/>
          </a:xfrm>
          <a:prstGeom prst="rect">
            <a:avLst/>
          </a:prstGeom>
          <a:solidFill>
            <a:srgbClr val="F6F9FC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xm Rectangle 19"/>
          <p:cNvSpPr/>
          <p:nvPr/>
        </p:nvSpPr>
        <p:spPr>
          <a:xfrm>
            <a:off x="5029200" y="903427"/>
            <a:ext cx="2971800" cy="65836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现在的做法</a:t>
            </a:r>
          </a:p>
        </p:txBody>
      </p:sp>
      <p:pic>
        <p:nvPicPr>
          <p:cNvPr id="21" name="xm Picture 20" descr="circle-check-0B5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799539"/>
            <a:ext cx="279806" cy="279806"/>
          </a:xfrm>
          <a:prstGeom prst="rect">
            <a:avLst/>
          </a:prstGeom>
        </p:spPr>
      </p:pic>
      <p:sp>
        <p:nvSpPr>
          <p:cNvPr id="22" name="xm TextBox 21"/>
          <p:cNvSpPr txBox="1"/>
          <p:nvPr/>
        </p:nvSpPr>
        <p:spPr>
          <a:xfrm>
            <a:off x="5720486" y="1744675"/>
            <a:ext cx="2006194" cy="4645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无人机和机器人巡检</a:t>
            </a:r>
          </a:p>
        </p:txBody>
      </p:sp>
      <p:pic>
        <p:nvPicPr>
          <p:cNvPr id="23" name="xm Picture 22" descr="circle-check-0B5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309774"/>
            <a:ext cx="279806" cy="279806"/>
          </a:xfrm>
          <a:prstGeom prst="rect">
            <a:avLst/>
          </a:prstGeom>
        </p:spPr>
      </p:pic>
      <p:sp>
        <p:nvSpPr>
          <p:cNvPr id="24" name="xm TextBox 23"/>
          <p:cNvSpPr txBox="1"/>
          <p:nvPr/>
        </p:nvSpPr>
        <p:spPr>
          <a:xfrm>
            <a:off x="5720486" y="2254910"/>
            <a:ext cx="2006194" cy="4645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电子工作票全流程留痕</a:t>
            </a:r>
          </a:p>
        </p:txBody>
      </p:sp>
      <p:pic>
        <p:nvPicPr>
          <p:cNvPr id="25" name="xm Picture 24" descr="circle-check-0B5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820010"/>
            <a:ext cx="279806" cy="279806"/>
          </a:xfrm>
          <a:prstGeom prst="rect">
            <a:avLst/>
          </a:prstGeom>
        </p:spPr>
      </p:pic>
      <p:sp>
        <p:nvSpPr>
          <p:cNvPr id="26" name="xm TextBox 25"/>
          <p:cNvSpPr txBox="1"/>
          <p:nvPr/>
        </p:nvSpPr>
        <p:spPr>
          <a:xfrm>
            <a:off x="5720486" y="2765146"/>
            <a:ext cx="2006194" cy="4645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事前风险预警</a:t>
            </a:r>
          </a:p>
        </p:txBody>
      </p:sp>
      <p:sp>
        <p:nvSpPr>
          <p:cNvPr id="27" name="xm Oval 26"/>
          <p:cNvSpPr/>
          <p:nvPr/>
        </p:nvSpPr>
        <p:spPr>
          <a:xfrm>
            <a:off x="4270248" y="1810512"/>
            <a:ext cx="694944" cy="694944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2027 年安全工作重点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按季度安排四项重点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2615184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安全形势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重点工作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问题改进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明年重点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cxnSp>
        <p:nvCxnSpPr>
          <p:cNvPr id="11" name="xm Connector 10"/>
          <p:cNvCxnSpPr/>
          <p:nvPr/>
        </p:nvCxnSpPr>
        <p:spPr>
          <a:xfrm>
            <a:off x="1977390" y="1159002"/>
            <a:ext cx="5280660" cy="0"/>
          </a:xfrm>
          <a:prstGeom prst="line">
            <a:avLst/>
          </a:prstGeom>
          <a:ln w="38100">
            <a:solidFill>
              <a:srgbClr val="9DB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xm Oval 11"/>
          <p:cNvSpPr/>
          <p:nvPr/>
        </p:nvSpPr>
        <p:spPr>
          <a:xfrm>
            <a:off x="1657350" y="838962"/>
            <a:ext cx="640080" cy="640080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xm Rectangle 12"/>
          <p:cNvSpPr/>
          <p:nvPr/>
        </p:nvSpPr>
        <p:spPr>
          <a:xfrm>
            <a:off x="1234440" y="1799082"/>
            <a:ext cx="1485900" cy="1677924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xm TextBox 13"/>
          <p:cNvSpPr txBox="1"/>
          <p:nvPr/>
        </p:nvSpPr>
        <p:spPr>
          <a:xfrm>
            <a:off x="1435608" y="2000250"/>
            <a:ext cx="10835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一季度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1435608" y="2384298"/>
            <a:ext cx="1083564" cy="909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完成全集团安全风险分级评估</a:t>
            </a:r>
          </a:p>
        </p:txBody>
      </p:sp>
      <p:sp>
        <p:nvSpPr>
          <p:cNvPr id="16" name="xm Oval 15"/>
          <p:cNvSpPr/>
          <p:nvPr/>
        </p:nvSpPr>
        <p:spPr>
          <a:xfrm>
            <a:off x="3417570" y="838962"/>
            <a:ext cx="640080" cy="640080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xm Rectangle 16"/>
          <p:cNvSpPr/>
          <p:nvPr/>
        </p:nvSpPr>
        <p:spPr>
          <a:xfrm>
            <a:off x="2994660" y="1799082"/>
            <a:ext cx="1485900" cy="1677924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xm TextBox 17"/>
          <p:cNvSpPr txBox="1"/>
          <p:nvPr/>
        </p:nvSpPr>
        <p:spPr>
          <a:xfrm>
            <a:off x="3195828" y="2000250"/>
            <a:ext cx="10835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二季度</a:t>
            </a:r>
          </a:p>
        </p:txBody>
      </p:sp>
      <p:sp>
        <p:nvSpPr>
          <p:cNvPr id="19" name="xm TextBox 18"/>
          <p:cNvSpPr txBox="1"/>
          <p:nvPr/>
        </p:nvSpPr>
        <p:spPr>
          <a:xfrm>
            <a:off x="3195828" y="2384298"/>
            <a:ext cx="1083564" cy="909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新能源场站视频监控全覆盖</a:t>
            </a:r>
          </a:p>
        </p:txBody>
      </p:sp>
      <p:sp>
        <p:nvSpPr>
          <p:cNvPr id="20" name="xm Oval 19"/>
          <p:cNvSpPr/>
          <p:nvPr/>
        </p:nvSpPr>
        <p:spPr>
          <a:xfrm>
            <a:off x="5177790" y="838962"/>
            <a:ext cx="640080" cy="640080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xm Rectangle 20"/>
          <p:cNvSpPr/>
          <p:nvPr/>
        </p:nvSpPr>
        <p:spPr>
          <a:xfrm>
            <a:off x="4754880" y="1799082"/>
            <a:ext cx="1485900" cy="1677924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xm TextBox 21"/>
          <p:cNvSpPr txBox="1"/>
          <p:nvPr/>
        </p:nvSpPr>
        <p:spPr>
          <a:xfrm>
            <a:off x="4956048" y="2000250"/>
            <a:ext cx="10835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三季度</a:t>
            </a:r>
          </a:p>
        </p:txBody>
      </p:sp>
      <p:sp>
        <p:nvSpPr>
          <p:cNvPr id="23" name="xm TextBox 22"/>
          <p:cNvSpPr txBox="1"/>
          <p:nvPr/>
        </p:nvSpPr>
        <p:spPr>
          <a:xfrm>
            <a:off x="4956048" y="2384298"/>
            <a:ext cx="1083564" cy="909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开展第二轮承包商资质复核</a:t>
            </a:r>
          </a:p>
        </p:txBody>
      </p:sp>
      <p:sp>
        <p:nvSpPr>
          <p:cNvPr id="24" name="xm Oval 23"/>
          <p:cNvSpPr/>
          <p:nvPr/>
        </p:nvSpPr>
        <p:spPr>
          <a:xfrm>
            <a:off x="6938010" y="838962"/>
            <a:ext cx="640080" cy="640080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xm Rectangle 24"/>
          <p:cNvSpPr/>
          <p:nvPr/>
        </p:nvSpPr>
        <p:spPr>
          <a:xfrm>
            <a:off x="6515100" y="1799082"/>
            <a:ext cx="1485900" cy="1677924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xm TextBox 25"/>
          <p:cNvSpPr txBox="1"/>
          <p:nvPr/>
        </p:nvSpPr>
        <p:spPr>
          <a:xfrm>
            <a:off x="6716268" y="2000250"/>
            <a:ext cx="10835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四季度</a:t>
            </a:r>
          </a:p>
        </p:txBody>
      </p:sp>
      <p:sp>
        <p:nvSpPr>
          <p:cNvPr id="27" name="xm TextBox 26"/>
          <p:cNvSpPr txBox="1"/>
          <p:nvPr/>
        </p:nvSpPr>
        <p:spPr>
          <a:xfrm>
            <a:off x="6716268" y="2384298"/>
            <a:ext cx="1083564" cy="909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建成安全生产数字化平台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11</a:t>
            </a:fld>
          </a:p>
        </p:txBody>
      </p:sp>
      <p:sp>
        <p:nvSpPr>
          <p:cNvPr id="5" name="xm TextBox 4"/>
          <p:cNvSpPr txBox="1"/>
          <p:nvPr/>
        </p:nvSpPr>
        <p:spPr>
          <a:xfrm>
            <a:off x="502920" y="740664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00A19A"/>
                </a:solidFill>
                <a:latin typeface="微软雅黑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685800" y="1792224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安全是 1，其他都是后面的 0。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2" name="Picture 1" descr="energy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81834">
                  <a:alpha val="85000"/>
                </a:srgbClr>
              </a:gs>
              <a:gs pos="100000">
                <a:srgbClr val="081834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nergy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463040" cy="4180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82880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chemeClr val="bg1"/>
                </a:solidFill>
                <a:latin typeface="+mj-lt"/>
                <a:ea typeface="+mj-ea"/>
              </a:rPr>
              <a:t>谢谢聆听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C77E"/>
                </a:solidFill>
                <a:latin typeface="+mn-lt"/>
                <a:ea typeface="+mn-ea"/>
              </a:rPr>
              <a:t>敬请批评指正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岳川能源">
  <a:themeElements>
    <a:clrScheme name="岳川能源">
      <a:dk1>
        <a:srgbClr val="1A1A1A"/>
      </a:dk1>
      <a:lt1>
        <a:srgbClr val="FFFFFF"/>
      </a:lt1>
      <a:dk2>
        <a:srgbClr val="0F2747"/>
      </a:dk2>
      <a:lt2>
        <a:srgbClr val="EDF2F7"/>
      </a:lt2>
      <a:accent1>
        <a:srgbClr val="0B5CAD"/>
      </a:accent1>
      <a:accent2>
        <a:srgbClr val="00A19A"/>
      </a:accent2>
      <a:accent3>
        <a:srgbClr val="F5A623"/>
      </a:accent3>
      <a:accent4>
        <a:srgbClr val="5B6B7F"/>
      </a:accent4>
      <a:accent5>
        <a:srgbClr val="8CC63F"/>
      </a:accent5>
      <a:accent6>
        <a:srgbClr val="E4572E"/>
      </a:accent6>
      <a:hlink>
        <a:srgbClr val="0B5CAD"/>
      </a:hlink>
      <a:folHlink>
        <a:srgbClr val="5B6B7F"/>
      </a:folHlink>
    </a:clrScheme>
    <a:fontScheme name="岳川能源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微软雅黑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微软雅黑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