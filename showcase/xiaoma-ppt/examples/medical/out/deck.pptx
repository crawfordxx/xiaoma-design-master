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血压控制率（%）</c:v>
                </c:pt>
              </c:strCache>
            </c:strRef>
          </c:tx>
          <c:spPr>
            <a:ln w="34925">
              <a:solidFill>
                <a:srgbClr val="0E9AA7"/>
              </a:solidFill>
            </a:ln>
          </c:spPr>
          <c:marker>
            <c:spPr>
              <a:solidFill>
                <a:srgbClr val="0E9AA7"/>
              </a:solidFill>
              <a:ln>
                <a:solidFill>
                  <a:srgbClr val="FEFEF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3月</c:v>
                </c:pt>
                <c:pt idx="2">
                  <c:v>5月</c:v>
                </c:pt>
                <c:pt idx="3">
                  <c:v>7月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51.0</c:v>
                </c:pt>
                <c:pt idx="1">
                  <c:v>55.0</c:v>
                </c:pt>
                <c:pt idx="2">
                  <c:v>59.0</c:v>
                </c:pt>
                <c:pt idx="3">
                  <c:v>63.0</c:v>
                </c:pt>
                <c:pt idx="4">
                  <c:v>66.0</c:v>
                </c:pt>
                <c:pt idx="5">
                  <c:v>68.0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7323A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3E5"/>
            </a:solidFill>
          </a:ln>
        </c:spPr>
        <c:txPr>
          <a:bodyPr/>
          <a:lstStyle/>
          <a:p>
            <a:pPr>
              <a:defRPr sz="1400">
                <a:solidFill>
                  <a:srgbClr val="4157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3.95"/>
          <c:min val="30.6"/>
        </c:scaling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7F8E93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41575D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患者依从性低：高血压患者规律服药率不足五成</a:t>
            </a:r>
          </a:p>
          <a:p>
            <a:r>
              <a:t>· 随访靠人工：家庭医生人均签约 1,800 人，随访电话打不过来</a:t>
            </a:r>
          </a:p>
          <a:p>
            <a:r>
              <a:t>· 数据不连通：医院、社区、家庭三处数据各自为政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让每一位慢病患者，在家门口就能被持续、主动地照护。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覆盖社区卫生服务中心 38 家</a:t>
            </a:r>
          </a:p>
          <a:p>
            <a:r>
              <a:t>· 纳入管理慢病患者 6.4 万人</a:t>
            </a:r>
          </a:p>
          <a:p>
            <a:r>
              <a:t>· 智能随访 52 万次</a:t>
            </a:r>
          </a:p>
          <a:p>
            <a:r>
              <a:t>· 家庭医生随访工时节省 63%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月份｜血压控制率（%）</a:t>
            </a:r>
          </a:p>
          <a:p>
            <a:r>
              <a:t>1月｜51</a:t>
            </a:r>
          </a:p>
          <a:p>
            <a:r>
              <a:t>3月｜55</a:t>
            </a:r>
          </a:p>
          <a:p>
            <a:r>
              <a:t>5月｜59</a:t>
            </a:r>
          </a:p>
          <a:p>
            <a:r>
              <a:t>7月｜63</a:t>
            </a:r>
          </a:p>
          <a:p>
            <a:r>
              <a:t>9月｜66</a:t>
            </a:r>
          </a:p>
          <a:p>
            <a:r>
              <a:t>10月｜68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清晨测量：智能血压计自动上传读数</a:t>
            </a:r>
          </a:p>
          <a:p>
            <a:r>
              <a:t>2. 异常预警：连续偏高时系统提醒家庭医生</a:t>
            </a:r>
          </a:p>
          <a:p>
            <a:r>
              <a:t>3. 在线干预：医生调整用药方案并视频随访</a:t>
            </a:r>
          </a:p>
          <a:p>
            <a:r>
              <a:t>4. 社区复诊：每月一次面诊，数据全程留档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医院专科：负责疑难病例会诊和用药方案</a:t>
            </a:r>
          </a:p>
          <a:p>
            <a:r>
              <a:t>· 社区中心：负责签约、随访和日常管理</a:t>
            </a:r>
          </a:p>
          <a:p>
            <a:r>
              <a:t>· 家庭端：负责测量、服药和生活方式记录</a:t>
            </a:r>
          </a:p>
          <a:p>
            <a:r>
              <a:t>· 数字平台：负责数据汇聚、预警和提醒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方向｜目标</a:t>
            </a:r>
          </a:p>
          <a:p>
            <a:r>
              <a:t>扩面｜覆盖全市 120 家社区中心</a:t>
            </a:r>
          </a:p>
          <a:p>
            <a:r>
              <a:t>扩病种｜新增慢阻肺、慢性肾病管理</a:t>
            </a:r>
          </a:p>
          <a:p>
            <a:r>
              <a:t>医保联动｜按健康结果付费试点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把医院的专业，延伸到每一个家庭。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89839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B5563"/>
                </a:solidFill>
                <a:latin typeface="微软雅黑"/>
                <a:ea typeface="微软雅黑"/>
              </a:rPr>
              <a:t>社区慢病管理数字化项目年度汇报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E9AA7"/>
                </a:solidFill>
                <a:latin typeface="微软雅黑"/>
                <a:ea typeface="微软雅黑"/>
              </a:rPr>
              <a:t>康宁医疗集团 · 公共卫生事业部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9145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2026-10-20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B556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0E9AA7"/>
                </a:solidFill>
                <a:latin typeface="微软雅黑"/>
                <a:ea typeface="微软雅黑"/>
              </a:rPr>
              <a:t>CONTENTS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1520" y="2148840"/>
            <a:ext cx="3383280" cy="1691640"/>
            <a:chOff x="731520" y="2148840"/>
            <a:chExt cx="3383280" cy="1691640"/>
          </a:xfrm>
        </p:grpSpPr>
        <p:sp>
          <p:nvSpPr>
            <p:cNvPr id="6" name="Rounded Rectangle 5"/>
            <p:cNvSpPr/>
            <p:nvPr/>
          </p:nvSpPr>
          <p:spPr>
            <a:xfrm>
              <a:off x="7315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058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58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88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项目背景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89120" y="2148840"/>
            <a:ext cx="3383280" cy="1691640"/>
            <a:chOff x="4389120" y="2148840"/>
            <a:chExt cx="3383280" cy="1691640"/>
          </a:xfrm>
        </p:grpSpPr>
        <p:sp>
          <p:nvSpPr>
            <p:cNvPr id="12" name="Rounded Rectangle 11"/>
            <p:cNvSpPr/>
            <p:nvPr/>
          </p:nvSpPr>
          <p:spPr>
            <a:xfrm>
              <a:off x="43891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6634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634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建设成果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046720" y="2148840"/>
            <a:ext cx="3383280" cy="1691640"/>
            <a:chOff x="8046720" y="2148840"/>
            <a:chExt cx="3383280" cy="1691640"/>
          </a:xfrm>
        </p:grpSpPr>
        <p:sp>
          <p:nvSpPr>
            <p:cNvPr id="18" name="Rounded Rectangle 17"/>
            <p:cNvSpPr/>
            <p:nvPr/>
          </p:nvSpPr>
          <p:spPr>
            <a:xfrm>
              <a:off x="8046720" y="214884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321040" y="242316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321040" y="253288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0" y="249631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运营模式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31520" y="4114800"/>
            <a:ext cx="3383280" cy="1691640"/>
            <a:chOff x="731520" y="4114800"/>
            <a:chExt cx="3383280" cy="1691640"/>
          </a:xfrm>
        </p:grpSpPr>
        <p:sp>
          <p:nvSpPr>
            <p:cNvPr id="24" name="Rounded Rectangle 23"/>
            <p:cNvSpPr/>
            <p:nvPr/>
          </p:nvSpPr>
          <p:spPr>
            <a:xfrm>
              <a:off x="731520" y="4114800"/>
              <a:ext cx="3383280" cy="169164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005840" y="4389120"/>
              <a:ext cx="640080" cy="64008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05840" y="4498848"/>
              <a:ext cx="640080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28800" y="4462272"/>
              <a:ext cx="2194560" cy="5029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800" b="1">
                  <a:solidFill>
                    <a:srgbClr val="17323A"/>
                  </a:solidFill>
                  <a:latin typeface="微软雅黑"/>
                  <a:ea typeface="微软雅黑"/>
                </a:rPr>
                <a:t>下一步规划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项目背景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慢病管理的三大难点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179472"/>
            <a:ext cx="2987040" cy="3504895"/>
          </a:xfrm>
          <a:prstGeom prst="roundRect">
            <a:avLst>
              <a:gd name="adj" fmla="val 3673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Oval 8"/>
          <p:cNvSpPr/>
          <p:nvPr/>
        </p:nvSpPr>
        <p:spPr>
          <a:xfrm>
            <a:off x="120700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xm Picture 9" descr="users-1732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496" y="2754008"/>
            <a:ext cx="412724" cy="41272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207008" y="3540100"/>
            <a:ext cx="22189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患者依从性低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207008" y="4088740"/>
            <a:ext cx="221894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高血压患者规律服药率不足五成</a:t>
            </a:r>
          </a:p>
        </p:txBody>
      </p:sp>
      <p:sp>
        <p:nvSpPr>
          <p:cNvPr id="13" name="xm Rounded Rectangle 12"/>
          <p:cNvSpPr/>
          <p:nvPr/>
        </p:nvSpPr>
        <p:spPr>
          <a:xfrm>
            <a:off x="4084320" y="2179472"/>
            <a:ext cx="2987040" cy="3504895"/>
          </a:xfrm>
          <a:prstGeom prst="roundRect">
            <a:avLst>
              <a:gd name="adj" fmla="val 3673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Oval 13"/>
          <p:cNvSpPr/>
          <p:nvPr/>
        </p:nvSpPr>
        <p:spPr>
          <a:xfrm>
            <a:off x="446836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stethoscope-1732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56" y="2754008"/>
            <a:ext cx="412724" cy="412724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4468368" y="3540100"/>
            <a:ext cx="22189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随访靠人工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4468368" y="4088740"/>
            <a:ext cx="221894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家庭医生人均签约 1,800 人，随访电话打不过来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7345680" y="2179472"/>
            <a:ext cx="2987040" cy="3504895"/>
          </a:xfrm>
          <a:prstGeom prst="roundRect">
            <a:avLst>
              <a:gd name="adj" fmla="val 3673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772972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database-173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216" y="2754008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7729728" y="3540100"/>
            <a:ext cx="22189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数据不连通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7729728" y="4088740"/>
            <a:ext cx="221894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医院、社区、家庭三处数据各自为政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我们想解决的问题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3230880"/>
            <a:ext cx="9509760" cy="1402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让每一位慢病患者，在家门口就能被持续、主动地照护。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建设成果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一年来的关键数字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6190488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822960" y="2947670"/>
            <a:ext cx="224028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38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家</a:t>
            </a:r>
          </a:p>
        </p:txBody>
      </p:sp>
      <p:cxnSp>
        <p:nvCxnSpPr>
          <p:cNvPr id="10" name="xm Connector 9"/>
          <p:cNvCxnSpPr/>
          <p:nvPr/>
        </p:nvCxnSpPr>
        <p:spPr>
          <a:xfrm>
            <a:off x="822960" y="3910330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xm TextBox 10"/>
          <p:cNvSpPr txBox="1"/>
          <p:nvPr/>
        </p:nvSpPr>
        <p:spPr>
          <a:xfrm>
            <a:off x="822960" y="409321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覆盖社区中心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3474720" y="2947670"/>
            <a:ext cx="196596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6.4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万人</a:t>
            </a:r>
          </a:p>
        </p:txBody>
      </p:sp>
      <p:cxnSp>
        <p:nvCxnSpPr>
          <p:cNvPr id="13" name="xm Connector 12"/>
          <p:cNvCxnSpPr/>
          <p:nvPr/>
        </p:nvCxnSpPr>
        <p:spPr>
          <a:xfrm>
            <a:off x="3474720" y="3910330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xm TextBox 13"/>
          <p:cNvSpPr txBox="1"/>
          <p:nvPr/>
        </p:nvSpPr>
        <p:spPr>
          <a:xfrm>
            <a:off x="3474720" y="409321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纳入管理患者</a:t>
            </a:r>
          </a:p>
        </p:txBody>
      </p:sp>
      <p:cxnSp>
        <p:nvCxnSpPr>
          <p:cNvPr id="15" name="xm Connector 14"/>
          <p:cNvCxnSpPr/>
          <p:nvPr/>
        </p:nvCxnSpPr>
        <p:spPr>
          <a:xfrm>
            <a:off x="3200400" y="3084830"/>
            <a:ext cx="0" cy="1465580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xm TextBox 15"/>
          <p:cNvSpPr txBox="1"/>
          <p:nvPr/>
        </p:nvSpPr>
        <p:spPr>
          <a:xfrm>
            <a:off x="5852160" y="2947670"/>
            <a:ext cx="196596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52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万次</a:t>
            </a:r>
          </a:p>
        </p:txBody>
      </p:sp>
      <p:cxnSp>
        <p:nvCxnSpPr>
          <p:cNvPr id="17" name="xm Connector 16"/>
          <p:cNvCxnSpPr/>
          <p:nvPr/>
        </p:nvCxnSpPr>
        <p:spPr>
          <a:xfrm>
            <a:off x="5852160" y="3910330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xm TextBox 17"/>
          <p:cNvSpPr txBox="1"/>
          <p:nvPr/>
        </p:nvSpPr>
        <p:spPr>
          <a:xfrm>
            <a:off x="5852160" y="409321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智能随访</a:t>
            </a:r>
          </a:p>
        </p:txBody>
      </p:sp>
      <p:cxnSp>
        <p:nvCxnSpPr>
          <p:cNvPr id="19" name="xm Connector 18"/>
          <p:cNvCxnSpPr/>
          <p:nvPr/>
        </p:nvCxnSpPr>
        <p:spPr>
          <a:xfrm>
            <a:off x="5577840" y="3084830"/>
            <a:ext cx="0" cy="1465580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xm TextBox 19"/>
          <p:cNvSpPr txBox="1"/>
          <p:nvPr/>
        </p:nvSpPr>
        <p:spPr>
          <a:xfrm>
            <a:off x="8229600" y="2947670"/>
            <a:ext cx="1965960" cy="8255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63</a:t>
            </a:r>
            <a:r>
              <a:rPr sz="21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21" name="xm Connector 20"/>
          <p:cNvCxnSpPr/>
          <p:nvPr/>
        </p:nvCxnSpPr>
        <p:spPr>
          <a:xfrm>
            <a:off x="8229600" y="3910330"/>
            <a:ext cx="640080" cy="0"/>
          </a:xfrm>
          <a:prstGeom prst="line">
            <a:avLst/>
          </a:prstGeom>
          <a:ln w="38100">
            <a:solidFill>
              <a:srgbClr val="0E9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xm TextBox 21"/>
          <p:cNvSpPr txBox="1"/>
          <p:nvPr/>
        </p:nvSpPr>
        <p:spPr>
          <a:xfrm>
            <a:off x="8229600" y="409321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随访工时节省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7955280" y="3084830"/>
            <a:ext cx="0" cy="1465580"/>
          </a:xfrm>
          <a:prstGeom prst="line">
            <a:avLst/>
          </a:prstGeom>
          <a:ln w="9525">
            <a:solidFill>
              <a:srgbClr val="E0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血压控制率稳步提升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822960" y="6190488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graphicFrame>
        <p:nvGraphicFramePr>
          <p:cNvPr id="9" name="xm Chart 8"/>
          <p:cNvGraphicFramePr>
            <a:graphicFrameLocks noGrp="1"/>
          </p:cNvGraphicFramePr>
          <p:nvPr/>
        </p:nvGraphicFramePr>
        <p:xfrm>
          <a:off x="822960" y="1417320"/>
          <a:ext cx="6276442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xm Rounded Rectangle 9"/>
          <p:cNvSpPr/>
          <p:nvPr/>
        </p:nvSpPr>
        <p:spPr>
          <a:xfrm>
            <a:off x="7465162" y="1417320"/>
            <a:ext cx="2867558" cy="4663440"/>
          </a:xfrm>
          <a:prstGeom prst="roundRect">
            <a:avLst>
              <a:gd name="adj" fmla="val 3826"/>
            </a:avLst>
          </a:prstGeom>
          <a:solidFill>
            <a:srgbClr val="E9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TextBox 10"/>
          <p:cNvSpPr txBox="1"/>
          <p:nvPr/>
        </p:nvSpPr>
        <p:spPr>
          <a:xfrm>
            <a:off x="7785202" y="1737360"/>
            <a:ext cx="2227478" cy="788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+17</a:t>
            </a:r>
            <a:r>
              <a:rPr sz="17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 个百分点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7785202" y="2663190"/>
            <a:ext cx="222747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十个月提升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7785202" y="3440430"/>
            <a:ext cx="2227478" cy="23202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从 1 月的 51% 提升到 10 月的 68%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一个患者的一天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cxnSp>
        <p:nvCxnSpPr>
          <p:cNvPr id="8" name="xm Connector 7"/>
          <p:cNvCxnSpPr/>
          <p:nvPr/>
        </p:nvCxnSpPr>
        <p:spPr>
          <a:xfrm>
            <a:off x="1908810" y="2637587"/>
            <a:ext cx="7338060" cy="0"/>
          </a:xfrm>
          <a:prstGeom prst="line">
            <a:avLst/>
          </a:prstGeom>
          <a:ln w="38100">
            <a:solidFill>
              <a:srgbClr val="9E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xm Oval 8"/>
          <p:cNvSpPr/>
          <p:nvPr/>
        </p:nvSpPr>
        <p:spPr>
          <a:xfrm>
            <a:off x="146075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xm Rounded Rectangle 9"/>
          <p:cNvSpPr/>
          <p:nvPr/>
        </p:nvSpPr>
        <p:spPr>
          <a:xfrm>
            <a:off x="82296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TextBox 10"/>
          <p:cNvSpPr txBox="1"/>
          <p:nvPr/>
        </p:nvSpPr>
        <p:spPr>
          <a:xfrm>
            <a:off x="110459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清晨测量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10459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智能血压计自动上传读数</a:t>
            </a:r>
          </a:p>
        </p:txBody>
      </p:sp>
      <p:sp>
        <p:nvSpPr>
          <p:cNvPr id="13" name="xm Oval 12"/>
          <p:cNvSpPr/>
          <p:nvPr/>
        </p:nvSpPr>
        <p:spPr>
          <a:xfrm>
            <a:off x="390677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xm Rounded Rectangle 13"/>
          <p:cNvSpPr/>
          <p:nvPr/>
        </p:nvSpPr>
        <p:spPr>
          <a:xfrm>
            <a:off x="326898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TextBox 14"/>
          <p:cNvSpPr txBox="1"/>
          <p:nvPr/>
        </p:nvSpPr>
        <p:spPr>
          <a:xfrm>
            <a:off x="355061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异常预警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355061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连续偏高时系统提醒家庭医生</a:t>
            </a:r>
          </a:p>
        </p:txBody>
      </p:sp>
      <p:sp>
        <p:nvSpPr>
          <p:cNvPr id="17" name="xm Oval 16"/>
          <p:cNvSpPr/>
          <p:nvPr/>
        </p:nvSpPr>
        <p:spPr>
          <a:xfrm>
            <a:off x="635279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571500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TextBox 18"/>
          <p:cNvSpPr txBox="1"/>
          <p:nvPr/>
        </p:nvSpPr>
        <p:spPr>
          <a:xfrm>
            <a:off x="599663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在线干预</a:t>
            </a:r>
          </a:p>
        </p:txBody>
      </p:sp>
      <p:sp>
        <p:nvSpPr>
          <p:cNvPr id="20" name="xm TextBox 19"/>
          <p:cNvSpPr txBox="1"/>
          <p:nvPr/>
        </p:nvSpPr>
        <p:spPr>
          <a:xfrm>
            <a:off x="599663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医生调整用药方案并视频随访</a:t>
            </a:r>
          </a:p>
        </p:txBody>
      </p:sp>
      <p:sp>
        <p:nvSpPr>
          <p:cNvPr id="21" name="xm Oval 20"/>
          <p:cNvSpPr/>
          <p:nvPr/>
        </p:nvSpPr>
        <p:spPr>
          <a:xfrm>
            <a:off x="8798814" y="2189531"/>
            <a:ext cx="896112" cy="8961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xm Rounded Rectangle 21"/>
          <p:cNvSpPr/>
          <p:nvPr/>
        </p:nvSpPr>
        <p:spPr>
          <a:xfrm>
            <a:off x="8161020" y="3405683"/>
            <a:ext cx="2171700" cy="2268626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xm TextBox 22"/>
          <p:cNvSpPr txBox="1"/>
          <p:nvPr/>
        </p:nvSpPr>
        <p:spPr>
          <a:xfrm>
            <a:off x="8442655" y="3687318"/>
            <a:ext cx="16084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社区复诊</a:t>
            </a:r>
          </a:p>
        </p:txBody>
      </p:sp>
      <p:sp>
        <p:nvSpPr>
          <p:cNvPr id="24" name="xm TextBox 23"/>
          <p:cNvSpPr txBox="1"/>
          <p:nvPr/>
        </p:nvSpPr>
        <p:spPr>
          <a:xfrm>
            <a:off x="8442655" y="4181094"/>
            <a:ext cx="160843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每月一次面诊，数据全程留档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运营模式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三方协同的服务网络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Oval 8"/>
          <p:cNvSpPr/>
          <p:nvPr/>
        </p:nvSpPr>
        <p:spPr>
          <a:xfrm>
            <a:off x="120700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xm Picture 9" descr="hospital-1732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496" y="2754008"/>
            <a:ext cx="412724" cy="41272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20700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医院专科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20700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负责疑难病例会诊和用药方案</a:t>
            </a:r>
          </a:p>
        </p:txBody>
      </p:sp>
      <p:sp>
        <p:nvSpPr>
          <p:cNvPr id="13" name="xm Rounded Rectangle 12"/>
          <p:cNvSpPr/>
          <p:nvPr/>
        </p:nvSpPr>
        <p:spPr>
          <a:xfrm>
            <a:off x="326898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Oval 13"/>
          <p:cNvSpPr/>
          <p:nvPr/>
        </p:nvSpPr>
        <p:spPr>
          <a:xfrm>
            <a:off x="365302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xm Picture 14" descr="heart-pulse-1732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516" y="2754008"/>
            <a:ext cx="412724" cy="412724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365302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社区中心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365302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负责签约、随访和日常管理</a:t>
            </a:r>
          </a:p>
        </p:txBody>
      </p:sp>
      <p:sp>
        <p:nvSpPr>
          <p:cNvPr id="18" name="xm Rounded Rectangle 17"/>
          <p:cNvSpPr/>
          <p:nvPr/>
        </p:nvSpPr>
        <p:spPr>
          <a:xfrm>
            <a:off x="571500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609904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circle-check-173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536" y="2754008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09904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家庭端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609904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负责测量、服药和生活方式记录</a:t>
            </a:r>
          </a:p>
        </p:txBody>
      </p:sp>
      <p:sp>
        <p:nvSpPr>
          <p:cNvPr id="23" name="xm Rounded Rectangle 22"/>
          <p:cNvSpPr/>
          <p:nvPr/>
        </p:nvSpPr>
        <p:spPr>
          <a:xfrm>
            <a:off x="8161020" y="2179472"/>
            <a:ext cx="2171700" cy="3504895"/>
          </a:xfrm>
          <a:prstGeom prst="roundRect">
            <a:avLst>
              <a:gd name="adj" fmla="val 5052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Oval 23"/>
          <p:cNvSpPr/>
          <p:nvPr/>
        </p:nvSpPr>
        <p:spPr>
          <a:xfrm>
            <a:off x="8545068" y="2563520"/>
            <a:ext cx="793699" cy="793699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xm Picture 24" descr="database-173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556" y="2754008"/>
            <a:ext cx="412724" cy="412724"/>
          </a:xfrm>
          <a:prstGeom prst="rect">
            <a:avLst/>
          </a:prstGeom>
        </p:spPr>
      </p:pic>
      <p:sp>
        <p:nvSpPr>
          <p:cNvPr id="26" name="xm TextBox 25"/>
          <p:cNvSpPr txBox="1"/>
          <p:nvPr/>
        </p:nvSpPr>
        <p:spPr>
          <a:xfrm>
            <a:off x="8545068" y="3540100"/>
            <a:ext cx="14036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数字平台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8545068" y="4088740"/>
            <a:ext cx="140360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1575D"/>
                </a:solidFill>
                <a:latin typeface="微软雅黑"/>
                <a:ea typeface="微软雅黑"/>
                <a:cs typeface="微软雅黑"/>
              </a:rPr>
              <a:t>负责数据汇聚、预警和提醒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服务前后对比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Rounded Rectangle 7"/>
          <p:cNvSpPr/>
          <p:nvPr/>
        </p:nvSpPr>
        <p:spPr>
          <a:xfrm>
            <a:off x="822960" y="2069287"/>
            <a:ext cx="4343400" cy="3725266"/>
          </a:xfrm>
          <a:prstGeom prst="roundRect">
            <a:avLst>
              <a:gd name="adj" fmla="val 2945"/>
            </a:avLst>
          </a:prstGeom>
          <a:solidFill>
            <a:srgbClr val="F7FBFC"/>
          </a:solidFill>
          <a:ln w="9525">
            <a:solidFill>
              <a:srgbClr val="E0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xm Rounded Rectangle 8"/>
          <p:cNvSpPr/>
          <p:nvPr/>
        </p:nvSpPr>
        <p:spPr>
          <a:xfrm>
            <a:off x="822960" y="2069287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E4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以往</a:t>
            </a:r>
          </a:p>
        </p:txBody>
      </p:sp>
      <p:pic>
        <p:nvPicPr>
          <p:cNvPr id="10" name="xm Picture 9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31159"/>
            <a:ext cx="435254" cy="43525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669694" y="3276295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每季度电话随访一次</a:t>
            </a:r>
          </a:p>
        </p:txBody>
      </p:sp>
      <p:pic>
        <p:nvPicPr>
          <p:cNvPr id="12" name="xm Picture 11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24858"/>
            <a:ext cx="435254" cy="435254"/>
          </a:xfrm>
          <a:prstGeom prst="rect">
            <a:avLst/>
          </a:prstGeom>
        </p:spPr>
      </p:pic>
      <p:sp>
        <p:nvSpPr>
          <p:cNvPr id="13" name="xm TextBox 12"/>
          <p:cNvSpPr txBox="1"/>
          <p:nvPr/>
        </p:nvSpPr>
        <p:spPr>
          <a:xfrm>
            <a:off x="1669694" y="40699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患者数据散落在纸质档案</a:t>
            </a:r>
          </a:p>
        </p:txBody>
      </p:sp>
      <p:pic>
        <p:nvPicPr>
          <p:cNvPr id="14" name="xm Picture 13" descr="circle-x-0E9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18558"/>
            <a:ext cx="435254" cy="43525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1669694" y="48636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7F8E93"/>
                </a:solidFill>
                <a:latin typeface="微软雅黑"/>
                <a:ea typeface="微软雅黑"/>
                <a:cs typeface="微软雅黑"/>
              </a:rPr>
              <a:t>发现异常靠患者自己就诊</a:t>
            </a:r>
          </a:p>
        </p:txBody>
      </p:sp>
      <p:sp>
        <p:nvSpPr>
          <p:cNvPr id="16" name="xm Rounded Rectangle 15"/>
          <p:cNvSpPr/>
          <p:nvPr/>
        </p:nvSpPr>
        <p:spPr>
          <a:xfrm>
            <a:off x="5989320" y="2069287"/>
            <a:ext cx="4343400" cy="3725266"/>
          </a:xfrm>
          <a:prstGeom prst="roundRect">
            <a:avLst>
              <a:gd name="adj" fmla="val 2945"/>
            </a:avLst>
          </a:prstGeom>
          <a:solidFill>
            <a:srgbClr val="F7FBFC"/>
          </a:solidFill>
          <a:ln w="1905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Rounded Rectangle 16"/>
          <p:cNvSpPr/>
          <p:nvPr/>
        </p:nvSpPr>
        <p:spPr>
          <a:xfrm>
            <a:off x="5989320" y="2069287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现在</a:t>
            </a:r>
          </a:p>
        </p:txBody>
      </p:sp>
      <p:pic>
        <p:nvPicPr>
          <p:cNvPr id="18" name="xm Picture 17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331159"/>
            <a:ext cx="435254" cy="43525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6836054" y="3276295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系统每日监测，异常当天响应</a:t>
            </a:r>
          </a:p>
        </p:txBody>
      </p:sp>
      <p:pic>
        <p:nvPicPr>
          <p:cNvPr id="20" name="xm Picture 19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24858"/>
            <a:ext cx="435254" cy="43525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836054" y="40699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一人一档，三方实时共享</a:t>
            </a:r>
          </a:p>
        </p:txBody>
      </p:sp>
      <p:pic>
        <p:nvPicPr>
          <p:cNvPr id="22" name="xm Picture 21" descr="circle-check-0E9A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918558"/>
            <a:ext cx="435254" cy="435254"/>
          </a:xfrm>
          <a:prstGeom prst="rect">
            <a:avLst/>
          </a:prstGeom>
        </p:spPr>
      </p:pic>
      <p:sp>
        <p:nvSpPr>
          <p:cNvPr id="23" name="xm TextBox 22"/>
          <p:cNvSpPr txBox="1"/>
          <p:nvPr/>
        </p:nvSpPr>
        <p:spPr>
          <a:xfrm>
            <a:off x="6836054" y="4863694"/>
            <a:ext cx="322234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高风险患者提前干预</a:t>
            </a:r>
          </a:p>
        </p:txBody>
      </p:sp>
      <p:sp>
        <p:nvSpPr>
          <p:cNvPr id="24" name="xm Oval 23"/>
          <p:cNvSpPr/>
          <p:nvPr/>
        </p:nvSpPr>
        <p:spPr>
          <a:xfrm>
            <a:off x="5230368" y="3584448"/>
            <a:ext cx="694944" cy="694944"/>
          </a:xfrm>
          <a:prstGeom prst="ellipse">
            <a:avLst/>
          </a:prstGeom>
          <a:solidFill>
            <a:srgbClr val="17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EFE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9AA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2402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下一步规划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2027 年三项重点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graphicFrame>
        <p:nvGraphicFramePr>
          <p:cNvPr id="8" name="xm Table 7"/>
          <p:cNvGraphicFramePr>
            <a:graphicFrameLocks noGrp="1"/>
          </p:cNvGraphicFramePr>
          <p:nvPr/>
        </p:nvGraphicFramePr>
        <p:xfrm>
          <a:off x="822960" y="1993392"/>
          <a:ext cx="950976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4880"/>
                <a:gridCol w="475488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732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marL="109728" marR="109728" marT="36576" marB="36576" anchor="ctr"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32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</a:t>
                      </a:r>
                    </a:p>
                  </a:txBody>
                  <a:tcPr marL="109728" marR="109728" marT="36576" marB="36576" anchor="ctr">
                    <a:solidFill>
                      <a:srgbClr val="0E9AA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扩面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覆盖全市 120 家社区中心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扩病种</a:t>
                      </a:r>
                    </a:p>
                  </a:txBody>
                  <a:tcPr marL="109728" marR="109728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新增慢阻肺、慢性肾病管理</a:t>
                      </a:r>
                    </a:p>
                  </a:txBody>
                  <a:tcPr marL="109728" marR="109728" marT="36576" marB="36576" anchor="ctr">
                    <a:solidFill>
                      <a:srgbClr val="EFF3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医保联动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1575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按健康结果付费试点</a:t>
                      </a:r>
                    </a:p>
                  </a:txBody>
                  <a:tcPr marL="109728" marR="109728" marT="36576" marB="36576" anchor="ctr">
                    <a:solidFill>
                      <a:srgbClr val="F7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me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8686800" cy="731520"/>
          </a:xfrm>
        </p:spPr>
        <p:txBody>
          <a:bodyPr wrap="square" anchor="ctr"/>
          <a:lstStyle/>
          <a:p>
            <a:pPr algn="l"/>
            <a:r>
              <a:rPr sz="2600" b="1">
                <a:solidFill>
                  <a:srgbClr val="17323A"/>
                </a:solidFill>
                <a:latin typeface="微软雅黑"/>
                <a:ea typeface="微软雅黑"/>
              </a:rPr>
              <a:t>下一步规划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612648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704088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85248" y="5486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B5563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1005840" y="251460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0E9AA7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1188720" y="356616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7323A"/>
                </a:solidFill>
                <a:latin typeface="微软雅黑"/>
                <a:ea typeface="微软雅黑"/>
                <a:cs typeface="微软雅黑"/>
              </a:rPr>
              <a:t>把医院的专业，延伸到每一个家庭。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94360"/>
            <a:ext cx="91439" cy="274320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74320" cy="91439"/>
          </a:xfrm>
          <a:prstGeom prst="roundRect">
            <a:avLst>
              <a:gd name="adj" fmla="val 2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530352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康宁医疗集团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5F3EF"/>
                </a:solidFill>
                <a:latin typeface="微软雅黑"/>
                <a:ea typeface="微软雅黑"/>
              </a:rPr>
              <a:t>守护每一份健康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