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0"/>
    <p:sldId id="270" r:id="rId21"/>
    <p:sldId id="271" r:id="rId22"/>
    <p:sldId id="272" r:id="rId23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年</c:v>
                </c:pt>
              </c:strCache>
            </c:strRef>
          </c:tx>
          <c:spPr>
            <a:solidFill>
              <a:srgbClr val="0B5CAD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一季度</c:v>
                </c:pt>
                <c:pt idx="1">
                  <c:v>二季度</c:v>
                </c:pt>
                <c:pt idx="2">
                  <c:v>三季度</c:v>
                </c:pt>
                <c:pt idx="3">
                  <c:v>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640.0</c:v>
                </c:pt>
                <c:pt idx="1">
                  <c:v>620.0</c:v>
                </c:pt>
                <c:pt idx="2">
                  <c:v>760.0</c:v>
                </c:pt>
                <c:pt idx="3">
                  <c:v>650.0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年</c:v>
                </c:pt>
              </c:strCache>
            </c:strRef>
          </c:tx>
          <c:spPr>
            <a:solidFill>
              <a:srgbClr val="00A19A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一季度</c:v>
                </c:pt>
                <c:pt idx="1">
                  <c:v>二季度</c:v>
                </c:pt>
                <c:pt idx="2">
                  <c:v>三季度</c:v>
                </c:pt>
                <c:pt idx="3">
                  <c:v>四季度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672.0</c:v>
                </c:pt>
                <c:pt idx="1">
                  <c:v>668.0</c:v>
                </c:pt>
                <c:pt idx="2">
                  <c:v>812.0</c:v>
                </c:pt>
                <c:pt idx="3">
                  <c:v>708.0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 b="1">
                  <a:solidFill>
                    <a:srgbClr val="1A1A1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1E1E1"/>
            </a:solidFill>
          </a:ln>
        </c:spPr>
        <c:txPr>
          <a:bodyPr/>
          <a:lstStyle/>
          <a:p>
            <a:pPr>
              <a:defRPr sz="1200">
                <a:solidFill>
                  <a:srgbClr val="43434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18181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434343"/>
              </a:solidFill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434343"/>
          </a:solidFill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用电需求：全社会用电量同比增长 6.8%</a:t>
            </a:r>
          </a:p>
          <a:p>
            <a:r>
              <a:t>· 新能源：风光装机首次超过煤电</a:t>
            </a:r>
          </a:p>
          <a:p>
            <a:r>
              <a:t>· 电价：市场化交易电量占比升至 61%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新能源占比快速提高，系统调节能力跟不上；电价市场化以后，发电收益的波动明显变大。</a:t>
            </a:r>
          </a:p>
          <a:p>
            <a:r>
              <a:t>规模不再是唯一目标，效益和安全同样重要。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全年发电量 2,860 亿千瓦时</a:t>
            </a:r>
          </a:p>
          <a:p>
            <a:r>
              <a:t>· 新能源装机 4,150 万千瓦</a:t>
            </a:r>
          </a:p>
          <a:p>
            <a:r>
              <a:t>· 安全生产连续 3,650 天</a:t>
            </a:r>
          </a:p>
          <a:p>
            <a:r>
              <a:t>· 供电可靠率 99.97%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季度｜2025 年｜2026 年</a:t>
            </a:r>
          </a:p>
          <a:p>
            <a:r>
              <a:t>一季度｜640｜672</a:t>
            </a:r>
          </a:p>
          <a:p>
            <a:r>
              <a:t>二季度｜620｜668</a:t>
            </a:r>
          </a:p>
          <a:p>
            <a:r>
              <a:t>三季度｜760｜812</a:t>
            </a:r>
          </a:p>
          <a:p>
            <a:r>
              <a:t>四季度｜650｜708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3 月：青海 200 万千瓦光伏基地开工</a:t>
            </a:r>
          </a:p>
          <a:p>
            <a:r>
              <a:t>· 6 月：江苏海上风电二期并网</a:t>
            </a:r>
          </a:p>
          <a:p>
            <a:r>
              <a:t>· 9 月：内蒙古储能电站投运</a:t>
            </a:r>
          </a:p>
          <a:p>
            <a:r>
              <a:t>· 12 月：张北柔直工程全线贯通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消纳：西北地区弃风弃光率仍有 4.1%</a:t>
            </a:r>
          </a:p>
          <a:p>
            <a:r>
              <a:t>· 调节：储能配置比例偏低，仅为 8%</a:t>
            </a:r>
          </a:p>
          <a:p>
            <a:r>
              <a:t>· 数字化：场站数据孤岛，平均每站 5 套系统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稳存量：完成 30 台煤电机组灵活性改造</a:t>
            </a:r>
          </a:p>
          <a:p>
            <a:r>
              <a:t>2. 扩增量：新增新能源装机 800 万千瓦</a:t>
            </a:r>
          </a:p>
          <a:p>
            <a:r>
              <a:t>3. 补短板：新建储能 150 万千瓦</a:t>
            </a:r>
          </a:p>
          <a:p>
            <a:r>
              <a:t>4. 强数字：建成集团统一的新能源集控平台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“把每一度电都发得清洁、送得稳定、用得高效。”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nergy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6583679" cy="5143500"/>
          </a:xfrm>
          <a:prstGeom prst="rect">
            <a:avLst/>
          </a:prstGeom>
          <a:gradFill rotWithShape="1">
            <a:gsLst>
              <a:gs pos="0">
                <a:srgbClr val="081834">
                  <a:alpha val="92000"/>
                </a:srgbClr>
              </a:gs>
              <a:gs pos="70000">
                <a:srgbClr val="081834">
                  <a:alpha val="55000"/>
                </a:srgbClr>
              </a:gs>
              <a:gs pos="100000">
                <a:srgbClr val="081834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energy-logo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1463040" cy="4180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2697480"/>
            <a:ext cx="822960" cy="457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00200"/>
            <a:ext cx="5852160" cy="1005840"/>
          </a:xfrm>
        </p:spPr>
        <p:txBody>
          <a:bodyPr anchor="b"/>
          <a:lstStyle>
            <a:lvl1pPr algn="l">
              <a:defRPr sz="32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t>单击此处添加标题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880360"/>
            <a:ext cx="5486400" cy="731520"/>
          </a:xfrm>
        </p:spPr>
        <p:txBody>
          <a:bodyPr/>
          <a:lstStyle>
            <a:lvl1pPr algn="l" marL="0" indent="0">
              <a:buNone/>
              <a:defRPr sz="140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t>单击此处添加副标题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6949440" cy="475488"/>
          </a:xfrm>
        </p:spPr>
        <p:txBody>
          <a:bodyPr anchor="ctr"/>
          <a:lstStyle>
            <a:lvl1pPr algn="l">
              <a:defRPr/>
            </a:lvl1pPr>
          </a:lstStyle>
          <a:p>
            <a:r>
              <a:t>单击此处添加标题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68680"/>
            <a:ext cx="8229600" cy="3749039"/>
          </a:xfrm>
        </p:spPr>
        <p:txBody>
          <a:bodyPr/>
          <a:lstStyle>
            <a:lvl1pPr>
              <a:defRPr/>
            </a:lvl1pPr>
          </a:lstStyle>
          <a:p>
            <a:r>
              <a:t>单击此处编辑正文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章节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nut 1"/>
          <p:cNvSpPr/>
          <p:nvPr/>
        </p:nvSpPr>
        <p:spPr>
          <a:xfrm>
            <a:off x="5760720" y="548640"/>
            <a:ext cx="4206240" cy="4206240"/>
          </a:xfrm>
          <a:prstGeom prst="donut">
            <a:avLst>
              <a:gd name="adj" fmla="val 12000"/>
            </a:avLst>
          </a:prstGeom>
          <a:solidFill>
            <a:srgbClr val="FFF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energy-logo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74320"/>
            <a:ext cx="1143000" cy="32657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14400" y="2971800"/>
            <a:ext cx="640080" cy="457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148840"/>
            <a:ext cx="5943600" cy="777240"/>
          </a:xfrm>
        </p:spPr>
        <p:txBody>
          <a:bodyPr anchor="b"/>
          <a:lstStyle>
            <a:lvl1pPr algn="l">
              <a:defRPr sz="32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t>单击此处添加章节标题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051560"/>
            <a:ext cx="2743200" cy="1005840"/>
          </a:xfrm>
        </p:spPr>
        <p:txBody>
          <a:bodyPr anchor="b"/>
          <a:lstStyle>
            <a:lvl1pPr marL="0" indent="0">
              <a:buNone/>
              <a:defRPr sz="6000" b="1">
                <a:solidFill>
                  <a:schemeClr val="accent3"/>
                </a:solidFill>
                <a:latin typeface="+mj-lt"/>
                <a:ea typeface="+mj-ea"/>
              </a:defRPr>
            </a:lvl1pPr>
          </a:lstStyle>
          <a:p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6949440" cy="475488"/>
          </a:xfrm>
        </p:spPr>
        <p:txBody>
          <a:bodyPr anchor="ctr"/>
          <a:lstStyle>
            <a:lvl1pPr algn="l">
              <a:defRPr/>
            </a:lvl1pPr>
          </a:lstStyle>
          <a:p>
            <a:r>
              <a:t>单击此处添加标题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868680"/>
            <a:ext cx="3977639" cy="3749039"/>
          </a:xfrm>
        </p:spPr>
        <p:txBody>
          <a:bodyPr/>
          <a:lstStyle>
            <a:lvl1pPr>
              <a:defRPr/>
            </a:lvl1pPr>
          </a:lstStyle>
          <a:p>
            <a:r>
              <a:t>单击此处编辑正文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60" y="868680"/>
            <a:ext cx="3977639" cy="3749039"/>
          </a:xfrm>
        </p:spPr>
        <p:txBody>
          <a:bodyPr/>
          <a:lstStyle>
            <a:lvl1pPr>
              <a:defRPr/>
            </a:lvl1pPr>
          </a:lstStyle>
          <a:p>
            <a:r>
              <a:t>单击此处编辑正文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6949440" cy="475488"/>
          </a:xfrm>
        </p:spPr>
        <p:txBody>
          <a:bodyPr anchor="ctr"/>
          <a:lstStyle>
            <a:lvl1pPr algn="l">
              <a:defRPr/>
            </a:lvl1pPr>
          </a:lstStyle>
          <a:p>
            <a:r>
              <a:t>单击此处添加标题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6949440" cy="475488"/>
          </a:xfrm>
        </p:spPr>
        <p:txBody>
          <a:bodyPr anchor="ctr"/>
          <a:lstStyle>
            <a:lvl1pPr algn="l">
              <a:defRPr/>
            </a:lvl1pPr>
          </a:lstStyle>
          <a:p>
            <a:r>
              <a:t>单击此处添加标题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868680"/>
            <a:ext cx="3931920" cy="3749039"/>
          </a:xfrm>
        </p:spPr>
        <p:txBody>
          <a:bodyPr/>
          <a:lstStyle>
            <a:lvl1pPr>
              <a:defRPr/>
            </a:lvl1pPr>
          </a:lstStyle>
          <a:p>
            <a:r>
              <a:t>单击图标添加图片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63440" y="868680"/>
            <a:ext cx="4023360" cy="3749039"/>
          </a:xfrm>
        </p:spPr>
        <p:txBody>
          <a:bodyPr/>
          <a:lstStyle>
            <a:lvl1pPr>
              <a:defRPr sz="1400"/>
            </a:lvl1pPr>
          </a:lstStyle>
          <a:p>
            <a:r>
              <a:t>单击此处编辑正文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nergy-solar.jpg"/>
          <p:cNvPicPr>
            <a:picLocks noChangeAspect="1"/>
          </p:cNvPicPr>
          <p:nvPr/>
        </p:nvPicPr>
        <p:blipFill>
          <a:blip r:embed="rId2"/>
          <a:srcRect l="10000" r="10000"/>
          <a:stretch>
            <a:fillRect/>
          </a:stretch>
        </p:blipFill>
        <p:spPr>
          <a:xfrm>
            <a:off x="0" y="0"/>
            <a:ext cx="310896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08960" y="0"/>
            <a:ext cx="73152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3749039" y="502920"/>
            <a:ext cx="3657600" cy="640080"/>
          </a:xfrm>
        </p:spPr>
        <p:txBody>
          <a:bodyPr vert="horz"/>
          <a:lstStyle>
            <a:lvl1pPr algn="l">
              <a:defRPr sz="3000" b="1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9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nergy-wave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94960" y="3570732"/>
            <a:ext cx="3749039" cy="15677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658368"/>
            <a:ext cx="8229600" cy="182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640080"/>
            <a:ext cx="1005840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4773168"/>
            <a:ext cx="8229600" cy="9144"/>
          </a:xfrm>
          <a:prstGeom prst="rect">
            <a:avLst/>
          </a:prstGeom>
          <a:solidFill>
            <a:srgbClr val="C9D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energy-log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43800" y="182880"/>
            <a:ext cx="1143000" cy="3265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6949440" cy="4754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68680"/>
            <a:ext cx="8229600" cy="3749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4818888"/>
            <a:ext cx="3657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8160" y="4818888"/>
            <a:ext cx="54864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  <p:sldLayoutId id="2147483657" r:id="rId9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 b="1">
          <a:solidFill>
            <a:schemeClr val="tx2"/>
          </a:solidFill>
          <a:latin typeface="+mj-lt"/>
          <a:ea typeface="+mj-e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accent4"/>
          </a:solidFill>
          <a:latin typeface="+mn-lt"/>
          <a:ea typeface="+mn-ea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岳川能源 2026 年度工作汇报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集团办公室　|　2026 年 12 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spc="300">
                <a:solidFill>
                  <a:srgbClr val="F5C77E"/>
                </a:solidFill>
                <a:latin typeface="+mj-lt"/>
                <a:ea typeface="+mj-ea"/>
              </a:rPr>
              <a:t>ANNUAL WORK 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94760" y="98755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spc="200">
                <a:solidFill>
                  <a:schemeClr val="accent2"/>
                </a:solidFill>
                <a:latin typeface="+mj-lt"/>
                <a:ea typeface="+mj-ea"/>
              </a:rPr>
              <a:t>CONTENTS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794760" y="1417320"/>
            <a:ext cx="4526280" cy="484632"/>
            <a:chOff x="3794760" y="1417320"/>
            <a:chExt cx="4526280" cy="484632"/>
          </a:xfrm>
        </p:grpSpPr>
        <p:sp>
          <p:nvSpPr>
            <p:cNvPr id="4" name="Oval 3"/>
            <p:cNvSpPr/>
            <p:nvPr/>
          </p:nvSpPr>
          <p:spPr>
            <a:xfrm>
              <a:off x="3794760" y="1417320"/>
              <a:ext cx="420624" cy="4206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" name="TextBox 4"/>
            <p:cNvSpPr txBox="1"/>
            <p:nvPr/>
          </p:nvSpPr>
          <p:spPr>
            <a:xfrm>
              <a:off x="3794760" y="1417320"/>
              <a:ext cx="420624" cy="420624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chemeClr val="bg1"/>
                  </a:solidFill>
                  <a:latin typeface="+mn-lt"/>
                  <a:ea typeface="+mn-ea"/>
                </a:rPr>
                <a:t>01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389120" y="1417320"/>
              <a:ext cx="3840480" cy="42062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chemeClr val="tx2"/>
                  </a:solidFill>
                  <a:latin typeface="+mn-lt"/>
                  <a:ea typeface="+mn-ea"/>
                </a:rPr>
                <a:t>2026 年形势分析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389120" y="1892808"/>
              <a:ext cx="3931920" cy="9144"/>
            </a:xfrm>
            <a:prstGeom prst="rect">
              <a:avLst/>
            </a:prstGeom>
            <a:solidFill>
              <a:srgbClr val="D5DC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13" name="Group 12"/>
          <p:cNvGrpSpPr/>
          <p:nvPr/>
        </p:nvGrpSpPr>
        <p:grpSpPr>
          <a:xfrm>
            <a:off x="3794760" y="2075688"/>
            <a:ext cx="4526280" cy="484632"/>
            <a:chOff x="3794760" y="2075688"/>
            <a:chExt cx="4526280" cy="484632"/>
          </a:xfrm>
        </p:grpSpPr>
        <p:sp>
          <p:nvSpPr>
            <p:cNvPr id="9" name="Oval 8"/>
            <p:cNvSpPr/>
            <p:nvPr/>
          </p:nvSpPr>
          <p:spPr>
            <a:xfrm>
              <a:off x="3794760" y="2075688"/>
              <a:ext cx="420624" cy="4206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" name="TextBox 9"/>
            <p:cNvSpPr txBox="1"/>
            <p:nvPr/>
          </p:nvSpPr>
          <p:spPr>
            <a:xfrm>
              <a:off x="3794760" y="2075688"/>
              <a:ext cx="420624" cy="420624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chemeClr val="bg1"/>
                  </a:solidFill>
                  <a:latin typeface="+mn-lt"/>
                  <a:ea typeface="+mn-ea"/>
                </a:rPr>
                <a:t>02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89120" y="2075688"/>
              <a:ext cx="3840480" cy="42062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chemeClr val="tx2"/>
                  </a:solidFill>
                  <a:latin typeface="+mn-lt"/>
                  <a:ea typeface="+mn-ea"/>
                </a:rPr>
                <a:t>主要成效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389120" y="2551176"/>
              <a:ext cx="3931920" cy="9144"/>
            </a:xfrm>
            <a:prstGeom prst="rect">
              <a:avLst/>
            </a:prstGeom>
            <a:solidFill>
              <a:srgbClr val="D5DC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18" name="Group 17"/>
          <p:cNvGrpSpPr/>
          <p:nvPr/>
        </p:nvGrpSpPr>
        <p:grpSpPr>
          <a:xfrm>
            <a:off x="3794760" y="2734056"/>
            <a:ext cx="4526280" cy="484632"/>
            <a:chOff x="3794760" y="2734056"/>
            <a:chExt cx="4526280" cy="484632"/>
          </a:xfrm>
        </p:grpSpPr>
        <p:sp>
          <p:nvSpPr>
            <p:cNvPr id="14" name="Oval 13"/>
            <p:cNvSpPr/>
            <p:nvPr/>
          </p:nvSpPr>
          <p:spPr>
            <a:xfrm>
              <a:off x="3794760" y="2734056"/>
              <a:ext cx="420624" cy="4206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5" name="TextBox 14"/>
            <p:cNvSpPr txBox="1"/>
            <p:nvPr/>
          </p:nvSpPr>
          <p:spPr>
            <a:xfrm>
              <a:off x="3794760" y="2734056"/>
              <a:ext cx="420624" cy="420624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chemeClr val="bg1"/>
                  </a:solidFill>
                  <a:latin typeface="+mn-lt"/>
                  <a:ea typeface="+mn-ea"/>
                </a:rPr>
                <a:t>03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389120" y="2734056"/>
              <a:ext cx="3840480" cy="42062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chemeClr val="tx2"/>
                  </a:solidFill>
                  <a:latin typeface="+mn-lt"/>
                  <a:ea typeface="+mn-ea"/>
                </a:rPr>
                <a:t>存在问题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389120" y="3209544"/>
              <a:ext cx="3931920" cy="9144"/>
            </a:xfrm>
            <a:prstGeom prst="rect">
              <a:avLst/>
            </a:prstGeom>
            <a:solidFill>
              <a:srgbClr val="D5DC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23" name="Group 22"/>
          <p:cNvGrpSpPr/>
          <p:nvPr/>
        </p:nvGrpSpPr>
        <p:grpSpPr>
          <a:xfrm>
            <a:off x="3794760" y="3392424"/>
            <a:ext cx="4526280" cy="484632"/>
            <a:chOff x="3794760" y="3392424"/>
            <a:chExt cx="4526280" cy="484632"/>
          </a:xfrm>
        </p:grpSpPr>
        <p:sp>
          <p:nvSpPr>
            <p:cNvPr id="19" name="Oval 18"/>
            <p:cNvSpPr/>
            <p:nvPr/>
          </p:nvSpPr>
          <p:spPr>
            <a:xfrm>
              <a:off x="3794760" y="3392424"/>
              <a:ext cx="420624" cy="4206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0" name="TextBox 19"/>
            <p:cNvSpPr txBox="1"/>
            <p:nvPr/>
          </p:nvSpPr>
          <p:spPr>
            <a:xfrm>
              <a:off x="3794760" y="3392424"/>
              <a:ext cx="420624" cy="420624"/>
            </a:xfrm>
            <a:prstGeom prst="rect">
              <a:avLst/>
            </a:prstGeom>
            <a:noFill/>
          </p:spPr>
          <p:txBody>
            <a:bodyPr wrap="square" anchor="ctr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chemeClr val="bg1"/>
                  </a:solidFill>
                  <a:latin typeface="+mn-lt"/>
                  <a:ea typeface="+mn-ea"/>
                </a:rPr>
                <a:t>04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389120" y="3392424"/>
              <a:ext cx="3840480" cy="42062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chemeClr val="tx2"/>
                  </a:solidFill>
                  <a:latin typeface="+mn-lt"/>
                  <a:ea typeface="+mn-ea"/>
                </a:rPr>
                <a:t>2027 年工作计划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389120" y="3867912"/>
              <a:ext cx="3931920" cy="9144"/>
            </a:xfrm>
            <a:prstGeom prst="rect">
              <a:avLst/>
            </a:prstGeom>
            <a:solidFill>
              <a:srgbClr val="D5DCE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年形势分析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28016"/>
            <a:ext cx="6035040" cy="475488"/>
          </a:xfrm>
        </p:spPr>
        <p:txBody>
          <a:bodyPr/>
          <a:lstStyle/>
          <a:p>
            <a:r>
              <a:t>外部环境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51560" cy="3931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14400"/>
            <a:ext cx="105156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导航 1"/>
          <p:cNvSpPr txBox="1"/>
          <p:nvPr/>
        </p:nvSpPr>
        <p:spPr>
          <a:xfrm>
            <a:off x="73152" y="914400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+mn-lt"/>
                <a:ea typeface="+mn-ea"/>
              </a:rPr>
              <a:t>形势分析</a:t>
            </a:r>
          </a:p>
        </p:txBody>
      </p:sp>
      <p:sp>
        <p:nvSpPr>
          <p:cNvPr id="6" name="导航 2"/>
          <p:cNvSpPr txBox="1"/>
          <p:nvPr/>
        </p:nvSpPr>
        <p:spPr>
          <a:xfrm>
            <a:off x="73152" y="1481328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主要成效</a:t>
            </a:r>
          </a:p>
        </p:txBody>
      </p:sp>
      <p:sp>
        <p:nvSpPr>
          <p:cNvPr id="7" name="导航 3"/>
          <p:cNvSpPr txBox="1"/>
          <p:nvPr/>
        </p:nvSpPr>
        <p:spPr>
          <a:xfrm>
            <a:off x="73152" y="2048256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存在问题</a:t>
            </a:r>
          </a:p>
        </p:txBody>
      </p:sp>
      <p:sp>
        <p:nvSpPr>
          <p:cNvPr id="8" name="导航 4"/>
          <p:cNvSpPr txBox="1"/>
          <p:nvPr/>
        </p:nvSpPr>
        <p:spPr>
          <a:xfrm>
            <a:off x="73152" y="261518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工作计划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5</a:t>
            </a:fld>
          </a:p>
        </p:txBody>
      </p:sp>
      <p:sp>
        <p:nvSpPr>
          <p:cNvPr id="11" name="xm Rectangle 10"/>
          <p:cNvSpPr/>
          <p:nvPr/>
        </p:nvSpPr>
        <p:spPr>
          <a:xfrm>
            <a:off x="1234440" y="1077248"/>
            <a:ext cx="2072640" cy="2161472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xm Rectangle 11"/>
          <p:cNvSpPr/>
          <p:nvPr/>
        </p:nvSpPr>
        <p:spPr>
          <a:xfrm>
            <a:off x="1234440" y="1077248"/>
            <a:ext cx="2072640" cy="6400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xm TextBox 12"/>
          <p:cNvSpPr txBox="1"/>
          <p:nvPr/>
        </p:nvSpPr>
        <p:spPr>
          <a:xfrm>
            <a:off x="1522658" y="1365466"/>
            <a:ext cx="1097280" cy="48036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4" name="xm TextBox 13"/>
          <p:cNvSpPr txBox="1"/>
          <p:nvPr/>
        </p:nvSpPr>
        <p:spPr>
          <a:xfrm>
            <a:off x="1522658" y="1845829"/>
            <a:ext cx="1496204" cy="3430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用电需求</a:t>
            </a:r>
          </a:p>
        </p:txBody>
      </p:sp>
      <p:sp>
        <p:nvSpPr>
          <p:cNvPr id="15" name="xm TextBox 14"/>
          <p:cNvSpPr txBox="1"/>
          <p:nvPr/>
        </p:nvSpPr>
        <p:spPr>
          <a:xfrm>
            <a:off x="1522658" y="2298639"/>
            <a:ext cx="1496204" cy="7383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34343"/>
                </a:solidFill>
                <a:latin typeface="微软雅黑"/>
                <a:ea typeface="微软雅黑"/>
                <a:cs typeface="微软雅黑"/>
              </a:rPr>
              <a:t>全社会用电量同比增长 6.8%</a:t>
            </a:r>
          </a:p>
        </p:txBody>
      </p:sp>
      <p:sp>
        <p:nvSpPr>
          <p:cNvPr id="16" name="xm Rectangle 15"/>
          <p:cNvSpPr/>
          <p:nvPr/>
        </p:nvSpPr>
        <p:spPr>
          <a:xfrm>
            <a:off x="3581400" y="1077248"/>
            <a:ext cx="2072640" cy="2161472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xm Rectangle 16"/>
          <p:cNvSpPr/>
          <p:nvPr/>
        </p:nvSpPr>
        <p:spPr>
          <a:xfrm>
            <a:off x="3581400" y="1077248"/>
            <a:ext cx="2072640" cy="6400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xm TextBox 17"/>
          <p:cNvSpPr txBox="1"/>
          <p:nvPr/>
        </p:nvSpPr>
        <p:spPr>
          <a:xfrm>
            <a:off x="3869618" y="1365466"/>
            <a:ext cx="1097280" cy="48036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xm TextBox 18"/>
          <p:cNvSpPr txBox="1"/>
          <p:nvPr/>
        </p:nvSpPr>
        <p:spPr>
          <a:xfrm>
            <a:off x="3869618" y="1845829"/>
            <a:ext cx="1496204" cy="3430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新能源</a:t>
            </a:r>
          </a:p>
        </p:txBody>
      </p:sp>
      <p:sp>
        <p:nvSpPr>
          <p:cNvPr id="20" name="xm TextBox 19"/>
          <p:cNvSpPr txBox="1"/>
          <p:nvPr/>
        </p:nvSpPr>
        <p:spPr>
          <a:xfrm>
            <a:off x="3869618" y="2298639"/>
            <a:ext cx="1496204" cy="7383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34343"/>
                </a:solidFill>
                <a:latin typeface="微软雅黑"/>
                <a:ea typeface="微软雅黑"/>
                <a:cs typeface="微软雅黑"/>
              </a:rPr>
              <a:t>风光装机首次超过煤电</a:t>
            </a:r>
          </a:p>
        </p:txBody>
      </p:sp>
      <p:sp>
        <p:nvSpPr>
          <p:cNvPr id="21" name="xm Rectangle 20"/>
          <p:cNvSpPr/>
          <p:nvPr/>
        </p:nvSpPr>
        <p:spPr>
          <a:xfrm>
            <a:off x="5928360" y="1077248"/>
            <a:ext cx="2072640" cy="2161472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xm Rectangle 21"/>
          <p:cNvSpPr/>
          <p:nvPr/>
        </p:nvSpPr>
        <p:spPr>
          <a:xfrm>
            <a:off x="5928360" y="1077248"/>
            <a:ext cx="2072640" cy="6400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xm TextBox 22"/>
          <p:cNvSpPr txBox="1"/>
          <p:nvPr/>
        </p:nvSpPr>
        <p:spPr>
          <a:xfrm>
            <a:off x="6216578" y="1365466"/>
            <a:ext cx="1097280" cy="48036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xm TextBox 23"/>
          <p:cNvSpPr txBox="1"/>
          <p:nvPr/>
        </p:nvSpPr>
        <p:spPr>
          <a:xfrm>
            <a:off x="6216578" y="1845829"/>
            <a:ext cx="1496204" cy="34308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电价</a:t>
            </a:r>
          </a:p>
        </p:txBody>
      </p:sp>
      <p:sp>
        <p:nvSpPr>
          <p:cNvPr id="25" name="xm TextBox 24"/>
          <p:cNvSpPr txBox="1"/>
          <p:nvPr/>
        </p:nvSpPr>
        <p:spPr>
          <a:xfrm>
            <a:off x="6216578" y="2298639"/>
            <a:ext cx="1496204" cy="73832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34343"/>
                </a:solidFill>
                <a:latin typeface="微软雅黑"/>
                <a:ea typeface="微软雅黑"/>
                <a:cs typeface="微软雅黑"/>
              </a:rPr>
              <a:t>市场化交易电量占比升至 61%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28016"/>
            <a:ext cx="6035040" cy="475488"/>
          </a:xfrm>
        </p:spPr>
        <p:txBody>
          <a:bodyPr/>
          <a:lstStyle/>
          <a:p>
            <a:r>
              <a:t>我们面临的考验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51560" cy="3931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914400"/>
            <a:ext cx="105156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导航 1"/>
          <p:cNvSpPr txBox="1"/>
          <p:nvPr/>
        </p:nvSpPr>
        <p:spPr>
          <a:xfrm>
            <a:off x="73152" y="914400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+mn-lt"/>
                <a:ea typeface="+mn-ea"/>
              </a:rPr>
              <a:t>形势分析</a:t>
            </a:r>
          </a:p>
        </p:txBody>
      </p:sp>
      <p:sp>
        <p:nvSpPr>
          <p:cNvPr id="6" name="导航 2"/>
          <p:cNvSpPr txBox="1"/>
          <p:nvPr/>
        </p:nvSpPr>
        <p:spPr>
          <a:xfrm>
            <a:off x="73152" y="1481328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主要成效</a:t>
            </a:r>
          </a:p>
        </p:txBody>
      </p:sp>
      <p:sp>
        <p:nvSpPr>
          <p:cNvPr id="7" name="导航 3"/>
          <p:cNvSpPr txBox="1"/>
          <p:nvPr/>
        </p:nvSpPr>
        <p:spPr>
          <a:xfrm>
            <a:off x="73152" y="2048256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存在问题</a:t>
            </a:r>
          </a:p>
        </p:txBody>
      </p:sp>
      <p:sp>
        <p:nvSpPr>
          <p:cNvPr id="8" name="导航 4"/>
          <p:cNvSpPr txBox="1"/>
          <p:nvPr/>
        </p:nvSpPr>
        <p:spPr>
          <a:xfrm>
            <a:off x="73152" y="261518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工作计划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5</a:t>
            </a:fld>
          </a:p>
        </p:txBody>
      </p:sp>
      <p:sp>
        <p:nvSpPr>
          <p:cNvPr id="11" name="xm TextBox 10"/>
          <p:cNvSpPr txBox="1"/>
          <p:nvPr/>
        </p:nvSpPr>
        <p:spPr>
          <a:xfrm>
            <a:off x="1234440" y="832104"/>
            <a:ext cx="6766560" cy="14020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规模不再是唯一目标，效益和安全同样重要。</a:t>
            </a:r>
          </a:p>
        </p:txBody>
      </p:sp>
      <p:cxnSp>
        <p:nvCxnSpPr>
          <p:cNvPr id="12" name="xm Connector 11"/>
          <p:cNvCxnSpPr/>
          <p:nvPr/>
        </p:nvCxnSpPr>
        <p:spPr>
          <a:xfrm>
            <a:off x="1234440" y="2462784"/>
            <a:ext cx="731520" cy="0"/>
          </a:xfrm>
          <a:prstGeom prst="line">
            <a:avLst/>
          </a:prstGeom>
          <a:ln w="3810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xm TextBox 12"/>
          <p:cNvSpPr txBox="1"/>
          <p:nvPr/>
        </p:nvSpPr>
        <p:spPr>
          <a:xfrm>
            <a:off x="1234440" y="2691384"/>
            <a:ext cx="6766560" cy="792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818181"/>
                </a:solidFill>
                <a:latin typeface="微软雅黑"/>
                <a:ea typeface="微软雅黑"/>
                <a:cs typeface="微软雅黑"/>
              </a:rPr>
              <a:t>新能源占比快速提高，系统调节能力跟不上；电价市场化以后，发电收益的波动明显变大。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主要成效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28016"/>
            <a:ext cx="6035040" cy="475488"/>
          </a:xfrm>
        </p:spPr>
        <p:txBody>
          <a:bodyPr/>
          <a:lstStyle/>
          <a:p>
            <a:r>
              <a:t>核心指标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51560" cy="3931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1481328"/>
            <a:ext cx="105156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导航 1"/>
          <p:cNvSpPr txBox="1"/>
          <p:nvPr/>
        </p:nvSpPr>
        <p:spPr>
          <a:xfrm>
            <a:off x="73152" y="914400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形势分析</a:t>
            </a:r>
          </a:p>
        </p:txBody>
      </p:sp>
      <p:sp>
        <p:nvSpPr>
          <p:cNvPr id="6" name="导航 2"/>
          <p:cNvSpPr txBox="1"/>
          <p:nvPr/>
        </p:nvSpPr>
        <p:spPr>
          <a:xfrm>
            <a:off x="73152" y="1481328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+mn-lt"/>
                <a:ea typeface="+mn-ea"/>
              </a:rPr>
              <a:t>主要成效</a:t>
            </a:r>
          </a:p>
        </p:txBody>
      </p:sp>
      <p:sp>
        <p:nvSpPr>
          <p:cNvPr id="7" name="导航 3"/>
          <p:cNvSpPr txBox="1"/>
          <p:nvPr/>
        </p:nvSpPr>
        <p:spPr>
          <a:xfrm>
            <a:off x="73152" y="2048256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存在问题</a:t>
            </a:r>
          </a:p>
        </p:txBody>
      </p:sp>
      <p:sp>
        <p:nvSpPr>
          <p:cNvPr id="8" name="导航 4"/>
          <p:cNvSpPr txBox="1"/>
          <p:nvPr/>
        </p:nvSpPr>
        <p:spPr>
          <a:xfrm>
            <a:off x="73152" y="261518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工作计划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5</a:t>
            </a:fld>
          </a:p>
        </p:txBody>
      </p:sp>
      <p:sp>
        <p:nvSpPr>
          <p:cNvPr id="11" name="xm TextBox 10"/>
          <p:cNvSpPr txBox="1"/>
          <p:nvPr/>
        </p:nvSpPr>
        <p:spPr>
          <a:xfrm>
            <a:off x="1234440" y="3227832"/>
            <a:ext cx="6766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18181"/>
                </a:solidFill>
                <a:latin typeface="微软雅黑"/>
                <a:ea typeface="微软雅黑"/>
                <a:cs typeface="微软雅黑"/>
              </a:rPr>
              <a:t>示例数据</a:t>
            </a:r>
          </a:p>
        </p:txBody>
      </p:sp>
      <p:sp>
        <p:nvSpPr>
          <p:cNvPr id="12" name="xm TextBox 11"/>
          <p:cNvSpPr txBox="1"/>
          <p:nvPr/>
        </p:nvSpPr>
        <p:spPr>
          <a:xfrm>
            <a:off x="1234440" y="840359"/>
            <a:ext cx="3246120" cy="3492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2,860</a:t>
            </a:r>
            <a:r>
              <a:rPr sz="11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 亿千瓦时</a:t>
            </a:r>
          </a:p>
        </p:txBody>
      </p:sp>
      <p:cxnSp>
        <p:nvCxnSpPr>
          <p:cNvPr id="13" name="xm Connector 12"/>
          <p:cNvCxnSpPr/>
          <p:nvPr/>
        </p:nvCxnSpPr>
        <p:spPr>
          <a:xfrm>
            <a:off x="1234440" y="1326769"/>
            <a:ext cx="640080" cy="0"/>
          </a:xfrm>
          <a:prstGeom prst="line">
            <a:avLst/>
          </a:prstGeom>
          <a:ln w="3810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xm TextBox 13"/>
          <p:cNvSpPr txBox="1"/>
          <p:nvPr/>
        </p:nvSpPr>
        <p:spPr>
          <a:xfrm>
            <a:off x="1234440" y="150964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全年发电量</a:t>
            </a:r>
          </a:p>
        </p:txBody>
      </p:sp>
      <p:sp>
        <p:nvSpPr>
          <p:cNvPr id="15" name="xm TextBox 14"/>
          <p:cNvSpPr txBox="1"/>
          <p:nvPr/>
        </p:nvSpPr>
        <p:spPr>
          <a:xfrm>
            <a:off x="4892040" y="840359"/>
            <a:ext cx="2971800" cy="3492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4,150</a:t>
            </a:r>
            <a:r>
              <a:rPr sz="11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 万千瓦</a:t>
            </a:r>
          </a:p>
        </p:txBody>
      </p:sp>
      <p:cxnSp>
        <p:nvCxnSpPr>
          <p:cNvPr id="16" name="xm Connector 15"/>
          <p:cNvCxnSpPr/>
          <p:nvPr/>
        </p:nvCxnSpPr>
        <p:spPr>
          <a:xfrm>
            <a:off x="4892040" y="1326769"/>
            <a:ext cx="640080" cy="0"/>
          </a:xfrm>
          <a:prstGeom prst="line">
            <a:avLst/>
          </a:prstGeom>
          <a:ln w="3810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xm TextBox 16"/>
          <p:cNvSpPr txBox="1"/>
          <p:nvPr/>
        </p:nvSpPr>
        <p:spPr>
          <a:xfrm>
            <a:off x="4892040" y="1509649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新能源装机</a:t>
            </a:r>
          </a:p>
        </p:txBody>
      </p:sp>
      <p:cxnSp>
        <p:nvCxnSpPr>
          <p:cNvPr id="18" name="xm Connector 17"/>
          <p:cNvCxnSpPr/>
          <p:nvPr/>
        </p:nvCxnSpPr>
        <p:spPr>
          <a:xfrm>
            <a:off x="4617720" y="977519"/>
            <a:ext cx="0" cy="98933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xm TextBox 18"/>
          <p:cNvSpPr txBox="1"/>
          <p:nvPr/>
        </p:nvSpPr>
        <p:spPr>
          <a:xfrm>
            <a:off x="1234440" y="1983359"/>
            <a:ext cx="3246120" cy="3492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3,650</a:t>
            </a:r>
            <a:r>
              <a:rPr sz="11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 天</a:t>
            </a:r>
          </a:p>
        </p:txBody>
      </p:sp>
      <p:cxnSp>
        <p:nvCxnSpPr>
          <p:cNvPr id="20" name="xm Connector 19"/>
          <p:cNvCxnSpPr/>
          <p:nvPr/>
        </p:nvCxnSpPr>
        <p:spPr>
          <a:xfrm>
            <a:off x="1234440" y="2469769"/>
            <a:ext cx="640080" cy="0"/>
          </a:xfrm>
          <a:prstGeom prst="line">
            <a:avLst/>
          </a:prstGeom>
          <a:ln w="3810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xm TextBox 20"/>
          <p:cNvSpPr txBox="1"/>
          <p:nvPr/>
        </p:nvSpPr>
        <p:spPr>
          <a:xfrm>
            <a:off x="1234440" y="265264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安全生产连续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4892040" y="1983359"/>
            <a:ext cx="2971800" cy="3492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99.97</a:t>
            </a:r>
            <a:r>
              <a:rPr sz="11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 %</a:t>
            </a:r>
          </a:p>
        </p:txBody>
      </p:sp>
      <p:cxnSp>
        <p:nvCxnSpPr>
          <p:cNvPr id="23" name="xm Connector 22"/>
          <p:cNvCxnSpPr/>
          <p:nvPr/>
        </p:nvCxnSpPr>
        <p:spPr>
          <a:xfrm>
            <a:off x="4892040" y="2469769"/>
            <a:ext cx="640080" cy="0"/>
          </a:xfrm>
          <a:prstGeom prst="line">
            <a:avLst/>
          </a:prstGeom>
          <a:ln w="38100">
            <a:solidFill>
              <a:srgbClr val="0B5C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xm TextBox 23"/>
          <p:cNvSpPr txBox="1"/>
          <p:nvPr/>
        </p:nvSpPr>
        <p:spPr>
          <a:xfrm>
            <a:off x="4892040" y="2652649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供电可靠率</a:t>
            </a:r>
          </a:p>
        </p:txBody>
      </p:sp>
      <p:cxnSp>
        <p:nvCxnSpPr>
          <p:cNvPr id="25" name="xm Connector 24"/>
          <p:cNvCxnSpPr/>
          <p:nvPr/>
        </p:nvCxnSpPr>
        <p:spPr>
          <a:xfrm>
            <a:off x="4617720" y="2120519"/>
            <a:ext cx="0" cy="989330"/>
          </a:xfrm>
          <a:prstGeom prst="line">
            <a:avLst/>
          </a:prstGeom>
          <a:ln w="9525">
            <a:solidFill>
              <a:srgbClr val="E1E1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28016"/>
            <a:ext cx="6035040" cy="475488"/>
          </a:xfrm>
        </p:spPr>
        <p:txBody>
          <a:bodyPr/>
          <a:lstStyle/>
          <a:p>
            <a:r>
              <a:t>季度发电量（亿千瓦时）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51560" cy="3931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1481328"/>
            <a:ext cx="105156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导航 1"/>
          <p:cNvSpPr txBox="1"/>
          <p:nvPr/>
        </p:nvSpPr>
        <p:spPr>
          <a:xfrm>
            <a:off x="73152" y="914400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形势分析</a:t>
            </a:r>
          </a:p>
        </p:txBody>
      </p:sp>
      <p:sp>
        <p:nvSpPr>
          <p:cNvPr id="6" name="导航 2"/>
          <p:cNvSpPr txBox="1"/>
          <p:nvPr/>
        </p:nvSpPr>
        <p:spPr>
          <a:xfrm>
            <a:off x="73152" y="1481328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+mn-lt"/>
                <a:ea typeface="+mn-ea"/>
              </a:rPr>
              <a:t>主要成效</a:t>
            </a:r>
          </a:p>
        </p:txBody>
      </p:sp>
      <p:sp>
        <p:nvSpPr>
          <p:cNvPr id="7" name="导航 3"/>
          <p:cNvSpPr txBox="1"/>
          <p:nvPr/>
        </p:nvSpPr>
        <p:spPr>
          <a:xfrm>
            <a:off x="73152" y="2048256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存在问题</a:t>
            </a:r>
          </a:p>
        </p:txBody>
      </p:sp>
      <p:sp>
        <p:nvSpPr>
          <p:cNvPr id="8" name="导航 4"/>
          <p:cNvSpPr txBox="1"/>
          <p:nvPr/>
        </p:nvSpPr>
        <p:spPr>
          <a:xfrm>
            <a:off x="73152" y="261518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工作计划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5</a:t>
            </a:fld>
          </a:p>
        </p:txBody>
      </p:sp>
      <p:sp>
        <p:nvSpPr>
          <p:cNvPr id="11" name="xm TextBox 10"/>
          <p:cNvSpPr txBox="1"/>
          <p:nvPr/>
        </p:nvSpPr>
        <p:spPr>
          <a:xfrm>
            <a:off x="1234440" y="3227832"/>
            <a:ext cx="6766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18181"/>
                </a:solidFill>
                <a:latin typeface="微软雅黑"/>
                <a:ea typeface="微软雅黑"/>
                <a:cs typeface="微软雅黑"/>
              </a:rPr>
              <a:t>示例数据 · 单位：亿千瓦时</a:t>
            </a:r>
          </a:p>
        </p:txBody>
      </p:sp>
      <p:graphicFrame>
        <p:nvGraphicFramePr>
          <p:cNvPr id="12" name="xm Chart 11"/>
          <p:cNvGraphicFramePr>
            <a:graphicFrameLocks noGrp="1"/>
          </p:cNvGraphicFramePr>
          <p:nvPr/>
        </p:nvGraphicFramePr>
        <p:xfrm>
          <a:off x="1234440" y="832104"/>
          <a:ext cx="676656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28016"/>
            <a:ext cx="6035040" cy="475488"/>
          </a:xfrm>
        </p:spPr>
        <p:txBody>
          <a:bodyPr/>
          <a:lstStyle/>
          <a:p>
            <a:r>
              <a:t>新能源重点项目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51560" cy="3931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1481328"/>
            <a:ext cx="105156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导航 1"/>
          <p:cNvSpPr txBox="1"/>
          <p:nvPr/>
        </p:nvSpPr>
        <p:spPr>
          <a:xfrm>
            <a:off x="73152" y="914400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形势分析</a:t>
            </a:r>
          </a:p>
        </p:txBody>
      </p:sp>
      <p:sp>
        <p:nvSpPr>
          <p:cNvPr id="6" name="导航 2"/>
          <p:cNvSpPr txBox="1"/>
          <p:nvPr/>
        </p:nvSpPr>
        <p:spPr>
          <a:xfrm>
            <a:off x="73152" y="1481328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+mn-lt"/>
                <a:ea typeface="+mn-ea"/>
              </a:rPr>
              <a:t>主要成效</a:t>
            </a:r>
          </a:p>
        </p:txBody>
      </p:sp>
      <p:sp>
        <p:nvSpPr>
          <p:cNvPr id="7" name="导航 3"/>
          <p:cNvSpPr txBox="1"/>
          <p:nvPr/>
        </p:nvSpPr>
        <p:spPr>
          <a:xfrm>
            <a:off x="73152" y="2048256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存在问题</a:t>
            </a:r>
          </a:p>
        </p:txBody>
      </p:sp>
      <p:sp>
        <p:nvSpPr>
          <p:cNvPr id="8" name="导航 4"/>
          <p:cNvSpPr txBox="1"/>
          <p:nvPr/>
        </p:nvSpPr>
        <p:spPr>
          <a:xfrm>
            <a:off x="73152" y="261518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工作计划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5</a:t>
            </a:fld>
          </a:p>
        </p:txBody>
      </p:sp>
      <p:cxnSp>
        <p:nvCxnSpPr>
          <p:cNvPr id="11" name="xm Connector 10"/>
          <p:cNvCxnSpPr/>
          <p:nvPr/>
        </p:nvCxnSpPr>
        <p:spPr>
          <a:xfrm>
            <a:off x="1234440" y="1948343"/>
            <a:ext cx="6766560" cy="0"/>
          </a:xfrm>
          <a:prstGeom prst="line">
            <a:avLst/>
          </a:prstGeom>
          <a:ln w="38100">
            <a:solidFill>
              <a:srgbClr val="9DB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xm Oval 11"/>
          <p:cNvSpPr/>
          <p:nvPr/>
        </p:nvSpPr>
        <p:spPr>
          <a:xfrm>
            <a:off x="1234440" y="1811183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xm TextBox 12"/>
          <p:cNvSpPr txBox="1"/>
          <p:nvPr/>
        </p:nvSpPr>
        <p:spPr>
          <a:xfrm>
            <a:off x="1234440" y="1086368"/>
            <a:ext cx="1508760" cy="724814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3 月</a:t>
            </a:r>
          </a:p>
        </p:txBody>
      </p:sp>
      <p:sp>
        <p:nvSpPr>
          <p:cNvPr id="14" name="xm TextBox 13"/>
          <p:cNvSpPr txBox="1"/>
          <p:nvPr/>
        </p:nvSpPr>
        <p:spPr>
          <a:xfrm>
            <a:off x="1234440" y="2314103"/>
            <a:ext cx="1417320" cy="9154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青海 200 万千瓦光伏基地开工</a:t>
            </a:r>
          </a:p>
        </p:txBody>
      </p:sp>
      <p:sp>
        <p:nvSpPr>
          <p:cNvPr id="15" name="xm Oval 14"/>
          <p:cNvSpPr/>
          <p:nvPr/>
        </p:nvSpPr>
        <p:spPr>
          <a:xfrm>
            <a:off x="2926080" y="1811183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xm TextBox 15"/>
          <p:cNvSpPr txBox="1"/>
          <p:nvPr/>
        </p:nvSpPr>
        <p:spPr>
          <a:xfrm>
            <a:off x="2926080" y="1086368"/>
            <a:ext cx="1508760" cy="724814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6 月</a:t>
            </a:r>
          </a:p>
        </p:txBody>
      </p:sp>
      <p:sp>
        <p:nvSpPr>
          <p:cNvPr id="17" name="xm TextBox 16"/>
          <p:cNvSpPr txBox="1"/>
          <p:nvPr/>
        </p:nvSpPr>
        <p:spPr>
          <a:xfrm>
            <a:off x="2926080" y="2314103"/>
            <a:ext cx="1417320" cy="9154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江苏海上风电二期并网</a:t>
            </a:r>
          </a:p>
        </p:txBody>
      </p:sp>
      <p:sp>
        <p:nvSpPr>
          <p:cNvPr id="18" name="xm Oval 17"/>
          <p:cNvSpPr/>
          <p:nvPr/>
        </p:nvSpPr>
        <p:spPr>
          <a:xfrm>
            <a:off x="4617720" y="1811183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xm TextBox 18"/>
          <p:cNvSpPr txBox="1"/>
          <p:nvPr/>
        </p:nvSpPr>
        <p:spPr>
          <a:xfrm>
            <a:off x="4617720" y="1086368"/>
            <a:ext cx="1508760" cy="724814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9 月</a:t>
            </a:r>
          </a:p>
        </p:txBody>
      </p:sp>
      <p:sp>
        <p:nvSpPr>
          <p:cNvPr id="20" name="xm TextBox 19"/>
          <p:cNvSpPr txBox="1"/>
          <p:nvPr/>
        </p:nvSpPr>
        <p:spPr>
          <a:xfrm>
            <a:off x="4617720" y="2314103"/>
            <a:ext cx="1417320" cy="9154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内蒙古储能电站投运</a:t>
            </a:r>
          </a:p>
        </p:txBody>
      </p:sp>
      <p:sp>
        <p:nvSpPr>
          <p:cNvPr id="21" name="xm Oval 20"/>
          <p:cNvSpPr/>
          <p:nvPr/>
        </p:nvSpPr>
        <p:spPr>
          <a:xfrm>
            <a:off x="6309360" y="1811183"/>
            <a:ext cx="274320" cy="274320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xm TextBox 21"/>
          <p:cNvSpPr txBox="1"/>
          <p:nvPr/>
        </p:nvSpPr>
        <p:spPr>
          <a:xfrm>
            <a:off x="6309360" y="1086368"/>
            <a:ext cx="1508760" cy="724814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12 月</a:t>
            </a:r>
          </a:p>
        </p:txBody>
      </p:sp>
      <p:sp>
        <p:nvSpPr>
          <p:cNvPr id="23" name="xm TextBox 22"/>
          <p:cNvSpPr txBox="1"/>
          <p:nvPr/>
        </p:nvSpPr>
        <p:spPr>
          <a:xfrm>
            <a:off x="6309360" y="2314103"/>
            <a:ext cx="1417320" cy="9154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张北柔直工程全线贯通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存在问题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28016"/>
            <a:ext cx="6035040" cy="475488"/>
          </a:xfrm>
        </p:spPr>
        <p:txBody>
          <a:bodyPr/>
          <a:lstStyle/>
          <a:p>
            <a:r>
              <a:t>从「建得快」到「用得好」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51560" cy="3931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2048256"/>
            <a:ext cx="105156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导航 1"/>
          <p:cNvSpPr txBox="1"/>
          <p:nvPr/>
        </p:nvSpPr>
        <p:spPr>
          <a:xfrm>
            <a:off x="73152" y="914400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形势分析</a:t>
            </a:r>
          </a:p>
        </p:txBody>
      </p:sp>
      <p:sp>
        <p:nvSpPr>
          <p:cNvPr id="6" name="导航 2"/>
          <p:cNvSpPr txBox="1"/>
          <p:nvPr/>
        </p:nvSpPr>
        <p:spPr>
          <a:xfrm>
            <a:off x="73152" y="1481328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主要成效</a:t>
            </a:r>
          </a:p>
        </p:txBody>
      </p:sp>
      <p:sp>
        <p:nvSpPr>
          <p:cNvPr id="7" name="导航 3"/>
          <p:cNvSpPr txBox="1"/>
          <p:nvPr/>
        </p:nvSpPr>
        <p:spPr>
          <a:xfrm>
            <a:off x="73152" y="2048256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+mn-lt"/>
                <a:ea typeface="+mn-ea"/>
              </a:rPr>
              <a:t>存在问题</a:t>
            </a:r>
          </a:p>
        </p:txBody>
      </p:sp>
      <p:sp>
        <p:nvSpPr>
          <p:cNvPr id="8" name="导航 4"/>
          <p:cNvSpPr txBox="1"/>
          <p:nvPr/>
        </p:nvSpPr>
        <p:spPr>
          <a:xfrm>
            <a:off x="73152" y="261518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工作计划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5</a:t>
            </a:fld>
          </a:p>
        </p:txBody>
      </p:sp>
      <p:sp>
        <p:nvSpPr>
          <p:cNvPr id="11" name="xm Rectangle 10"/>
          <p:cNvSpPr/>
          <p:nvPr/>
        </p:nvSpPr>
        <p:spPr>
          <a:xfrm>
            <a:off x="1234440" y="842620"/>
            <a:ext cx="2971800" cy="2630729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xm Rectangle 11"/>
          <p:cNvSpPr/>
          <p:nvPr/>
        </p:nvSpPr>
        <p:spPr>
          <a:xfrm>
            <a:off x="1234440" y="842620"/>
            <a:ext cx="2971800" cy="694944"/>
          </a:xfrm>
          <a:prstGeom prst="rect">
            <a:avLst/>
          </a:prstGeom>
          <a:solidFill>
            <a:srgbClr val="E3E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9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过去</a:t>
            </a:r>
          </a:p>
        </p:txBody>
      </p:sp>
      <p:pic>
        <p:nvPicPr>
          <p:cNvPr id="13" name="xm Picture 12" descr="circle-x-0B5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775308"/>
            <a:ext cx="295351" cy="295351"/>
          </a:xfrm>
          <a:prstGeom prst="rect">
            <a:avLst/>
          </a:prstGeom>
        </p:spPr>
      </p:pic>
      <p:sp>
        <p:nvSpPr>
          <p:cNvPr id="14" name="xm TextBox 13"/>
          <p:cNvSpPr txBox="1"/>
          <p:nvPr/>
        </p:nvSpPr>
        <p:spPr>
          <a:xfrm>
            <a:off x="1941271" y="1720444"/>
            <a:ext cx="1990649" cy="4928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18181"/>
                </a:solidFill>
                <a:latin typeface="微软雅黑"/>
                <a:ea typeface="微软雅黑"/>
                <a:cs typeface="微软雅黑"/>
              </a:rPr>
              <a:t>比装机规模</a:t>
            </a:r>
          </a:p>
        </p:txBody>
      </p:sp>
      <p:pic>
        <p:nvPicPr>
          <p:cNvPr id="15" name="xm Picture 14" descr="circle-x-0B5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313889"/>
            <a:ext cx="295351" cy="295351"/>
          </a:xfrm>
          <a:prstGeom prst="rect">
            <a:avLst/>
          </a:prstGeom>
        </p:spPr>
      </p:pic>
      <p:sp>
        <p:nvSpPr>
          <p:cNvPr id="16" name="xm TextBox 15"/>
          <p:cNvSpPr txBox="1"/>
          <p:nvPr/>
        </p:nvSpPr>
        <p:spPr>
          <a:xfrm>
            <a:off x="1941271" y="2259025"/>
            <a:ext cx="1990649" cy="4928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18181"/>
                </a:solidFill>
                <a:latin typeface="微软雅黑"/>
                <a:ea typeface="微软雅黑"/>
                <a:cs typeface="微软雅黑"/>
              </a:rPr>
              <a:t>项目各自建设</a:t>
            </a:r>
          </a:p>
        </p:txBody>
      </p:sp>
      <p:pic>
        <p:nvPicPr>
          <p:cNvPr id="17" name="xm Picture 16" descr="circle-x-0B5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852471"/>
            <a:ext cx="295351" cy="295351"/>
          </a:xfrm>
          <a:prstGeom prst="rect">
            <a:avLst/>
          </a:prstGeom>
        </p:spPr>
      </p:pic>
      <p:sp>
        <p:nvSpPr>
          <p:cNvPr id="18" name="xm TextBox 17"/>
          <p:cNvSpPr txBox="1"/>
          <p:nvPr/>
        </p:nvSpPr>
        <p:spPr>
          <a:xfrm>
            <a:off x="1941271" y="2797607"/>
            <a:ext cx="1990649" cy="4928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18181"/>
                </a:solidFill>
                <a:latin typeface="微软雅黑"/>
                <a:ea typeface="微软雅黑"/>
                <a:cs typeface="微软雅黑"/>
              </a:rPr>
              <a:t>靠经验调度</a:t>
            </a:r>
          </a:p>
        </p:txBody>
      </p:sp>
      <p:sp>
        <p:nvSpPr>
          <p:cNvPr id="19" name="xm Rectangle 18"/>
          <p:cNvSpPr/>
          <p:nvPr/>
        </p:nvSpPr>
        <p:spPr>
          <a:xfrm>
            <a:off x="5029200" y="842620"/>
            <a:ext cx="2971800" cy="2630729"/>
          </a:xfrm>
          <a:prstGeom prst="rect">
            <a:avLst/>
          </a:prstGeom>
          <a:solidFill>
            <a:srgbClr val="F6F9FC"/>
          </a:solidFill>
          <a:ln w="1905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xm Rectangle 19"/>
          <p:cNvSpPr/>
          <p:nvPr/>
        </p:nvSpPr>
        <p:spPr>
          <a:xfrm>
            <a:off x="5029200" y="842620"/>
            <a:ext cx="2971800" cy="694944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</a:t>
            </a:r>
          </a:p>
        </p:txBody>
      </p:sp>
      <p:pic>
        <p:nvPicPr>
          <p:cNvPr id="21" name="xm Picture 20" descr="circle-check-0B5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775308"/>
            <a:ext cx="295351" cy="295351"/>
          </a:xfrm>
          <a:prstGeom prst="rect">
            <a:avLst/>
          </a:prstGeom>
        </p:spPr>
      </p:pic>
      <p:sp>
        <p:nvSpPr>
          <p:cNvPr id="22" name="xm TextBox 21"/>
          <p:cNvSpPr txBox="1"/>
          <p:nvPr/>
        </p:nvSpPr>
        <p:spPr>
          <a:xfrm>
            <a:off x="5736031" y="1720444"/>
            <a:ext cx="1990649" cy="4928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比发电效益</a:t>
            </a:r>
          </a:p>
        </p:txBody>
      </p:sp>
      <p:pic>
        <p:nvPicPr>
          <p:cNvPr id="23" name="xm Picture 22" descr="circle-check-0B5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313889"/>
            <a:ext cx="295351" cy="295351"/>
          </a:xfrm>
          <a:prstGeom prst="rect">
            <a:avLst/>
          </a:prstGeom>
        </p:spPr>
      </p:pic>
      <p:sp>
        <p:nvSpPr>
          <p:cNvPr id="24" name="xm TextBox 23"/>
          <p:cNvSpPr txBox="1"/>
          <p:nvPr/>
        </p:nvSpPr>
        <p:spPr>
          <a:xfrm>
            <a:off x="5736031" y="2259025"/>
            <a:ext cx="1990649" cy="4928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场站统一集控</a:t>
            </a:r>
          </a:p>
        </p:txBody>
      </p:sp>
      <p:pic>
        <p:nvPicPr>
          <p:cNvPr id="25" name="xm Picture 24" descr="circle-check-0B5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852471"/>
            <a:ext cx="295351" cy="295351"/>
          </a:xfrm>
          <a:prstGeom prst="rect">
            <a:avLst/>
          </a:prstGeom>
        </p:spPr>
      </p:pic>
      <p:sp>
        <p:nvSpPr>
          <p:cNvPr id="26" name="xm TextBox 25"/>
          <p:cNvSpPr txBox="1"/>
          <p:nvPr/>
        </p:nvSpPr>
        <p:spPr>
          <a:xfrm>
            <a:off x="5736031" y="2797607"/>
            <a:ext cx="1990649" cy="4928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靠数据调度</a:t>
            </a:r>
          </a:p>
        </p:txBody>
      </p:sp>
      <p:sp>
        <p:nvSpPr>
          <p:cNvPr id="27" name="xm Oval 26"/>
          <p:cNvSpPr/>
          <p:nvPr/>
        </p:nvSpPr>
        <p:spPr>
          <a:xfrm>
            <a:off x="4270248" y="1810512"/>
            <a:ext cx="694944" cy="694944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28016"/>
            <a:ext cx="6035040" cy="475488"/>
          </a:xfrm>
        </p:spPr>
        <p:txBody>
          <a:bodyPr/>
          <a:lstStyle/>
          <a:p>
            <a:r>
              <a:t>三个短板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51560" cy="3931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2048256"/>
            <a:ext cx="105156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导航 1"/>
          <p:cNvSpPr txBox="1"/>
          <p:nvPr/>
        </p:nvSpPr>
        <p:spPr>
          <a:xfrm>
            <a:off x="73152" y="914400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形势分析</a:t>
            </a:r>
          </a:p>
        </p:txBody>
      </p:sp>
      <p:sp>
        <p:nvSpPr>
          <p:cNvPr id="6" name="导航 2"/>
          <p:cNvSpPr txBox="1"/>
          <p:nvPr/>
        </p:nvSpPr>
        <p:spPr>
          <a:xfrm>
            <a:off x="73152" y="1481328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主要成效</a:t>
            </a:r>
          </a:p>
        </p:txBody>
      </p:sp>
      <p:sp>
        <p:nvSpPr>
          <p:cNvPr id="7" name="导航 3"/>
          <p:cNvSpPr txBox="1"/>
          <p:nvPr/>
        </p:nvSpPr>
        <p:spPr>
          <a:xfrm>
            <a:off x="73152" y="2048256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+mn-lt"/>
                <a:ea typeface="+mn-ea"/>
              </a:rPr>
              <a:t>存在问题</a:t>
            </a:r>
          </a:p>
        </p:txBody>
      </p:sp>
      <p:sp>
        <p:nvSpPr>
          <p:cNvPr id="8" name="导航 4"/>
          <p:cNvSpPr txBox="1"/>
          <p:nvPr/>
        </p:nvSpPr>
        <p:spPr>
          <a:xfrm>
            <a:off x="73152" y="261518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工作计划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5</a:t>
            </a:fld>
          </a:p>
        </p:txBody>
      </p:sp>
      <p:sp>
        <p:nvSpPr>
          <p:cNvPr id="11" name="xm Rectangle 10"/>
          <p:cNvSpPr/>
          <p:nvPr/>
        </p:nvSpPr>
        <p:spPr>
          <a:xfrm>
            <a:off x="1234440" y="843534"/>
            <a:ext cx="2072640" cy="2628900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xm Rectangle 11"/>
          <p:cNvSpPr/>
          <p:nvPr/>
        </p:nvSpPr>
        <p:spPr>
          <a:xfrm>
            <a:off x="1234440" y="843534"/>
            <a:ext cx="2072640" cy="6400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xm Oval 12"/>
          <p:cNvSpPr/>
          <p:nvPr/>
        </p:nvSpPr>
        <p:spPr>
          <a:xfrm>
            <a:off x="1508760" y="1117854"/>
            <a:ext cx="566928" cy="566928"/>
          </a:xfrm>
          <a:prstGeom prst="ellipse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xm Picture 13" descr="triangle-aler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823" y="1253917"/>
            <a:ext cx="294803" cy="294803"/>
          </a:xfrm>
          <a:prstGeom prst="rect">
            <a:avLst/>
          </a:prstGeom>
        </p:spPr>
      </p:pic>
      <p:sp>
        <p:nvSpPr>
          <p:cNvPr id="15" name="xm TextBox 14"/>
          <p:cNvSpPr txBox="1"/>
          <p:nvPr/>
        </p:nvSpPr>
        <p:spPr>
          <a:xfrm>
            <a:off x="1508760" y="1867662"/>
            <a:ext cx="1524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消纳</a:t>
            </a:r>
          </a:p>
        </p:txBody>
      </p:sp>
      <p:sp>
        <p:nvSpPr>
          <p:cNvPr id="16" name="xm TextBox 15"/>
          <p:cNvSpPr txBox="1"/>
          <p:nvPr/>
        </p:nvSpPr>
        <p:spPr>
          <a:xfrm>
            <a:off x="1508760" y="2306574"/>
            <a:ext cx="1524000" cy="9738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34343"/>
                </a:solidFill>
                <a:latin typeface="微软雅黑"/>
                <a:ea typeface="微软雅黑"/>
                <a:cs typeface="微软雅黑"/>
              </a:rPr>
              <a:t>西北地区弃风弃光率仍有 4.1%</a:t>
            </a:r>
          </a:p>
        </p:txBody>
      </p:sp>
      <p:sp>
        <p:nvSpPr>
          <p:cNvPr id="17" name="xm Rectangle 16"/>
          <p:cNvSpPr/>
          <p:nvPr/>
        </p:nvSpPr>
        <p:spPr>
          <a:xfrm>
            <a:off x="3581400" y="843534"/>
            <a:ext cx="2072640" cy="2628900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xm Rectangle 17"/>
          <p:cNvSpPr/>
          <p:nvPr/>
        </p:nvSpPr>
        <p:spPr>
          <a:xfrm>
            <a:off x="3581400" y="843534"/>
            <a:ext cx="2072640" cy="6400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xm Oval 18"/>
          <p:cNvSpPr/>
          <p:nvPr/>
        </p:nvSpPr>
        <p:spPr>
          <a:xfrm>
            <a:off x="3855720" y="1117854"/>
            <a:ext cx="566928" cy="566928"/>
          </a:xfrm>
          <a:prstGeom prst="ellipse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xm Picture 19" descr="gaug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783" y="1253917"/>
            <a:ext cx="294803" cy="294803"/>
          </a:xfrm>
          <a:prstGeom prst="rect">
            <a:avLst/>
          </a:prstGeom>
        </p:spPr>
      </p:pic>
      <p:sp>
        <p:nvSpPr>
          <p:cNvPr id="21" name="xm TextBox 20"/>
          <p:cNvSpPr txBox="1"/>
          <p:nvPr/>
        </p:nvSpPr>
        <p:spPr>
          <a:xfrm>
            <a:off x="3855720" y="1867662"/>
            <a:ext cx="1524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调节</a:t>
            </a:r>
          </a:p>
        </p:txBody>
      </p:sp>
      <p:sp>
        <p:nvSpPr>
          <p:cNvPr id="22" name="xm TextBox 21"/>
          <p:cNvSpPr txBox="1"/>
          <p:nvPr/>
        </p:nvSpPr>
        <p:spPr>
          <a:xfrm>
            <a:off x="3855720" y="2306574"/>
            <a:ext cx="1524000" cy="9738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34343"/>
                </a:solidFill>
                <a:latin typeface="微软雅黑"/>
                <a:ea typeface="微软雅黑"/>
                <a:cs typeface="微软雅黑"/>
              </a:rPr>
              <a:t>储能配置比例偏低，仅为 8%</a:t>
            </a:r>
          </a:p>
        </p:txBody>
      </p:sp>
      <p:sp>
        <p:nvSpPr>
          <p:cNvPr id="23" name="xm Rectangle 22"/>
          <p:cNvSpPr/>
          <p:nvPr/>
        </p:nvSpPr>
        <p:spPr>
          <a:xfrm>
            <a:off x="5928360" y="843534"/>
            <a:ext cx="2072640" cy="2628900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xm Rectangle 23"/>
          <p:cNvSpPr/>
          <p:nvPr/>
        </p:nvSpPr>
        <p:spPr>
          <a:xfrm>
            <a:off x="5928360" y="843534"/>
            <a:ext cx="2072640" cy="64008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xm Oval 24"/>
          <p:cNvSpPr/>
          <p:nvPr/>
        </p:nvSpPr>
        <p:spPr>
          <a:xfrm>
            <a:off x="6202680" y="1117854"/>
            <a:ext cx="566928" cy="566928"/>
          </a:xfrm>
          <a:prstGeom prst="ellipse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xm Picture 25" descr="database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743" y="1253917"/>
            <a:ext cx="294803" cy="294803"/>
          </a:xfrm>
          <a:prstGeom prst="rect">
            <a:avLst/>
          </a:prstGeom>
        </p:spPr>
      </p:pic>
      <p:sp>
        <p:nvSpPr>
          <p:cNvPr id="27" name="xm TextBox 26"/>
          <p:cNvSpPr txBox="1"/>
          <p:nvPr/>
        </p:nvSpPr>
        <p:spPr>
          <a:xfrm>
            <a:off x="6202680" y="1867662"/>
            <a:ext cx="1524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数字化</a:t>
            </a:r>
          </a:p>
        </p:txBody>
      </p:sp>
      <p:sp>
        <p:nvSpPr>
          <p:cNvPr id="28" name="xm TextBox 27"/>
          <p:cNvSpPr txBox="1"/>
          <p:nvPr/>
        </p:nvSpPr>
        <p:spPr>
          <a:xfrm>
            <a:off x="6202680" y="2306574"/>
            <a:ext cx="1524000" cy="9738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434343"/>
                </a:solidFill>
                <a:latin typeface="微软雅黑"/>
                <a:ea typeface="微软雅黑"/>
                <a:cs typeface="微软雅黑"/>
              </a:rPr>
              <a:t>场站数据孤岛，平均每站 5 套系统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2027 年工作计划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28016"/>
            <a:ext cx="6035040" cy="475488"/>
          </a:xfrm>
        </p:spPr>
        <p:txBody>
          <a:bodyPr/>
          <a:lstStyle/>
          <a:p>
            <a:r>
              <a:t>四步推进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51560" cy="3931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2615184"/>
            <a:ext cx="105156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导航 1"/>
          <p:cNvSpPr txBox="1"/>
          <p:nvPr/>
        </p:nvSpPr>
        <p:spPr>
          <a:xfrm>
            <a:off x="73152" y="914400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形势分析</a:t>
            </a:r>
          </a:p>
        </p:txBody>
      </p:sp>
      <p:sp>
        <p:nvSpPr>
          <p:cNvPr id="6" name="导航 2"/>
          <p:cNvSpPr txBox="1"/>
          <p:nvPr/>
        </p:nvSpPr>
        <p:spPr>
          <a:xfrm>
            <a:off x="73152" y="1481328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主要成效</a:t>
            </a:r>
          </a:p>
        </p:txBody>
      </p:sp>
      <p:sp>
        <p:nvSpPr>
          <p:cNvPr id="7" name="导航 3"/>
          <p:cNvSpPr txBox="1"/>
          <p:nvPr/>
        </p:nvSpPr>
        <p:spPr>
          <a:xfrm>
            <a:off x="73152" y="2048256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存在问题</a:t>
            </a:r>
          </a:p>
        </p:txBody>
      </p:sp>
      <p:sp>
        <p:nvSpPr>
          <p:cNvPr id="8" name="导航 4"/>
          <p:cNvSpPr txBox="1"/>
          <p:nvPr/>
        </p:nvSpPr>
        <p:spPr>
          <a:xfrm>
            <a:off x="73152" y="261518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+mn-lt"/>
                <a:ea typeface="+mn-ea"/>
              </a:rPr>
              <a:t>工作计划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5</a:t>
            </a:fld>
          </a:p>
        </p:txBody>
      </p:sp>
      <p:cxnSp>
        <p:nvCxnSpPr>
          <p:cNvPr id="11" name="xm Connector 10"/>
          <p:cNvCxnSpPr/>
          <p:nvPr/>
        </p:nvCxnSpPr>
        <p:spPr>
          <a:xfrm>
            <a:off x="1977390" y="1159002"/>
            <a:ext cx="5280660" cy="0"/>
          </a:xfrm>
          <a:prstGeom prst="line">
            <a:avLst/>
          </a:prstGeom>
          <a:ln w="38100">
            <a:solidFill>
              <a:srgbClr val="9DB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xm Oval 11"/>
          <p:cNvSpPr/>
          <p:nvPr/>
        </p:nvSpPr>
        <p:spPr>
          <a:xfrm>
            <a:off x="1657350" y="838962"/>
            <a:ext cx="640080" cy="640080"/>
          </a:xfrm>
          <a:prstGeom prst="ellipse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3" name="xm Rectangle 12"/>
          <p:cNvSpPr/>
          <p:nvPr/>
        </p:nvSpPr>
        <p:spPr>
          <a:xfrm>
            <a:off x="1234440" y="1799082"/>
            <a:ext cx="1485900" cy="1677924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xm TextBox 13"/>
          <p:cNvSpPr txBox="1"/>
          <p:nvPr/>
        </p:nvSpPr>
        <p:spPr>
          <a:xfrm>
            <a:off x="1435608" y="2000250"/>
            <a:ext cx="108356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稳存量</a:t>
            </a:r>
          </a:p>
        </p:txBody>
      </p:sp>
      <p:sp>
        <p:nvSpPr>
          <p:cNvPr id="15" name="xm TextBox 14"/>
          <p:cNvSpPr txBox="1"/>
          <p:nvPr/>
        </p:nvSpPr>
        <p:spPr>
          <a:xfrm>
            <a:off x="1435608" y="2384298"/>
            <a:ext cx="1083564" cy="9098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434343"/>
                </a:solidFill>
                <a:latin typeface="微软雅黑"/>
                <a:ea typeface="微软雅黑"/>
                <a:cs typeface="微软雅黑"/>
              </a:rPr>
              <a:t>完成 30 台煤电机组灵活性改造</a:t>
            </a:r>
          </a:p>
        </p:txBody>
      </p:sp>
      <p:sp>
        <p:nvSpPr>
          <p:cNvPr id="16" name="xm Oval 15"/>
          <p:cNvSpPr/>
          <p:nvPr/>
        </p:nvSpPr>
        <p:spPr>
          <a:xfrm>
            <a:off x="3417570" y="838962"/>
            <a:ext cx="640080" cy="640080"/>
          </a:xfrm>
          <a:prstGeom prst="ellipse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7" name="xm Rectangle 16"/>
          <p:cNvSpPr/>
          <p:nvPr/>
        </p:nvSpPr>
        <p:spPr>
          <a:xfrm>
            <a:off x="2994660" y="1799082"/>
            <a:ext cx="1485900" cy="1677924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xm TextBox 17"/>
          <p:cNvSpPr txBox="1"/>
          <p:nvPr/>
        </p:nvSpPr>
        <p:spPr>
          <a:xfrm>
            <a:off x="3195828" y="2000250"/>
            <a:ext cx="108356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扩增量</a:t>
            </a:r>
          </a:p>
        </p:txBody>
      </p:sp>
      <p:sp>
        <p:nvSpPr>
          <p:cNvPr id="19" name="xm TextBox 18"/>
          <p:cNvSpPr txBox="1"/>
          <p:nvPr/>
        </p:nvSpPr>
        <p:spPr>
          <a:xfrm>
            <a:off x="3195828" y="2384298"/>
            <a:ext cx="1083564" cy="9098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434343"/>
                </a:solidFill>
                <a:latin typeface="微软雅黑"/>
                <a:ea typeface="微软雅黑"/>
                <a:cs typeface="微软雅黑"/>
              </a:rPr>
              <a:t>新增新能源装机 800 万千瓦</a:t>
            </a:r>
          </a:p>
        </p:txBody>
      </p:sp>
      <p:sp>
        <p:nvSpPr>
          <p:cNvPr id="20" name="xm Oval 19"/>
          <p:cNvSpPr/>
          <p:nvPr/>
        </p:nvSpPr>
        <p:spPr>
          <a:xfrm>
            <a:off x="5177790" y="838962"/>
            <a:ext cx="640080" cy="640080"/>
          </a:xfrm>
          <a:prstGeom prst="ellipse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xm Rectangle 20"/>
          <p:cNvSpPr/>
          <p:nvPr/>
        </p:nvSpPr>
        <p:spPr>
          <a:xfrm>
            <a:off x="4754880" y="1799082"/>
            <a:ext cx="1485900" cy="1677924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xm TextBox 21"/>
          <p:cNvSpPr txBox="1"/>
          <p:nvPr/>
        </p:nvSpPr>
        <p:spPr>
          <a:xfrm>
            <a:off x="4956048" y="2000250"/>
            <a:ext cx="108356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补短板</a:t>
            </a:r>
          </a:p>
        </p:txBody>
      </p:sp>
      <p:sp>
        <p:nvSpPr>
          <p:cNvPr id="23" name="xm TextBox 22"/>
          <p:cNvSpPr txBox="1"/>
          <p:nvPr/>
        </p:nvSpPr>
        <p:spPr>
          <a:xfrm>
            <a:off x="4956048" y="2384298"/>
            <a:ext cx="1083564" cy="9098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434343"/>
                </a:solidFill>
                <a:latin typeface="微软雅黑"/>
                <a:ea typeface="微软雅黑"/>
                <a:cs typeface="微软雅黑"/>
              </a:rPr>
              <a:t>新建储能 150 万千瓦</a:t>
            </a:r>
          </a:p>
        </p:txBody>
      </p:sp>
      <p:sp>
        <p:nvSpPr>
          <p:cNvPr id="24" name="xm Oval 23"/>
          <p:cNvSpPr/>
          <p:nvPr/>
        </p:nvSpPr>
        <p:spPr>
          <a:xfrm>
            <a:off x="6938010" y="838962"/>
            <a:ext cx="640080" cy="640080"/>
          </a:xfrm>
          <a:prstGeom prst="ellipse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5" name="xm Rectangle 24"/>
          <p:cNvSpPr/>
          <p:nvPr/>
        </p:nvSpPr>
        <p:spPr>
          <a:xfrm>
            <a:off x="6515100" y="1799082"/>
            <a:ext cx="1485900" cy="1677924"/>
          </a:xfrm>
          <a:prstGeom prst="rect">
            <a:avLst/>
          </a:prstGeom>
          <a:solidFill>
            <a:srgbClr val="F6F9FC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xm TextBox 25"/>
          <p:cNvSpPr txBox="1"/>
          <p:nvPr/>
        </p:nvSpPr>
        <p:spPr>
          <a:xfrm>
            <a:off x="6716268" y="2000250"/>
            <a:ext cx="108356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强数字</a:t>
            </a:r>
          </a:p>
        </p:txBody>
      </p:sp>
      <p:sp>
        <p:nvSpPr>
          <p:cNvPr id="27" name="xm TextBox 26"/>
          <p:cNvSpPr txBox="1"/>
          <p:nvPr/>
        </p:nvSpPr>
        <p:spPr>
          <a:xfrm>
            <a:off x="6716268" y="2384298"/>
            <a:ext cx="1083564" cy="9098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434343"/>
                </a:solidFill>
                <a:latin typeface="微软雅黑"/>
                <a:ea typeface="微软雅黑"/>
                <a:cs typeface="微软雅黑"/>
              </a:rPr>
              <a:t>建成集团统一的新能源集控平台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28016"/>
            <a:ext cx="6035040" cy="475488"/>
          </a:xfrm>
        </p:spPr>
        <p:txBody>
          <a:bodyPr/>
          <a:lstStyle/>
          <a:p>
            <a:r>
              <a:t>2027 年工作计划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051560" cy="39319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2615184"/>
            <a:ext cx="105156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导航 1"/>
          <p:cNvSpPr txBox="1"/>
          <p:nvPr/>
        </p:nvSpPr>
        <p:spPr>
          <a:xfrm>
            <a:off x="73152" y="914400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形势分析</a:t>
            </a:r>
          </a:p>
        </p:txBody>
      </p:sp>
      <p:sp>
        <p:nvSpPr>
          <p:cNvPr id="6" name="导航 2"/>
          <p:cNvSpPr txBox="1"/>
          <p:nvPr/>
        </p:nvSpPr>
        <p:spPr>
          <a:xfrm>
            <a:off x="73152" y="1481328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主要成效</a:t>
            </a:r>
          </a:p>
        </p:txBody>
      </p:sp>
      <p:sp>
        <p:nvSpPr>
          <p:cNvPr id="7" name="导航 3"/>
          <p:cNvSpPr txBox="1"/>
          <p:nvPr/>
        </p:nvSpPr>
        <p:spPr>
          <a:xfrm>
            <a:off x="73152" y="2048256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chemeClr val="accent4"/>
                </a:solidFill>
                <a:latin typeface="+mn-lt"/>
                <a:ea typeface="+mn-ea"/>
              </a:rPr>
              <a:t>存在问题</a:t>
            </a:r>
          </a:p>
        </p:txBody>
      </p:sp>
      <p:sp>
        <p:nvSpPr>
          <p:cNvPr id="8" name="导航 4"/>
          <p:cNvSpPr txBox="1"/>
          <p:nvPr/>
        </p:nvSpPr>
        <p:spPr>
          <a:xfrm>
            <a:off x="73152" y="2615184"/>
            <a:ext cx="914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chemeClr val="bg1"/>
                </a:solidFill>
                <a:latin typeface="+mn-lt"/>
                <a:ea typeface="+mn-ea"/>
              </a:rPr>
              <a:t>工作计划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岳川能源 · 内部资料 注意保密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5</a:t>
            </a:fld>
          </a:p>
        </p:txBody>
      </p:sp>
      <p:sp>
        <p:nvSpPr>
          <p:cNvPr id="11" name="xm TextBox 10"/>
          <p:cNvSpPr txBox="1"/>
          <p:nvPr/>
        </p:nvSpPr>
        <p:spPr>
          <a:xfrm>
            <a:off x="1234440" y="623824"/>
            <a:ext cx="1097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0B5CAD"/>
                </a:solidFill>
                <a:latin typeface="微软雅黑"/>
                <a:ea typeface="微软雅黑"/>
                <a:cs typeface="微软雅黑"/>
              </a:rPr>
              <a:t>“</a:t>
            </a:r>
          </a:p>
        </p:txBody>
      </p:sp>
      <p:sp>
        <p:nvSpPr>
          <p:cNvPr id="12" name="xm TextBox 11"/>
          <p:cNvSpPr txBox="1"/>
          <p:nvPr/>
        </p:nvSpPr>
        <p:spPr>
          <a:xfrm>
            <a:off x="1417320" y="1675384"/>
            <a:ext cx="6400800" cy="1330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把每一度电都发得清洁、送得稳定、用得高效。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2" name="Picture 1" descr="energy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81834">
                  <a:alpha val="85000"/>
                </a:srgbClr>
              </a:gs>
              <a:gs pos="100000">
                <a:srgbClr val="081834">
                  <a:alpha val="35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energy-logo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1463040" cy="4180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828800"/>
            <a:ext cx="6400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chemeClr val="bg1"/>
                </a:solidFill>
                <a:latin typeface="+mj-lt"/>
                <a:ea typeface="+mj-ea"/>
              </a:rPr>
              <a:t>谢谢聆听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5C77E"/>
                </a:solidFill>
                <a:latin typeface="+mn-lt"/>
                <a:ea typeface="+mn-ea"/>
              </a:rPr>
              <a:t>敬请批评指正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岳川能源">
  <a:themeElements>
    <a:clrScheme name="岳川能源">
      <a:dk1>
        <a:srgbClr val="1A1A1A"/>
      </a:dk1>
      <a:lt1>
        <a:srgbClr val="FFFFFF"/>
      </a:lt1>
      <a:dk2>
        <a:srgbClr val="0F2747"/>
      </a:dk2>
      <a:lt2>
        <a:srgbClr val="EDF2F7"/>
      </a:lt2>
      <a:accent1>
        <a:srgbClr val="0B5CAD"/>
      </a:accent1>
      <a:accent2>
        <a:srgbClr val="00A19A"/>
      </a:accent2>
      <a:accent3>
        <a:srgbClr val="F5A623"/>
      </a:accent3>
      <a:accent4>
        <a:srgbClr val="5B6B7F"/>
      </a:accent4>
      <a:accent5>
        <a:srgbClr val="8CC63F"/>
      </a:accent5>
      <a:accent6>
        <a:srgbClr val="E4572E"/>
      </a:accent6>
      <a:hlink>
        <a:srgbClr val="0B5CAD"/>
      </a:hlink>
      <a:folHlink>
        <a:srgbClr val="5B6B7F"/>
      </a:folHlink>
    </a:clrScheme>
    <a:fontScheme name="岳川能源">
      <a:majorFont>
        <a:latin typeface="Arial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微软雅黑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微软雅黑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